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672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Πρώτο μάθημα. Άνοιγμα: ρώτησέ τους τι έχουν κάνει σήμερα με το κινητό τους (φωτογραφία, τραγούδι, βίντεο, μήνυμα) — και πες ότι όλα αυτά είναι η ίδια ακριβώς σειρά από 0 και 1. Το βιβλίο είναι οι «Σημειώσεις Μαθητή» (24-0552) και συνοδεύεται από διαδραστικά αντικείμενα του Φωτόδεντρου.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Δείξε ότι το βιβλίο δεν διαβάζεται μόνο — έχει δραστηριότητες και εργαστήριο σε κάθε κεφάλαιο. Τα μεγαλύτερα κεφάλαια είναι το 3, το 10, το 13 και το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Το 23 → 10111 είναι το λυμένο παράδειγμα του βιβλίου (κεφ. 2). Διάβασε τα υπόλοιπα από κάτω προς τα πάνω. Στο κεφ. 3 μπαίνουν ASCII/Unicode, συμπίεση, συμπλήρωμα ως προς 2 και υπερχείλιση.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Καλό demo: άνοιξε μια εικόνα, κάνε zoom μέχρι να φανούν τα pixel, και δίπλα ένα SVG που δεν χαλάει. Το βάθος χρώματος 24-bit δίνει 2^24 = 16.777.216 χρώματα.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Τα 44.100 Hz είναι η συχνότητα δειγματοληψίας του CD — καλό σημείο να παίξεις το ίδιο κομμάτι σε χαμηλό και υψηλό bitrate και να ρωτήσεις ποιος ακούει τη διαφορά.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Σύνδεσε πίσω με το κεφ. 4 και το κεφ. 5: η συμπίεση με απώλεια είναι το κοινό νήμα όλου του Μέρους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Αν υπάρχει 3D printer ή γυαλιά VR στο σχολείο, αυτή είναι η διαφάνεια να το πεις — τραβάει αμέσως το ενδιαφέρον.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Αυτό είναι το μέρος που γίνεται στο εργαστήριο με κατασκευές. Ο πίνακας αληθείας είναι του ημιαθροιστή: S = άθροισμα (XOR), C = κρατούμενο (AND). Πες τους ότι από αυτό το μικρό κύκλωμα φτιάχνεται ολόκληρη η αριθμητική μονάδα της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Εδώ ανακοίνωσε την ομαδική εργασία. Το εισαγωγικό σημείωμα του βιβλίου την περιγράφει ρητά ως ομαδοσυνεργατική έρευνα και παρουσίαση. Ζήτησέ τους να σκεφτούν από τώρα έναν τομέα που τους ενδιαφέρει.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Κλείσε εδώ. Αν προλαβαίνεις, πάρε 3-4 νούμερα προφορικά και γράψ' τα στον πίνακα — θα τα ξαναδείτε στο κεφ. 4 όταν μιλήσετε για ανάλυση και βάθος χρώματος.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Β΄ ΕΠΑ.Λ.   ·   ΤΟΜΕΑΣ ΠΛΗΡΟΦΟΡΙΚΗΣ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9144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3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Βασικά Θέματα</a:t>
            </a:r>
            <a:endParaRPr lang="en-US" sz="3600" dirty="0"/>
          </a:p>
          <a:p>
            <a:pPr marL="0" indent="0">
              <a:lnSpc>
                <a:spcPts val="43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Πληροφορικής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Ό,τι βλέπεις, ακούς και στέλνεις</a:t>
            </a:r>
            <a:endParaRPr lang="en-US" sz="15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είναι στην πραγματικότητα το ίδιο πράγμα:</a:t>
            </a:r>
            <a:endParaRPr lang="en-US" sz="150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μηδενικά και άσσοι. Φέτος θα δεις πώς.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κεφάλαια  ·  3 μέρη  ·  θεωρία + εργαστήριο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40680" y="146304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0136" y="166420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33872" y="166420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07608" y="166420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41848" y="1938528"/>
            <a:ext cx="2816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01001000 01100101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01101100 01101100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01101111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"Hello"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114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Τρία μέρη, μία διαδρομή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Δεκατέσσερα κεφάλαια που πάνε από το τι βλέπεις στην οθόνη μέχρι το τι συμβαίνει μέσα στο τσιπ.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84632" y="141732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848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Κεφάλαια 1–9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Δεδομένα &amp; Πολυμέσα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γίνονται 0 και 1 οι αριθμοί, τα γράμματα, οι εικόνες, ο ήχος, το βίντεο και ο τρισδιάστατος κόσμος.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7288" y="1600200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4728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0848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A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Κεφάλαια 10–13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μικρόκοσμος του υλικού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ακριβώς συμβαίνει μέσα στο τσιπ. Με δικές σου κατασκευές στο εργαστήριο.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07608" y="141732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8776" y="1600200"/>
            <a:ext cx="384048" cy="384048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08776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08776" y="20848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Κεφάλαιο 14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208776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&amp; Επαγγέλματα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08776" y="2852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Πού πάει όλο αυτό σε κάθε τομέα — και ποιο επάγγελμα μπορεί να γίνει δικό σου.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" y="3886200"/>
            <a:ext cx="8174736" cy="731520"/>
          </a:xfrm>
          <a:prstGeom prst="round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00507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κάθε κεφάλαιο δουλεύει το ίδιο: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Στόχοι → Θεωρία → Ερωτήσεις → Δραστηριότητες → και ένα δικό σου Φύλλο Σημειώσεων στο τέλος.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ΜΕΡΟΣ Α  ·  ΚΕΦΑΛΑΙΑ 1, 2, 3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γίνονται 0 και 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72768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Αναλογικό ή ψηφιακό; Γιατί η μηχανή έχει μόνο δύο καταστάσεις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bit, byte, λέξη — από πού βγαίνει το «24-bit χρώμα»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Δυαδικό και δεκαεξαδικό: το 111 σημαίνει 111, 7, 73 ή 273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→ Unicode: γιατί κάποτε τα ελληνικά έβγαιναν σύμβολα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Συμπίεση με και χωρίς απώλεια: ZIP, JPEG, MP3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01568"/>
            <a:ext cx="4663440" cy="1207008"/>
          </a:xfrm>
          <a:prstGeom prst="roundRect">
            <a:avLst>
              <a:gd name="adj" fmla="val 6061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520440"/>
            <a:ext cx="42611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Δραστηριότητα του βιβλίου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Γράψε το όνομά σου σε δυαδικό και δώσ' το στη διπλανή ομάδα να το σπάσει. Μετά βρες τον τρόπο να το κάνεις χωρίς δοκιμή και λάθος.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94960" y="1627632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4416" y="182880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8152" y="182880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1888" y="182880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96128" y="2103120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: 2 = 11   υπ. 1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: 2 =  5   υπ. 1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: 2 =  2   υπ. 1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: 2 =  1   υπ. 0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: 2 =  0   υπ. 1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= 10111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ΚΕΦΑΛΑΙΟ 4  ·  ΕΙΚΟΝΑ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φωτογραφία σου είναι αριθμοί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Ψηφιογραφικά vs Διανυσματικά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η selfie «σπάει» σε τετραγωνάκια όταν τη μεγεθύνεις — και το λογότυπο όχι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032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· CMYK · HSB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κόκκινο της οθόνης σου δεν υπάρχει. Είναι τρεις λάμπες: 255, 0, 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Ανάλυση &amp; βάθος χρώματος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bit ανά pixel = 16.777.216 χρώματα. Και ανάλογα MB στο κινητό σου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032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Μορφές αρχείων &amp; OCR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πετάει στα σκουπίδια η συμπίεση, και πώς η φωτό μιας σελίδας γίνεται κείμενο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8092440" cy="640080"/>
          </a:xfrm>
          <a:prstGeom prst="roundRect">
            <a:avLst>
              <a:gd name="adj" fmla="val 11429"/>
            </a:avLst>
          </a:prstGeom>
          <a:solidFill>
            <a:srgbClr val="F1EDFE"/>
          </a:solidFill>
          <a:ln w="12700">
            <a:solidFill>
              <a:srgbClr val="F1ED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142232"/>
            <a:ext cx="7690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δεν το διαβάζεις μόνο: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ενότητες 4.7 και 4.8 είναι καθαρά εργαστήριο — φτιάχνεις διανυσματικά γραφικά και επεξεργάζεσαι ψηφιογραφικά με πραγματικά εργαλεία.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ΚΕΦΑΛΑΙΟ 5  ·  ΗΧΟΣ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χωράει ένα τραγούδι σε ένα αρχείο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97480" cy="2240280"/>
          </a:xfrm>
          <a:prstGeom prst="roundRect">
            <a:avLst>
              <a:gd name="adj" fmla="val 3265"/>
            </a:avLst>
          </a:prstGeom>
          <a:solidFill>
            <a:srgbClr val="E8F6FD"/>
          </a:solidFill>
          <a:ln w="12700">
            <a:solidFill>
              <a:srgbClr val="E8F6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44.100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φορές το δευτερόλεπτο «μετράει» ο υπολογιστής τον ήχο για να τον κάνει αρχείο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554480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Παλμοκωδική διαμόρφωση: δειγματοληψία, κβάντιση, κωδικοποίηση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Τύποι αρχείων και συμπίεση — τι ακριβώς πετάει το MP3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MIDI: δεν είναι ήχος, είναι παρτιτούρα για τη μηχανή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Σύνθεση και αναγνώριση φωνής (TTS, STT) — ο βοηθός στο κινητό σου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096512"/>
            <a:ext cx="7690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Μετάδοση ήχου στο Διαδίκτυο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το τραγούδι ξεκινάει να παίζει πριν προλάβει να κατέβει ολόκληρο — και τι σημαίνει όταν «κολλάει».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ΚΕΦΑΛΑΙΑ 6 &amp; 7  ·  ΚΙΝΗΣΗ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την ακίνητη εικόνα στο βίντεο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84632" y="14630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9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Κεφ. 6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Κινούμενο σχέδιο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9424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φυσιολογία της όρασης: αρκετά καρέ το δευτερόλεπτο και ο εγκέφαλος βλέπει κίνηση. 2Δ σχέδιο και 3Δ φωτορεαλιστική σχεδίαση.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609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Κεφ. 7.1–7.2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Codecs &amp; επεξεργασία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249424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ένα λεπτό βίντεο δεν πιάνει 10 GB. Κωδικοποιητές, τεχνικές συμπίεσης — και μοντάζ στο εργαστήριο.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07608" y="14630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08776" y="1609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Κεφ. 7.3–7.4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208776" y="1874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Διανομή &amp; streaming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208776" y="2249424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κάνει το YouTube με το βίντεό σου πριν πατήσεις play: κωδικοποίηση, διανομή, μετάδοση στο Διαδίκτυο.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" y="3794760"/>
            <a:ext cx="8174736" cy="822960"/>
          </a:xfrm>
          <a:prstGeom prst="roundRect">
            <a:avLst>
              <a:gd name="adj" fmla="val 8889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913632"/>
            <a:ext cx="7772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C2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ίδιο κόλπο παντού: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συμπίεση πετάει ό,τι το μάτι και το αυτί δεν προλαβαίνουν να προσέξουν. Στην εικόνα, στον ήχο, στο βίντεο — πάντα η ίδια ιδέα, με διαφορετικά εργαλεία.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9A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ΚΕΦΑΛΑΙΑ 8 &amp; 9  ·  ΝΕΟΙ ΚΟΣΜΟΙ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Όταν το ψηφιακό βγαίνει από την οθόνη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931920" cy="2240280"/>
          </a:xfrm>
          <a:prstGeom prst="roundRect">
            <a:avLst>
              <a:gd name="adj" fmla="val 326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64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848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Εικονική &amp; Επαυξημένη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Πραγματικότητα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Συστήματα VR, επαυξημένη πραγματικότητα, και πλοήγηση σε εικονικό περιβάλλον με πολλούς χρήστες ταυτόχρονα — πολλοί άνθρωποι στον ίδιο ψηφιακό χώρο.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481328"/>
            <a:ext cx="3931920" cy="2240280"/>
          </a:xfrm>
          <a:prstGeom prst="roundRect">
            <a:avLst>
              <a:gd name="adj" fmla="val 326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664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0848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Τρισδιάστατη εκτύπωση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σάρωση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743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Σαρώνεις ένα πραγματικό αντικείμενο, το επεξεργάζεσαι στον υπολογιστή, το τυπώνεις ξανά σε υλική μορφή. Ο κύκλος κλείνει.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FFF5E3"/>
          </a:solidFill>
          <a:ln w="12700">
            <a:solidFill>
              <a:srgbClr val="FFF5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096512"/>
            <a:ext cx="7690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9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Δύο σύντομα κεφάλαια — αλλά τα πιο «απτά» του βιβλίου.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Εδώ σταματάει η θεωρία της αναπαράστασης και αρχίζει το «τι μπορώ να κάνω με όλα αυτά».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ΜΕΡΟΣ Β  ·  ΚΕΦΑΛΑΙΑ 10, 11, 12, 13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229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Θα φτιάξεις το κύκλωμα που κάνει πρόσθεση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 B  |  S  C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--------+-------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 0  |  0  0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 1  |  1  0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0  |  1  0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1  |  0 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821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Ημιαθροιστής: δύο λογικές πύλες που ξέρουν να προσθέτουν.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160020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Δομή Η/Υ, ιστορία των υπολογιστών, άλγεβρα Boole, λογικές πύλες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Συνδυαστικά και ακολουθιακά κυκλώματα, flip-flop, απαριθμητής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Ψηφιοποίηση σήματος, μετατροπείς A/D και D/A, κάρτα ήχου, modem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Ολοκληρωμένα κυκλώματα και η Κεντρική Μονάδα Επεξεργασίας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 flip-flop θυμάται ακριβώς ένα bit.  </a:t>
            </a: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τσιπ του κινητού σου έχει δισεκατομμύρια τρανζίστορ. Η μόνη διαφορά είναι η κλίμακα.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ΜΕΡΟΣ Γ  ·  ΚΕΦΑΛΑΙΟ 14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Πού πάει όλο αυτό στ' αλήθεια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84632" y="1481328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8132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Υγεία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46120" y="1481328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48132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Μεταφορές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07608" y="1481328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8776" y="148132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Εκπαίδευση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84632" y="2267712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26771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Ψυχαγωγία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46120" y="2267712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47288" y="226771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Βιομηχανία &amp; ρομποτική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07608" y="2267712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8776" y="226771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Γεωργία &amp; περιβάλλον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" y="3090672"/>
            <a:ext cx="8174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ενδεικτικοί τομείς — τους διαλέγετε και τους ερευνάτε εσείς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" y="3456432"/>
            <a:ext cx="8174736" cy="960120"/>
          </a:xfrm>
          <a:prstGeom prst="roundRect">
            <a:avLst>
              <a:gd name="adj" fmla="val 761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575304"/>
            <a:ext cx="7772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C2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εργασία της χρονιάς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μικρή ομάδα διαλέγετε τομέα, ψάχνετε πώς τον αλλάζει η ψηφιακή τεχνολογία, και το παρουσιάζετε στην τάξη. Και μετά το 14.2: τα επαγγέλματα της Πληροφορικής — όχι μόνο αυτά που υπάρχουν σήμερα, αλλά κι αυτά που έρχονται.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ΤΩΡΑ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93268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πρώτη σου αποστολή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92440" cy="1783080"/>
          </a:xfrm>
          <a:prstGeom prst="roundRect">
            <a:avLst>
              <a:gd name="adj" fmla="val 4103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D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Βγάλε το κινητό σου. Τράβα μία φωτογραφία. Δες πόσο χώρο πιάνει.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7543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Την επόμενη φορά θα μου πεις τον αριθμό. Στο τέλος της χρονιάς θα μπορείς να μου εξηγήσεις γιατί είναι ακριβώς τόσος — pixel προς pixel, bit προς bit.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01001010  Καλή αρχή.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1402</Words>
  <Application>Microsoft Office PowerPoint</Application>
  <PresentationFormat>Προβολή στην οθόνη 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Βασικά Θέματα Πληροφορικής — Β΄ ΕΠΑ.Λ.</dc:title>
  <dc:subject>PptxGenJS Presentation</dc:subject>
  <dc:creator>Chris</dc:creator>
  <cp:lastModifiedBy>Χρήστος Ηλιόπουλος</cp:lastModifiedBy>
  <cp:revision>1</cp:revision>
  <dcterms:created xsi:type="dcterms:W3CDTF">2026-09-15T13:43:22Z</dcterms:created>
  <dcterms:modified xsi:type="dcterms:W3CDTF">2026-09-15T13:46:44Z</dcterms:modified>
</cp:coreProperties>
</file>