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Αν κάποιοι έλειπαν την προηγούμενη ώρα, πες τους ότι το Φύλλο 1 είναι στο eclass/στον φάκελο και μπορούν να το κάνουν μετά — μην κρατήσεις την τάξη πίσω.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Άφησε τις απαντήσεις κρυμμένες αν θέλεις (πάτα Β για μαύρη οθόνη, ρώτα, μετά δείξε). Επιβράβευσε και τη μισή απάντηση — σε τμήμα ενηλίκων η ντροπή κοστίζει περισσότερο από την άγνοια.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Μην μπεις σε δυαδικό εδώ — δεν είναι της ύλης του κεφαλαίου 1. Αρκεί «διεύθυνση και περιεχόμενο».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Κράτα την αναλογία της κουζίνας από την προηγούμενη ώρα: ο πάγκος (καταχωρητές), το ντουλάπι πάνω από τον πάγκο (cache), το ψυγείο (RAM), η αποθήκη στο υπόγειο (δίσκος), το σούπερ μάρκετ (νέφος).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Αυτή η διαφάνεια είναι η πιο χρήσιμη της ώρας για ενήλικες. Σχεδόν όλοι έχουν χάσει δουλειά έτσι. Δώσε τους την εξήγηση — και μετά το Ctrl+S ως συνήθεια.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Οι αντιστοιχίες με πράγματα της ζωής είναι ό,τι κρατάνε. Ρώτα τους πόσα GB έχει το κινητό τους και τι το γεμίζει.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Πολλοί ενήλικες στην τάξη έχουν ζήσει τις δύο τελευταίες γενιές. Ρώτα ποιος θυμάται δισκέτα, modem που έκανε θόρυβο, ή υπολογιστή χωρίς σκληρό δίσκο. Είναι πραγματική ιστορία, όχι σχολικό κεφάλαιο.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Μη δώσεις την απάντηση τώρα — είναι η δραστηριότητα Β2. (IBM 350 RAMAC, 1956: περίπου 3,75 MB και πάνω από έναν τόνο.)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Τα χαρτάκια εξόδου δουλεύουν πολύ καλά σε τμήματα ενηλίκων: γράφουν πράγματα που δεν θα σήκωναν χέρι να πουν. Διάβασέ τα και ξεκίνα το επόμενο μάθημα από τις δύο συχνότερες απορίες.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ΚΕΦΑΛΑΙΟ 1   ·   2η ΑΠΟ 2 ΔΙΔΑΚΤΙΚΕΣ ΩΡΕΣ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9144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Μνήμη, αποθήκευση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και πού πάει η τεχνολογία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9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Γιατί χάνεται ό,τι δεν πρόλαβες να σώσεις,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9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και γιατί ένα στικάκι κρατάει όσα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9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μια ολόκληρη βιβλιοθήκη.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14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Α΄ Εσπερινού ΕΠΑ.Λ.  ·  Εφαρμογές Πληροφορικής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40680" y="1463040"/>
            <a:ext cx="3200400" cy="2286000"/>
          </a:xfrm>
          <a:prstGeom prst="roundRect">
            <a:avLst>
              <a:gd name="adj" fmla="val 3200"/>
            </a:avLst>
          </a:prstGeom>
          <a:solidFill>
            <a:srgbClr val="1D222C"/>
          </a:solidFill>
          <a:ln w="12700">
            <a:solidFill>
              <a:srgbClr val="1D22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0136" y="1664208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33872" y="1664208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07608" y="1664208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41848" y="1938528"/>
            <a:ext cx="28163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7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byte  = 8 bit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7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KB    = 1024 byte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7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MB    = 1024 KB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7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GB    = 1024 MB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7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Μια σελίδα κειμένου: 2 KB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Πριν προχωρήσουμε: θυμάστε;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Τρεις ερωτήσεις από την προηγούμενη ώρα. Απαντάμε προφορικά, χωρίς άγχος.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8092440" cy="822960"/>
          </a:xfrm>
          <a:prstGeom prst="roundRect">
            <a:avLst>
              <a:gd name="adj" fmla="val 888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73352"/>
            <a:ext cx="402336" cy="40233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673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55448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Ποια τρία μέρη έχει μέσα της η ΚΜΕ;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86537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 · Μονάδα Ελέγχου · Καταχωρητές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8092440" cy="822960"/>
          </a:xfrm>
          <a:prstGeom prst="roundRect">
            <a:avLst>
              <a:gd name="adj" fmla="val 888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633472"/>
            <a:ext cx="402336" cy="40233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633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51460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σημαίνει ότι ο επεξεργαστής έχει 4 πυρήνες;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82549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Τέσσερις «εργάτες» που δουλεύουν ταυτόχρονα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8092440" cy="822960"/>
          </a:xfrm>
          <a:prstGeom prst="roundRect">
            <a:avLst>
              <a:gd name="adj" fmla="val 888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593592"/>
            <a:ext cx="402336" cy="40233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593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47472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Πού κουμπώνουν όλα τα κομμάτια του υπολογιστή;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78561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Στη μητρική κάρτα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310896" cy="310896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41832" y="420624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78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  ·  Η ΜΝΗΜΗ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80467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Χιλιάδες συρτάρια με αριθμό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72768"/>
            <a:ext cx="4617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μνήμη είναι κελιά. Κάθε κελί έχει διεύθυνση (τον αριθμό του) και περιεχόμενο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υπολογιστής δεν ψάχνει: πάει κατευθείαν στη διεύθυνση που θέλει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bit = 0 ή 1. 8 bit = 1 byte. Η «λέξη» είναι όσα bit πιάνει με τη μία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Γι' αυτό ένας 64-bit επεξεργαστής διαχειρίζεται πολύ περισσότερη μνήμη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4663440" cy="1097280"/>
          </a:xfrm>
          <a:prstGeom prst="roundRect">
            <a:avLst>
              <a:gd name="adj" fmla="val 6667"/>
            </a:avLst>
          </a:prstGeom>
          <a:solidFill>
            <a:srgbClr val="EAF7F0"/>
          </a:solidFill>
          <a:ln w="12700">
            <a:solidFill>
              <a:srgbClr val="EAF7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3547872"/>
            <a:ext cx="42611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07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εικόνα: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φαντάσου έναν τοίχο με ταχυδρομικές θυρίδες. Δεν διαβάζεις όλες τις θυρίδες για να βρεις τη 347 — πας κατευθείαν στη 347.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394960" y="1572768"/>
            <a:ext cx="3246120" cy="2514600"/>
          </a:xfrm>
          <a:prstGeom prst="roundRect">
            <a:avLst>
              <a:gd name="adj" fmla="val 2909"/>
            </a:avLst>
          </a:prstGeom>
          <a:solidFill>
            <a:srgbClr val="1D222C"/>
          </a:solidFill>
          <a:ln w="12700">
            <a:solidFill>
              <a:srgbClr val="1D22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14416" y="1773936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88152" y="1773936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61888" y="1773936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96128" y="2048256"/>
            <a:ext cx="286207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Διεύθυνση  Περιεχόμενο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5C6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  -----------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7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0345      01000001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7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0346      01001101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00D6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0347      01001001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7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5C6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8 bit = 1 byte = 1 κελί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310896" cy="31089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41832" y="420624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9A6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  ·  ΙΕΡΑΡΧΙΑ ΜΝΗΜΗΣ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80467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Γρήγορο και ακριβό, αργό και φθηνό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53312"/>
            <a:ext cx="809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A6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ΠΙΟ ΓΡΗΓΟΡΗ, ΠΙΟ ΑΚΡΙΒΗ, ΠΙΟ ΜΙΚΡΗ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8092440" cy="457200"/>
          </a:xfrm>
          <a:prstGeom prst="roundRect">
            <a:avLst>
              <a:gd name="adj" fmla="val 16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700784"/>
            <a:ext cx="347472" cy="347472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1700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1645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Καταχωρητές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1645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μέσα στην ΚΜΕ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1645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ταχύτατοι  ·  ελάχιστα byte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194560"/>
            <a:ext cx="8092440" cy="457200"/>
          </a:xfrm>
          <a:prstGeom prst="roundRect">
            <a:avLst>
              <a:gd name="adj" fmla="val 16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2249424"/>
            <a:ext cx="347472" cy="347472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2249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Κρυφή μνήμη (cache)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749040" y="2194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δίπλα στην ΚΜΕ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πολύ γρήγορη  ·  λίγα MB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2743200"/>
            <a:ext cx="8092440" cy="457200"/>
          </a:xfrm>
          <a:prstGeom prst="roundRect">
            <a:avLst>
              <a:gd name="adj" fmla="val 16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2798064"/>
            <a:ext cx="347472" cy="347472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2798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207008" y="2743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Κύρια μνήμη (RAM)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749040" y="2743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πάνω στη μητρική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760720" y="2743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γρήγορη  ·  λίγα GB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3291840"/>
            <a:ext cx="8092440" cy="457200"/>
          </a:xfrm>
          <a:prstGeom prst="roundRect">
            <a:avLst>
              <a:gd name="adj" fmla="val 16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232" y="3346704"/>
            <a:ext cx="347472" cy="347472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3232" y="3346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207008" y="3291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Δίσκος SSD ή HDD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3749040" y="3291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μέσα στο κουτί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760720" y="3291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αργός  ·  εκατοντάδες GB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3840480"/>
            <a:ext cx="8092440" cy="457200"/>
          </a:xfrm>
          <a:prstGeom prst="roundRect">
            <a:avLst>
              <a:gd name="adj" fmla="val 16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" y="3895344"/>
            <a:ext cx="347472" cy="34747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3232" y="3895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207008" y="3840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Νέφος ή εξωτερικός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374904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κάπου αλλού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760720" y="3840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πιο αργό  ·  όσο θέλεις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566928" y="4425696"/>
            <a:ext cx="809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5B3F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ΠΙΟ ΑΡΓΗ, ΠΙΟ ΦΘΗΝΗ, ΠΙΟ ΜΕΓΑΛΗ  —  ο υπολογιστής παίζει συνέχεια ανάμεσά τους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310896" cy="310896"/>
          </a:xfrm>
          <a:prstGeom prst="ellipse">
            <a:avLst/>
          </a:prstGeom>
          <a:solidFill>
            <a:srgbClr val="FF8A7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41832" y="420624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C2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  ·  ΠΤΗΤΙΚΗ ΚΑΙ ΜΗ ΠΤΗΤΙΚΗ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80467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Γιατί χάνεται ό,τι δεν έσωσες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FFF1EE"/>
          </a:solidFill>
          <a:ln w="12700">
            <a:solidFill>
              <a:srgbClr val="FFF1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642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214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Πτητική μνήμη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50592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Κρατάει ό,τι δουλεύετε αυτή τη στιγμή. Είναι γρήγορη — αλλά αδειάζει τη στιγμή που κόβεται το ρεύμα.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481328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EAF7F0"/>
          </a:solidFill>
          <a:ln w="12700">
            <a:solidFill>
              <a:srgbClr val="EAF7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37760" y="16642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Δίσκος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1214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Μη πτητική μνήμη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450592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Κρατάει ό,τι έχετε αποθηκεύσει, με ή χωρίς ρεύμα. Είναι πιο αργή — γι' αυτό δεν δουλεύουμε κατευθείαν πάνω της.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8092440" cy="658368"/>
          </a:xfrm>
          <a:prstGeom prst="roundRect">
            <a:avLst>
              <a:gd name="adj" fmla="val 11111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4096512"/>
            <a:ext cx="7690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Να γιατί χάθηκε εκείνο το κείμενο που δεν είχατε σώσει.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Δεν ήταν κακοτυχία και δεν φταίγατε: ήταν ακόμα στη RAM. Ctrl+S σημαίνει «πέρασέ το στον δίσκο».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310896" cy="3108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41832" y="420624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36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  ·  ΜΟΝΑΔΕΣ ΜΕΤΡΗΣΗΣ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80467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Πόσο μεγάλο είναι ένα GB;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8092440" cy="512064"/>
          </a:xfrm>
          <a:prstGeom prst="roundRect">
            <a:avLst>
              <a:gd name="adj" fmla="val 1428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1732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byte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141732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ένας χαρακτήρας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417320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γράμμα Α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020824"/>
            <a:ext cx="8092440" cy="512064"/>
          </a:xfrm>
          <a:prstGeom prst="roundRect">
            <a:avLst>
              <a:gd name="adj" fmla="val 1428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020824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KB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103120" y="202082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χίλιοι χαρακτήρες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020824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μισή σελίδα κειμένου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624328"/>
            <a:ext cx="8092440" cy="512064"/>
          </a:xfrm>
          <a:prstGeom prst="roundRect">
            <a:avLst>
              <a:gd name="adj" fmla="val 1428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2624328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8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MB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103120" y="262432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χίλια KB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2624328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μια φωτογραφία από κινητό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227832"/>
            <a:ext cx="8092440" cy="512064"/>
          </a:xfrm>
          <a:prstGeom prst="roundRect">
            <a:avLst>
              <a:gd name="adj" fmla="val 1428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227832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GB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103120" y="3227832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χίλια MB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3227832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περίπου 200 τραγούδια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831336"/>
            <a:ext cx="8092440" cy="512064"/>
          </a:xfrm>
          <a:prstGeom prst="roundRect">
            <a:avLst>
              <a:gd name="adj" fmla="val 1428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3831336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TB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103120" y="3831336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χίλια GB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663440" y="3831336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όλες οι φωτογραφίες μιας ζωής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4526280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Στην πραγματικότητα το «χίλια» είναι 1024 — θα δείτε γιατί στη Β΄ τάξη.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41832" y="42062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  ·  ΤΕΧΝΟΛΟΓΙΚΕΣ ΕΞΕΛΙΞΕΙΣ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82296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Τέσσερις γενιές σε ογδόντα χρόνια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84632" y="1554480"/>
            <a:ext cx="1874520" cy="1965960"/>
          </a:xfrm>
          <a:prstGeom prst="roundRect">
            <a:avLst>
              <a:gd name="adj" fmla="val 3902"/>
            </a:avLst>
          </a:prstGeom>
          <a:solidFill>
            <a:srgbClr val="1D222C"/>
          </a:solidFill>
          <a:ln w="12700">
            <a:solidFill>
              <a:srgbClr val="1D222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" y="170078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1945–55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199339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Λυχνίες κενού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542032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Αίθουσες ολόκληρες, χιλιάδες λάμπες που καίγονταν συνέχεια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87752" y="1554480"/>
            <a:ext cx="1874520" cy="1965960"/>
          </a:xfrm>
          <a:prstGeom prst="roundRect">
            <a:avLst>
              <a:gd name="adj" fmla="val 3902"/>
            </a:avLst>
          </a:prstGeom>
          <a:solidFill>
            <a:srgbClr val="1D222C"/>
          </a:solidFill>
          <a:ln w="12700">
            <a:solidFill>
              <a:srgbClr val="1D222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70632" y="170078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1955–65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770632" y="199339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Τρανζίστορ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770632" y="2542032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Μικρότερα, πιο αξιόπιστα, λιγότερο ρεύμα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90872" y="1554480"/>
            <a:ext cx="1874520" cy="1965960"/>
          </a:xfrm>
          <a:prstGeom prst="roundRect">
            <a:avLst>
              <a:gd name="adj" fmla="val 3902"/>
            </a:avLst>
          </a:prstGeom>
          <a:solidFill>
            <a:srgbClr val="1D222C"/>
          </a:solidFill>
          <a:ln w="12700">
            <a:solidFill>
              <a:srgbClr val="1D222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73752" y="170078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1965–80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73752" y="199339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Ολοκληρωμένα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873752" y="2542032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Πολλά τρανζίστορ σε ένα τσιπ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793992" y="1554480"/>
            <a:ext cx="1874520" cy="1965960"/>
          </a:xfrm>
          <a:prstGeom prst="roundRect">
            <a:avLst>
              <a:gd name="adj" fmla="val 3902"/>
            </a:avLst>
          </a:prstGeom>
          <a:solidFill>
            <a:srgbClr val="1D222C"/>
          </a:solidFill>
          <a:ln w="12700">
            <a:solidFill>
              <a:srgbClr val="1D222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76872" y="170078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1980–σήμερα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976872" y="199339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Μικροεπεξεργαστής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976872" y="2542032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Δισεκατομμύρια τρανζίστορ σε λίγα τετραγωνικά χιλιοστά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3703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Νόμος του Μουρ: 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αριθμός των τρανζίστορ σε ένα τσιπ διπλασιάζεται περίπου κάθε δύο χρόνια. Κρατάει από το 1965 — και είναι ο λόγος που ο υπολογιστής που αγοράσατε πριν πέντε χρόνια μοιάζει αργός σήμερα.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310896" cy="310896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20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41832" y="420624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78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  ·  ΠΟΥ ΠΑΜΕ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80467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έρχεται — και τι ήδη ήρθε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931920" cy="1161288"/>
          </a:xfrm>
          <a:prstGeom prst="roundRect">
            <a:avLst>
              <a:gd name="adj" fmla="val 629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5453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Πολυπύρηνοι &amp; κάρτες γραφικών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183794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Αντί για έναν πιο γρήγορο εργάτη, πολλοί μαζί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931920" cy="1161288"/>
          </a:xfrm>
          <a:prstGeom prst="roundRect">
            <a:avLst>
              <a:gd name="adj" fmla="val 629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10328" y="15453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αντί για HDD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910328" y="183794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Χωρίς κινούμενα μέρη. Γι' αυτό ανοίγει σε δευτερόλεπτα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3931920" cy="1161288"/>
          </a:xfrm>
          <a:prstGeom prst="roundRect">
            <a:avLst>
              <a:gd name="adj" fmla="val 629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28254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3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και επαυξημένη πραγματικότητα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311810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Οθόνη που δεν είναι πια μπροστά σας, αλλά γύρω σας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09160" y="2697480"/>
            <a:ext cx="3931920" cy="1161288"/>
          </a:xfrm>
          <a:prstGeom prst="roundRect">
            <a:avLst>
              <a:gd name="adj" fmla="val 629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10328" y="28254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2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εκτύπωση, κβαντικοί, αυτόνομα οχήματα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910328" y="311810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Ό,τι σήμερα ακούγεται υπερβολή, ήταν και το κινητό το 1990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8092440" cy="658368"/>
          </a:xfrm>
          <a:prstGeom prst="roundRect">
            <a:avLst>
              <a:gd name="adj" fmla="val 11111"/>
            </a:avLst>
          </a:prstGeom>
          <a:solidFill>
            <a:srgbClr val="EAF7F0"/>
          </a:solidFill>
          <a:ln w="12700">
            <a:solidFill>
              <a:srgbClr val="EAF7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4096512"/>
            <a:ext cx="7690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07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Στο Φύλλο Εργασίας 2 θα το ψάξετε μόνοι σας: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7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πόσο κόστιζε ο πρώτος σκληρός δίσκος, πόσο ζύγιζε, και πόσα MB είχε. Η απάντηση θα σας κάνει να γελάσετε.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ΤΩΡΑ ΣΤΟΝ ΥΠΟΛΟΓΙΣΤΗ ΣΑΣ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91440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Φύλλο Εργασίας 2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423160" cy="1920240"/>
          </a:xfrm>
          <a:prstGeom prst="roundRect">
            <a:avLst>
              <a:gd name="adj" fmla="val 3810"/>
            </a:avLst>
          </a:prstGeom>
          <a:solidFill>
            <a:srgbClr val="1D222C"/>
          </a:solidFill>
          <a:ln w="12700">
            <a:solidFill>
              <a:srgbClr val="1D22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783080"/>
            <a:ext cx="402336" cy="402336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2860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δίσκος μου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615184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Πόσο χώρο έχετε, πόσος είναι ελεύθερος, και πόσα τραγούδια χωράνε.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600200"/>
            <a:ext cx="2423160" cy="1920240"/>
          </a:xfrm>
          <a:prstGeom prst="roundRect">
            <a:avLst>
              <a:gd name="adj" fmla="val 3810"/>
            </a:avLst>
          </a:prstGeom>
          <a:solidFill>
            <a:srgbClr val="1D222C"/>
          </a:solidFill>
          <a:ln w="12700">
            <a:solidFill>
              <a:srgbClr val="1D22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11296" y="1783080"/>
            <a:ext cx="402336" cy="40233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11296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11296" y="22860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Τιμές και ιστορία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11296" y="2615184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ή HDD; Υπολογίζετε ευρώ ανά GB και ψάχνετε τον πρώτο δίσκο της ιστορίας.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600200"/>
            <a:ext cx="2423160" cy="1920240"/>
          </a:xfrm>
          <a:prstGeom prst="roundRect">
            <a:avLst>
              <a:gd name="adj" fmla="val 3810"/>
            </a:avLst>
          </a:prstGeom>
          <a:solidFill>
            <a:srgbClr val="1D222C"/>
          </a:solidFill>
          <a:ln w="12700">
            <a:solidFill>
              <a:srgbClr val="1D222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4496" y="1783080"/>
            <a:ext cx="402336" cy="402336"/>
          </a:xfrm>
          <a:prstGeom prst="ellipse">
            <a:avLst/>
          </a:prstGeom>
          <a:solidFill>
            <a:srgbClr val="FF8A7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54496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54496" y="22860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Πρόκληση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54496" y="2615184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Γράφημα του νόμου του Μουρ σε υπολογιστικό φύλλο και έρευνα για κβαντικούς.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3749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Πριν φύγετε: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γράψτε σε ένα χαρτάκι ένα πράγμα που κρατήσατε και μία απορία που σας έμεινε. Θα ξεκινήσουμε από εκεί την επόμενη φορά.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Υλικό Υπολογιστών — 2η ώρα</dc:title>
  <dc:subject>PptxGenJS Presentation</dc:subject>
  <dc:creator>Chris</dc:creator>
  <cp:lastModifiedBy>Chris</cp:lastModifiedBy>
  <cp:revision>1</cp:revision>
  <dcterms:created xsi:type="dcterms:W3CDTF">2026-09-16T09:12:18Z</dcterms:created>
  <dcterms:modified xsi:type="dcterms:W3CDTF">2026-09-16T09:12:18Z</dcterms:modified>
</cp:coreProperties>
</file>