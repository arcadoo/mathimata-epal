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91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Πρώτο μάθημα. Το βιβλίο έχει 16 κεφάλαια αλλά η καρδιά του είναι τα κεφ. 7 (App Inventor / Alice) και 11 (HTML). Άνοιγμα: ρώτησέ τους ποια εφαρμογή στο κινητό τους θα ήθελαν να έχουν φτιάξει οι ίδιοι.</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Πες τους ότι κάθε ενότητα κλείνει με Ασκήσεις Αυτοαξιολόγησης και «Θέματα για Συζήτηση» — δηλαδή υπάρχει και χώρος να διαφωνήσουν. Η Ενότητα 2 είναι η πιο απαιτητική αλλά και η πιο διασκεδαστική.</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βιβλίο εξηγεί γιατί η συχνότητα ρολογιού από μόνη της δεν συγκρίνει επεξεργαστές — από εκεί βγαίνουν τα benchmarks. Καλή αφορμή για συζήτηση περί overclocking (υπάρχει δραστηριότητα στο κεφ.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κεφ. 4 έχει τα καλύτερα «Θέματα για Συζήτηση» του βιβλίου: πειρατικό vs ελεύθερο λογισμικό και debate για τις κοινωνικές συνέπειες. Ιδανικό για να μιλήσουν οι ίδιοι.</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Αν έχουν κάνει Scratch στο Γυμνάσιο, εδώ είναι η γέφυρα. Το βιβλίο δίνει και «Hello World!» σε C, C++, Python και Java για να δουν τη διαφορά σύνταξης.</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Είκοσι σελίδες — το μεγαλύτερο κεφάλαιο του βιβλίου, καθαρά εργαστηριακό. Το project «Fun &amp; Learn» γίνεται στις 5 φάσεις του κύκλου ζωής (κεφ. 5), οπότε συνδέονται μεταξύ τους. Το σενάριο του Alice είναι ένας αστροναύτης σε σκηνή «Moon» και ένα UFO.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Οι φρυκτωρίες και τα Πύρσεια του βιβλίου είναι εξαιρετικό άνοιγμα: δείχνουν ότι «δίκτυο» και «κωδικοποίηση» δεν είναι σύγχρονες ιδέες. Υπάρχει και το λογισμικό NETWORKS για προσομοίωση τοπολογιών.</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βιβλίο ζητάει ρητά δύο σελίδες HTML γραμμένες σε απλό κειμενογράφο που συνδέονται μεταξύ τους — χωρίς κανένα εργαλείο. Μετά ανοίγουν την ίδια σελίδα στο κινητό για να δουν τι σημαίνει responsive.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κεφ. 16 συνδέεται πίσω με το κεφ. 4 (πνευματικά δικαιώματα) — πες το, γιατί το βιβλίο σκόπιμα επαναφέρει έννοιες. Καλό παράδειγμα αναξιόπιστης πληροφορίας που δίνει το βιβλίο: «η γη είναι επίπεδη».</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Κλείσε εδώ. Κρατήστε τα ευρήματα — θα τα ξαναπιάσετε στο κεφ. 15 (προσωπικά δεδομένα) και στο κεφ. 16 (ιδιωτικότητα). Αν κάποιος δεν βρει τίποτα, αυτό είναι επίσης εύρημα.</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4754880" cy="274320"/>
          </a:xfrm>
          <a:prstGeom prst="rect">
            <a:avLst/>
          </a:prstGeom>
          <a:noFill/>
          <a:ln/>
        </p:spPr>
        <p:txBody>
          <a:bodyPr wrap="square" lIns="0" tIns="0" rIns="0" bIns="0" rtlCol="0" anchor="ctr"/>
          <a:lstStyle/>
          <a:p>
            <a:pPr marL="0" indent="0">
              <a:buNone/>
            </a:pPr>
            <a:r>
              <a:rPr lang="en-US" sz="1050" b="1" kern="0" spc="200" dirty="0">
                <a:solidFill>
                  <a:srgbClr val="00D68F"/>
                </a:solidFill>
                <a:latin typeface="Courier New" pitchFamily="34" charset="0"/>
                <a:ea typeface="Courier New" pitchFamily="34" charset="-122"/>
                <a:cs typeface="Courier New" pitchFamily="34" charset="-120"/>
              </a:rPr>
              <a:t>Α΄ ΓΕΝΙΚΟΥ ΛΥΚΕΙΟΥ   ·   ΕΠΙΛΟΓΗΣ</a:t>
            </a:r>
            <a:endParaRPr lang="en-US" sz="1050" dirty="0"/>
          </a:p>
        </p:txBody>
      </p:sp>
      <p:sp>
        <p:nvSpPr>
          <p:cNvPr id="3" name="Text 1"/>
          <p:cNvSpPr txBox="1"/>
          <p:nvPr/>
        </p:nvSpPr>
        <p:spPr>
          <a:xfrm>
            <a:off x="530352" y="914400"/>
            <a:ext cx="4754880" cy="1371600"/>
          </a:xfrm>
          <a:prstGeom prst="rect">
            <a:avLst/>
          </a:prstGeom>
          <a:noFill/>
          <a:ln/>
        </p:spPr>
        <p:txBody>
          <a:bodyPr wrap="square" lIns="0" tIns="0" rIns="0" bIns="0" rtlCol="0" anchor="ctr"/>
          <a:lstStyle/>
          <a:p>
            <a:pPr marL="0" indent="0">
              <a:lnSpc>
                <a:spcPts val="4500"/>
              </a:lnSpc>
              <a:buNone/>
            </a:pPr>
            <a:r>
              <a:rPr lang="en-US" sz="3800" b="1" dirty="0">
                <a:solidFill>
                  <a:srgbClr val="FFFFFF"/>
                </a:solidFill>
                <a:latin typeface="Calibri" pitchFamily="34" charset="0"/>
                <a:ea typeface="Calibri" pitchFamily="34" charset="-122"/>
                <a:cs typeface="Calibri" pitchFamily="34" charset="-120"/>
              </a:rPr>
              <a:t>Εφαρμογές</a:t>
            </a:r>
            <a:endParaRPr lang="en-US" sz="3800" dirty="0"/>
          </a:p>
          <a:p>
            <a:pPr marL="0" indent="0">
              <a:lnSpc>
                <a:spcPts val="4500"/>
              </a:lnSpc>
              <a:buNone/>
            </a:pPr>
            <a:r>
              <a:rPr lang="en-US" sz="3800" b="1" dirty="0">
                <a:solidFill>
                  <a:srgbClr val="FFFFFF"/>
                </a:solidFill>
                <a:latin typeface="Calibri" pitchFamily="34" charset="0"/>
                <a:ea typeface="Calibri" pitchFamily="34" charset="-122"/>
                <a:cs typeface="Calibri" pitchFamily="34" charset="-120"/>
              </a:rPr>
              <a:t>Πληροφορικής</a:t>
            </a:r>
            <a:endParaRPr lang="en-US" sz="3800" dirty="0"/>
          </a:p>
        </p:txBody>
      </p:sp>
      <p:sp>
        <p:nvSpPr>
          <p:cNvPr id="4" name="Text 2"/>
          <p:cNvSpPr txBox="1"/>
          <p:nvPr/>
        </p:nvSpPr>
        <p:spPr>
          <a:xfrm>
            <a:off x="548640" y="2560320"/>
            <a:ext cx="4754880" cy="1005840"/>
          </a:xfrm>
          <a:prstGeom prst="rect">
            <a:avLst/>
          </a:prstGeom>
          <a:noFill/>
          <a:ln/>
        </p:spPr>
        <p:txBody>
          <a:bodyPr wrap="square" lIns="0" tIns="0" rIns="0" bIns="0" rtlCol="0" anchor="ctr"/>
          <a:lstStyle/>
          <a:p>
            <a:pPr marL="0" indent="0">
              <a:lnSpc>
                <a:spcPts val="2300"/>
              </a:lnSpc>
              <a:buNone/>
            </a:pPr>
            <a:r>
              <a:rPr lang="en-US" sz="1500" dirty="0">
                <a:solidFill>
                  <a:srgbClr val="C9D2DE"/>
                </a:solidFill>
                <a:latin typeface="Calibri" pitchFamily="34" charset="0"/>
                <a:ea typeface="Calibri" pitchFamily="34" charset="-122"/>
                <a:cs typeface="Calibri" pitchFamily="34" charset="-120"/>
              </a:rPr>
              <a:t>Το μόνο μάθημα όπου το «έφτιαξα κάτι»</a:t>
            </a:r>
            <a:endParaRPr lang="en-US" sz="1500" dirty="0"/>
          </a:p>
          <a:p>
            <a:pPr marL="0" indent="0">
              <a:lnSpc>
                <a:spcPts val="2300"/>
              </a:lnSpc>
              <a:buNone/>
            </a:pPr>
            <a:r>
              <a:rPr lang="en-US" sz="1500" dirty="0">
                <a:solidFill>
                  <a:srgbClr val="C9D2DE"/>
                </a:solidFill>
                <a:latin typeface="Calibri" pitchFamily="34" charset="0"/>
                <a:ea typeface="Calibri" pitchFamily="34" charset="-122"/>
                <a:cs typeface="Calibri" pitchFamily="34" charset="-120"/>
              </a:rPr>
              <a:t>μετράει περισσότερο από το «το διάβασα».</a:t>
            </a:r>
            <a:endParaRPr lang="en-US" sz="1500" dirty="0"/>
          </a:p>
          <a:p>
            <a:pPr marL="0" indent="0">
              <a:lnSpc>
                <a:spcPts val="2300"/>
              </a:lnSpc>
              <a:buNone/>
            </a:pPr>
            <a:r>
              <a:rPr lang="en-US" sz="1500" dirty="0">
                <a:solidFill>
                  <a:srgbClr val="C9D2DE"/>
                </a:solidFill>
                <a:latin typeface="Calibri" pitchFamily="34" charset="0"/>
                <a:ea typeface="Calibri" pitchFamily="34" charset="-122"/>
                <a:cs typeface="Calibri" pitchFamily="34" charset="-120"/>
              </a:rPr>
              <a:t>Φέτος φεύγεις με δικά σου πράγματα.</a:t>
            </a:r>
            <a:endParaRPr lang="en-US" sz="1500" dirty="0"/>
          </a:p>
        </p:txBody>
      </p:sp>
      <p:sp>
        <p:nvSpPr>
          <p:cNvPr id="5" name="Text 3"/>
          <p:cNvSpPr txBox="1"/>
          <p:nvPr/>
        </p:nvSpPr>
        <p:spPr>
          <a:xfrm>
            <a:off x="548640" y="4114800"/>
            <a:ext cx="4937760" cy="274320"/>
          </a:xfrm>
          <a:prstGeom prst="rect">
            <a:avLst/>
          </a:prstGeom>
          <a:noFill/>
          <a:ln/>
        </p:spPr>
        <p:txBody>
          <a:bodyPr wrap="square" lIns="0" tIns="0" rIns="0" bIns="0" rtlCol="0" anchor="ctr"/>
          <a:lstStyle/>
          <a:p>
            <a:pPr marL="0" indent="0">
              <a:buNone/>
            </a:pPr>
            <a:r>
              <a:rPr lang="en-US" sz="1150" dirty="0">
                <a:solidFill>
                  <a:srgbClr val="8F9AAA"/>
                </a:solidFill>
                <a:latin typeface="Calibri" pitchFamily="34" charset="0"/>
                <a:ea typeface="Calibri" pitchFamily="34" charset="-122"/>
                <a:cs typeface="Calibri" pitchFamily="34" charset="-120"/>
              </a:rPr>
              <a:t>4 θεματικές ενότητες  ·  16 κεφάλαια  ·  πολύ εργαστήριο</a:t>
            </a:r>
            <a:endParaRPr lang="en-US" sz="1150" dirty="0"/>
          </a:p>
        </p:txBody>
      </p:sp>
      <p:sp>
        <p:nvSpPr>
          <p:cNvPr id="6" name="Shape 4"/>
          <p:cNvSpPr/>
          <p:nvPr/>
        </p:nvSpPr>
        <p:spPr>
          <a:xfrm>
            <a:off x="5440680" y="1508760"/>
            <a:ext cx="3200400" cy="2148840"/>
          </a:xfrm>
          <a:prstGeom prst="roundRect">
            <a:avLst>
              <a:gd name="adj" fmla="val 3404"/>
            </a:avLst>
          </a:prstGeom>
          <a:solidFill>
            <a:srgbClr val="1D222C"/>
          </a:solidFill>
          <a:ln w="12700">
            <a:solidFill>
              <a:srgbClr val="1D222C"/>
            </a:solidFill>
            <a:prstDash val="solid"/>
          </a:ln>
        </p:spPr>
      </p:sp>
      <p:sp>
        <p:nvSpPr>
          <p:cNvPr id="7" name="Shape 5"/>
          <p:cNvSpPr/>
          <p:nvPr/>
        </p:nvSpPr>
        <p:spPr>
          <a:xfrm>
            <a:off x="5660136" y="1709928"/>
            <a:ext cx="91440" cy="91440"/>
          </a:xfrm>
          <a:prstGeom prst="ellipse">
            <a:avLst/>
          </a:prstGeom>
          <a:solidFill>
            <a:srgbClr val="FF5F56"/>
          </a:solidFill>
          <a:ln w="12700">
            <a:solidFill>
              <a:srgbClr val="FF5F56"/>
            </a:solidFill>
            <a:prstDash val="solid"/>
          </a:ln>
        </p:spPr>
      </p:sp>
      <p:sp>
        <p:nvSpPr>
          <p:cNvPr id="8" name="Shape 6"/>
          <p:cNvSpPr/>
          <p:nvPr/>
        </p:nvSpPr>
        <p:spPr>
          <a:xfrm>
            <a:off x="5833872" y="1709928"/>
            <a:ext cx="91440" cy="91440"/>
          </a:xfrm>
          <a:prstGeom prst="ellipse">
            <a:avLst/>
          </a:prstGeom>
          <a:solidFill>
            <a:srgbClr val="FFBD2E"/>
          </a:solidFill>
          <a:ln w="12700">
            <a:solidFill>
              <a:srgbClr val="FFBD2E"/>
            </a:solidFill>
            <a:prstDash val="solid"/>
          </a:ln>
        </p:spPr>
      </p:sp>
      <p:sp>
        <p:nvSpPr>
          <p:cNvPr id="9" name="Shape 7"/>
          <p:cNvSpPr/>
          <p:nvPr/>
        </p:nvSpPr>
        <p:spPr>
          <a:xfrm>
            <a:off x="6007608" y="1709928"/>
            <a:ext cx="91440" cy="91440"/>
          </a:xfrm>
          <a:prstGeom prst="ellipse">
            <a:avLst/>
          </a:prstGeom>
          <a:solidFill>
            <a:srgbClr val="27C93F"/>
          </a:solidFill>
          <a:ln w="12700">
            <a:solidFill>
              <a:srgbClr val="27C93F"/>
            </a:solidFill>
            <a:prstDash val="solid"/>
          </a:ln>
        </p:spPr>
      </p:sp>
      <p:sp>
        <p:nvSpPr>
          <p:cNvPr id="10" name="Text 8"/>
          <p:cNvSpPr txBox="1"/>
          <p:nvPr/>
        </p:nvSpPr>
        <p:spPr>
          <a:xfrm>
            <a:off x="5641848" y="1984248"/>
            <a:ext cx="2816352" cy="1508760"/>
          </a:xfrm>
          <a:prstGeom prst="rect">
            <a:avLst/>
          </a:prstGeom>
          <a:noFill/>
          <a:ln/>
        </p:spPr>
        <p:txBody>
          <a:bodyPr wrap="square" lIns="0" tIns="0" rIns="0" bIns="0" rtlCol="0" anchor="t"/>
          <a:lstStyle/>
          <a:p>
            <a:pPr marL="0" indent="0">
              <a:lnSpc>
                <a:spcPts val="1700"/>
              </a:lnSpc>
              <a:buNone/>
            </a:pPr>
            <a:r>
              <a:rPr lang="en-US" sz="1100" dirty="0">
                <a:solidFill>
                  <a:srgbClr val="00D68F"/>
                </a:solidFill>
                <a:latin typeface="Courier New" pitchFamily="34" charset="0"/>
                <a:ea typeface="Courier New" pitchFamily="34" charset="-122"/>
                <a:cs typeface="Courier New" pitchFamily="34" charset="-120"/>
              </a:rPr>
              <a:t>&lt;h1&gt;Γεια σου κόσμε!&lt;/h1&gt;</a:t>
            </a:r>
            <a:endParaRPr lang="en-US" sz="1100" dirty="0"/>
          </a:p>
          <a:p>
            <a:pPr marL="0" indent="0">
              <a:lnSpc>
                <a:spcPts val="1700"/>
              </a:lnSpc>
              <a:buNone/>
            </a:pPr>
            <a:r>
              <a:rPr lang="en-US" sz="1100" dirty="0">
                <a:solidFill>
                  <a:srgbClr val="D7DEE8"/>
                </a:solidFill>
                <a:latin typeface="Courier New" pitchFamily="34" charset="0"/>
                <a:ea typeface="Courier New" pitchFamily="34" charset="-122"/>
                <a:cs typeface="Courier New" pitchFamily="34" charset="-120"/>
              </a:rPr>
              <a:t>&lt;p&gt;Η πρώτη μου</a:t>
            </a:r>
            <a:endParaRPr lang="en-US" sz="1100" dirty="0"/>
          </a:p>
          <a:p>
            <a:pPr marL="0" indent="0">
              <a:lnSpc>
                <a:spcPts val="1700"/>
              </a:lnSpc>
              <a:buNone/>
            </a:pPr>
            <a:r>
              <a:rPr lang="en-US" sz="1100" dirty="0">
                <a:solidFill>
                  <a:srgbClr val="D7DEE8"/>
                </a:solidFill>
                <a:latin typeface="Courier New" pitchFamily="34" charset="0"/>
                <a:ea typeface="Courier New" pitchFamily="34" charset="-122"/>
                <a:cs typeface="Courier New" pitchFamily="34" charset="-120"/>
              </a:rPr>
              <a:t>   ιστοσελίδα.&lt;/p&gt;</a:t>
            </a:r>
            <a:endParaRPr lang="en-US" sz="1100" dirty="0"/>
          </a:p>
          <a:p>
            <a:pPr marL="0" indent="0">
              <a:lnSpc>
                <a:spcPts val="1700"/>
              </a:lnSpc>
              <a:buNone/>
            </a:pPr>
            <a:r>
              <a:rPr lang="en-US" sz="1100" dirty="0">
                <a:solidFill>
                  <a:srgbClr val="D7DEE8"/>
                </a:solidFill>
                <a:latin typeface="Courier New" pitchFamily="34" charset="0"/>
                <a:ea typeface="Courier New" pitchFamily="34" charset="-122"/>
                <a:cs typeface="Courier New" pitchFamily="34" charset="-120"/>
              </a:rPr>
              <a:t> </a:t>
            </a:r>
            <a:endParaRPr lang="en-US" sz="1100" dirty="0"/>
          </a:p>
          <a:p>
            <a:pPr marL="0" indent="0">
              <a:lnSpc>
                <a:spcPts val="1700"/>
              </a:lnSpc>
              <a:buNone/>
            </a:pPr>
            <a:r>
              <a:rPr lang="en-US" sz="1100" dirty="0">
                <a:solidFill>
                  <a:srgbClr val="5C6879"/>
                </a:solidFill>
                <a:latin typeface="Courier New" pitchFamily="34" charset="0"/>
                <a:ea typeface="Courier New" pitchFamily="34" charset="-122"/>
                <a:cs typeface="Courier New" pitchFamily="34" charset="-120"/>
              </a:rPr>
              <a:t>&lt;!-- κεφάλαιο 11 --&gt;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411480"/>
            <a:ext cx="8138160" cy="566928"/>
          </a:xfrm>
          <a:prstGeom prst="rect">
            <a:avLst/>
          </a:prstGeom>
          <a:noFill/>
          <a:ln/>
        </p:spPr>
        <p:txBody>
          <a:bodyPr wrap="square" lIns="0" tIns="0" rIns="0" bIns="0" rtlCol="0" anchor="ctr"/>
          <a:lstStyle/>
          <a:p>
            <a:pPr marL="0" indent="0">
              <a:buNone/>
            </a:pPr>
            <a:r>
              <a:rPr lang="en-US" sz="3400" b="1" dirty="0">
                <a:solidFill>
                  <a:srgbClr val="171B22"/>
                </a:solidFill>
                <a:latin typeface="Calibri" pitchFamily="34" charset="0"/>
                <a:ea typeface="Calibri" pitchFamily="34" charset="-122"/>
                <a:cs typeface="Calibri" pitchFamily="34" charset="-120"/>
              </a:rPr>
              <a:t>Τέσσερις ενότητες, μία χρονιά</a:t>
            </a:r>
            <a:endParaRPr lang="en-US" sz="3400" dirty="0"/>
          </a:p>
        </p:txBody>
      </p:sp>
      <p:sp>
        <p:nvSpPr>
          <p:cNvPr id="3" name="Text 1"/>
          <p:cNvSpPr txBox="1"/>
          <p:nvPr/>
        </p:nvSpPr>
        <p:spPr>
          <a:xfrm>
            <a:off x="548640" y="932688"/>
            <a:ext cx="8046720" cy="274320"/>
          </a:xfrm>
          <a:prstGeom prst="rect">
            <a:avLst/>
          </a:prstGeom>
          <a:noFill/>
          <a:ln/>
        </p:spPr>
        <p:txBody>
          <a:bodyPr wrap="square" lIns="0" tIns="0" rIns="0" bIns="0" rtlCol="0" anchor="ctr"/>
          <a:lstStyle/>
          <a:p>
            <a:pPr marL="0" indent="0">
              <a:buNone/>
            </a:pPr>
            <a:r>
              <a:rPr lang="en-US" sz="1300" dirty="0">
                <a:solidFill>
                  <a:srgbClr val="6B7480"/>
                </a:solidFill>
                <a:latin typeface="Calibri" pitchFamily="34" charset="0"/>
                <a:ea typeface="Calibri" pitchFamily="34" charset="-122"/>
                <a:cs typeface="Calibri" pitchFamily="34" charset="-120"/>
              </a:rPr>
              <a:t>Δεκαέξι κεφάλαια που πάνε από το κουτί του υπολογιστή μέχρι το προφίλ σου στα κοινωνικά δίκτυα.</a:t>
            </a:r>
            <a:endParaRPr lang="en-US" sz="1300" dirty="0"/>
          </a:p>
        </p:txBody>
      </p:sp>
      <p:sp>
        <p:nvSpPr>
          <p:cNvPr id="4" name="Shape 2"/>
          <p:cNvSpPr/>
          <p:nvPr/>
        </p:nvSpPr>
        <p:spPr>
          <a:xfrm>
            <a:off x="566928" y="1490472"/>
            <a:ext cx="420624" cy="420624"/>
          </a:xfrm>
          <a:prstGeom prst="ellipse">
            <a:avLst/>
          </a:prstGeom>
          <a:solidFill>
            <a:srgbClr val="00D68F"/>
          </a:solidFill>
          <a:ln/>
        </p:spPr>
      </p:sp>
      <p:sp>
        <p:nvSpPr>
          <p:cNvPr id="5" name="Text 3"/>
          <p:cNvSpPr txBox="1"/>
          <p:nvPr/>
        </p:nvSpPr>
        <p:spPr>
          <a:xfrm>
            <a:off x="566928" y="1490472"/>
            <a:ext cx="420624" cy="420624"/>
          </a:xfrm>
          <a:prstGeom prst="rect">
            <a:avLst/>
          </a:prstGeom>
          <a:noFill/>
          <a:ln/>
        </p:spPr>
        <p:txBody>
          <a:bodyPr wrap="square" lIns="0" tIns="0" rIns="0" bIns="0" rtlCol="0" anchor="ctr"/>
          <a:lstStyle/>
          <a:p>
            <a:pPr marL="0" indent="0" algn="ctr">
              <a:buNone/>
            </a:pPr>
            <a:r>
              <a:rPr lang="en-US" sz="1500" b="1" dirty="0">
                <a:solidFill>
                  <a:srgbClr val="12151C"/>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70432" y="1444752"/>
            <a:ext cx="6309360" cy="274320"/>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Υλικό, Λογισμικό και Εφαρμογές</a:t>
            </a:r>
            <a:endParaRPr lang="en-US" sz="1450" dirty="0"/>
          </a:p>
        </p:txBody>
      </p:sp>
      <p:sp>
        <p:nvSpPr>
          <p:cNvPr id="7" name="Text 5"/>
          <p:cNvSpPr txBox="1"/>
          <p:nvPr/>
        </p:nvSpPr>
        <p:spPr>
          <a:xfrm>
            <a:off x="1170432" y="1709928"/>
            <a:ext cx="6492240" cy="274320"/>
          </a:xfrm>
          <a:prstGeom prst="rect">
            <a:avLst/>
          </a:prstGeom>
          <a:noFill/>
          <a:ln/>
        </p:spPr>
        <p:txBody>
          <a:bodyPr wrap="square" lIns="0" tIns="0" rIns="0" bIns="0" rtlCol="0" anchor="ctr"/>
          <a:lstStyle/>
          <a:p>
            <a:pPr marL="0" indent="0">
              <a:buNone/>
            </a:pPr>
            <a:r>
              <a:rPr lang="en-US" sz="1150" dirty="0">
                <a:solidFill>
                  <a:srgbClr val="6B7480"/>
                </a:solidFill>
                <a:latin typeface="Calibri" pitchFamily="34" charset="0"/>
                <a:ea typeface="Calibri" pitchFamily="34" charset="-122"/>
                <a:cs typeface="Calibri" pitchFamily="34" charset="-120"/>
              </a:rPr>
              <a:t>Τι κρύβει το κουτί, τι κάνει το λογισμικό, πού μπαίνει ο υπολογιστής στη ζωή μας</a:t>
            </a:r>
            <a:endParaRPr lang="en-US" sz="1150" dirty="0"/>
          </a:p>
        </p:txBody>
      </p:sp>
      <p:sp>
        <p:nvSpPr>
          <p:cNvPr id="8" name="Text 6"/>
          <p:cNvSpPr txBox="1"/>
          <p:nvPr/>
        </p:nvSpPr>
        <p:spPr>
          <a:xfrm>
            <a:off x="7699248" y="1490472"/>
            <a:ext cx="941832" cy="420624"/>
          </a:xfrm>
          <a:prstGeom prst="rect">
            <a:avLst/>
          </a:prstGeom>
          <a:noFill/>
          <a:ln/>
        </p:spPr>
        <p:txBody>
          <a:bodyPr wrap="square" lIns="0" tIns="0" rIns="0" bIns="0" rtlCol="0" anchor="ctr"/>
          <a:lstStyle/>
          <a:p>
            <a:pPr marL="0" indent="0" algn="r">
              <a:buNone/>
            </a:pPr>
            <a:r>
              <a:rPr lang="en-US" sz="1000" dirty="0">
                <a:solidFill>
                  <a:srgbClr val="8F9AAA"/>
                </a:solidFill>
                <a:latin typeface="Courier New" pitchFamily="34" charset="0"/>
                <a:ea typeface="Courier New" pitchFamily="34" charset="-122"/>
                <a:cs typeface="Courier New" pitchFamily="34" charset="-120"/>
              </a:rPr>
              <a:t>κεφ. 1–4</a:t>
            </a:r>
            <a:endParaRPr lang="en-US" sz="1000" dirty="0"/>
          </a:p>
        </p:txBody>
      </p:sp>
      <p:sp>
        <p:nvSpPr>
          <p:cNvPr id="9" name="Shape 7"/>
          <p:cNvSpPr/>
          <p:nvPr/>
        </p:nvSpPr>
        <p:spPr>
          <a:xfrm>
            <a:off x="566928" y="2267712"/>
            <a:ext cx="420624" cy="420624"/>
          </a:xfrm>
          <a:prstGeom prst="ellipse">
            <a:avLst/>
          </a:prstGeom>
          <a:solidFill>
            <a:srgbClr val="FFB020"/>
          </a:solidFill>
          <a:ln/>
        </p:spPr>
      </p:sp>
      <p:sp>
        <p:nvSpPr>
          <p:cNvPr id="10" name="Text 8"/>
          <p:cNvSpPr txBox="1"/>
          <p:nvPr/>
        </p:nvSpPr>
        <p:spPr>
          <a:xfrm>
            <a:off x="566928" y="2267712"/>
            <a:ext cx="420624" cy="420624"/>
          </a:xfrm>
          <a:prstGeom prst="rect">
            <a:avLst/>
          </a:prstGeom>
          <a:noFill/>
          <a:ln/>
        </p:spPr>
        <p:txBody>
          <a:bodyPr wrap="square" lIns="0" tIns="0" rIns="0" bIns="0" rtlCol="0" anchor="ctr"/>
          <a:lstStyle/>
          <a:p>
            <a:pPr marL="0" indent="0" algn="ctr">
              <a:buNone/>
            </a:pPr>
            <a:r>
              <a:rPr lang="en-US" sz="1500" b="1" dirty="0">
                <a:solidFill>
                  <a:srgbClr val="12151C"/>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70432" y="2221992"/>
            <a:ext cx="6309360" cy="274320"/>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Προγραμματιστικά Περιβάλλοντα</a:t>
            </a:r>
            <a:endParaRPr lang="en-US" sz="1450" dirty="0"/>
          </a:p>
        </p:txBody>
      </p:sp>
      <p:sp>
        <p:nvSpPr>
          <p:cNvPr id="12" name="Text 10"/>
          <p:cNvSpPr txBox="1"/>
          <p:nvPr/>
        </p:nvSpPr>
        <p:spPr>
          <a:xfrm>
            <a:off x="1170432" y="2487168"/>
            <a:ext cx="6492240" cy="274320"/>
          </a:xfrm>
          <a:prstGeom prst="rect">
            <a:avLst/>
          </a:prstGeom>
          <a:noFill/>
          <a:ln/>
        </p:spPr>
        <p:txBody>
          <a:bodyPr wrap="square" lIns="0" tIns="0" rIns="0" bIns="0" rtlCol="0" anchor="ctr"/>
          <a:lstStyle/>
          <a:p>
            <a:pPr marL="0" indent="0">
              <a:buNone/>
            </a:pPr>
            <a:r>
              <a:rPr lang="en-US" sz="1150" dirty="0">
                <a:solidFill>
                  <a:srgbClr val="6B7480"/>
                </a:solidFill>
                <a:latin typeface="Calibri" pitchFamily="34" charset="0"/>
                <a:ea typeface="Calibri" pitchFamily="34" charset="-122"/>
                <a:cs typeface="Calibri" pitchFamily="34" charset="-120"/>
              </a:rPr>
              <a:t>Φτιάχνεις εφαρμογή για κινητό και έναν τρισδιάστατο κόσμο. Το πιο εργαστηριακό μέρος</a:t>
            </a:r>
            <a:endParaRPr lang="en-US" sz="1150" dirty="0"/>
          </a:p>
        </p:txBody>
      </p:sp>
      <p:sp>
        <p:nvSpPr>
          <p:cNvPr id="13" name="Text 11"/>
          <p:cNvSpPr txBox="1"/>
          <p:nvPr/>
        </p:nvSpPr>
        <p:spPr>
          <a:xfrm>
            <a:off x="7699248" y="2267712"/>
            <a:ext cx="941832" cy="420624"/>
          </a:xfrm>
          <a:prstGeom prst="rect">
            <a:avLst/>
          </a:prstGeom>
          <a:noFill/>
          <a:ln/>
        </p:spPr>
        <p:txBody>
          <a:bodyPr wrap="square" lIns="0" tIns="0" rIns="0" bIns="0" rtlCol="0" anchor="ctr"/>
          <a:lstStyle/>
          <a:p>
            <a:pPr marL="0" indent="0" algn="r">
              <a:buNone/>
            </a:pPr>
            <a:r>
              <a:rPr lang="en-US" sz="1000" dirty="0">
                <a:solidFill>
                  <a:srgbClr val="8F9AAA"/>
                </a:solidFill>
                <a:latin typeface="Courier New" pitchFamily="34" charset="0"/>
                <a:ea typeface="Courier New" pitchFamily="34" charset="-122"/>
                <a:cs typeface="Courier New" pitchFamily="34" charset="-120"/>
              </a:rPr>
              <a:t>κεφ. 5–7</a:t>
            </a:r>
            <a:endParaRPr lang="en-US" sz="1000" dirty="0"/>
          </a:p>
        </p:txBody>
      </p:sp>
      <p:sp>
        <p:nvSpPr>
          <p:cNvPr id="14" name="Shape 12"/>
          <p:cNvSpPr/>
          <p:nvPr/>
        </p:nvSpPr>
        <p:spPr>
          <a:xfrm>
            <a:off x="566928" y="3044952"/>
            <a:ext cx="420624" cy="420624"/>
          </a:xfrm>
          <a:prstGeom prst="ellipse">
            <a:avLst/>
          </a:prstGeom>
          <a:solidFill>
            <a:srgbClr val="38BDF8"/>
          </a:solidFill>
          <a:ln/>
        </p:spPr>
      </p:sp>
      <p:sp>
        <p:nvSpPr>
          <p:cNvPr id="15" name="Text 13"/>
          <p:cNvSpPr txBox="1"/>
          <p:nvPr/>
        </p:nvSpPr>
        <p:spPr>
          <a:xfrm>
            <a:off x="566928" y="3044952"/>
            <a:ext cx="420624" cy="420624"/>
          </a:xfrm>
          <a:prstGeom prst="rect">
            <a:avLst/>
          </a:prstGeom>
          <a:noFill/>
          <a:ln/>
        </p:spPr>
        <p:txBody>
          <a:bodyPr wrap="square" lIns="0" tIns="0" rIns="0" bIns="0" rtlCol="0" anchor="ctr"/>
          <a:lstStyle/>
          <a:p>
            <a:pPr marL="0" indent="0" algn="ctr">
              <a:buNone/>
            </a:pPr>
            <a:r>
              <a:rPr lang="en-US" sz="1500" b="1" dirty="0">
                <a:solidFill>
                  <a:srgbClr val="12151C"/>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70432" y="2999232"/>
            <a:ext cx="6309360" cy="274320"/>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Επικοινωνία και Διαδίκτυο</a:t>
            </a:r>
            <a:endParaRPr lang="en-US" sz="1450" dirty="0"/>
          </a:p>
        </p:txBody>
      </p:sp>
      <p:sp>
        <p:nvSpPr>
          <p:cNvPr id="17" name="Text 15"/>
          <p:cNvSpPr txBox="1"/>
          <p:nvPr/>
        </p:nvSpPr>
        <p:spPr>
          <a:xfrm>
            <a:off x="1170432" y="3264408"/>
            <a:ext cx="6492240" cy="274320"/>
          </a:xfrm>
          <a:prstGeom prst="rect">
            <a:avLst/>
          </a:prstGeom>
          <a:noFill/>
          <a:ln/>
        </p:spPr>
        <p:txBody>
          <a:bodyPr wrap="square" lIns="0" tIns="0" rIns="0" bIns="0" rtlCol="0" anchor="ctr"/>
          <a:lstStyle/>
          <a:p>
            <a:pPr marL="0" indent="0">
              <a:buNone/>
            </a:pPr>
            <a:r>
              <a:rPr lang="en-US" sz="1150" dirty="0">
                <a:solidFill>
                  <a:srgbClr val="6B7480"/>
                </a:solidFill>
                <a:latin typeface="Calibri" pitchFamily="34" charset="0"/>
                <a:ea typeface="Calibri" pitchFamily="34" charset="-122"/>
                <a:cs typeface="Calibri" pitchFamily="34" charset="-120"/>
              </a:rPr>
              <a:t>Δίκτυα, Web 1.0 → X.0, υπηρεσίες — και η δική σου ιστοσελίδα σε HTML</a:t>
            </a:r>
            <a:endParaRPr lang="en-US" sz="1150" dirty="0"/>
          </a:p>
        </p:txBody>
      </p:sp>
      <p:sp>
        <p:nvSpPr>
          <p:cNvPr id="18" name="Text 16"/>
          <p:cNvSpPr txBox="1"/>
          <p:nvPr/>
        </p:nvSpPr>
        <p:spPr>
          <a:xfrm>
            <a:off x="7699248" y="3044952"/>
            <a:ext cx="941832" cy="420624"/>
          </a:xfrm>
          <a:prstGeom prst="rect">
            <a:avLst/>
          </a:prstGeom>
          <a:noFill/>
          <a:ln/>
        </p:spPr>
        <p:txBody>
          <a:bodyPr wrap="square" lIns="0" tIns="0" rIns="0" bIns="0" rtlCol="0" anchor="ctr"/>
          <a:lstStyle/>
          <a:p>
            <a:pPr marL="0" indent="0" algn="r">
              <a:buNone/>
            </a:pPr>
            <a:r>
              <a:rPr lang="en-US" sz="1000" dirty="0">
                <a:solidFill>
                  <a:srgbClr val="8F9AAA"/>
                </a:solidFill>
                <a:latin typeface="Courier New" pitchFamily="34" charset="0"/>
                <a:ea typeface="Courier New" pitchFamily="34" charset="-122"/>
                <a:cs typeface="Courier New" pitchFamily="34" charset="-120"/>
              </a:rPr>
              <a:t>κεφ. 8–12</a:t>
            </a:r>
            <a:endParaRPr lang="en-US" sz="1000" dirty="0"/>
          </a:p>
        </p:txBody>
      </p:sp>
      <p:sp>
        <p:nvSpPr>
          <p:cNvPr id="19" name="Shape 17"/>
          <p:cNvSpPr/>
          <p:nvPr/>
        </p:nvSpPr>
        <p:spPr>
          <a:xfrm>
            <a:off x="566928" y="3822192"/>
            <a:ext cx="420624" cy="420624"/>
          </a:xfrm>
          <a:prstGeom prst="ellipse">
            <a:avLst/>
          </a:prstGeom>
          <a:solidFill>
            <a:srgbClr val="FF8A75"/>
          </a:solidFill>
          <a:ln/>
        </p:spPr>
      </p:sp>
      <p:sp>
        <p:nvSpPr>
          <p:cNvPr id="20" name="Text 18"/>
          <p:cNvSpPr txBox="1"/>
          <p:nvPr/>
        </p:nvSpPr>
        <p:spPr>
          <a:xfrm>
            <a:off x="566928" y="3822192"/>
            <a:ext cx="420624" cy="420624"/>
          </a:xfrm>
          <a:prstGeom prst="rect">
            <a:avLst/>
          </a:prstGeom>
          <a:noFill/>
          <a:ln/>
        </p:spPr>
        <p:txBody>
          <a:bodyPr wrap="square" lIns="0" tIns="0" rIns="0" bIns="0" rtlCol="0" anchor="ctr"/>
          <a:lstStyle/>
          <a:p>
            <a:pPr marL="0" indent="0" algn="ctr">
              <a:buNone/>
            </a:pPr>
            <a:r>
              <a:rPr lang="en-US" sz="1500" b="1" dirty="0">
                <a:solidFill>
                  <a:srgbClr val="12151C"/>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170432" y="3776472"/>
            <a:ext cx="6309360" cy="274320"/>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Συνεργασία και Ασφάλεια</a:t>
            </a:r>
            <a:endParaRPr lang="en-US" sz="1450" dirty="0"/>
          </a:p>
        </p:txBody>
      </p:sp>
      <p:sp>
        <p:nvSpPr>
          <p:cNvPr id="22" name="Text 20"/>
          <p:cNvSpPr txBox="1"/>
          <p:nvPr/>
        </p:nvSpPr>
        <p:spPr>
          <a:xfrm>
            <a:off x="1170432" y="4041648"/>
            <a:ext cx="6492240" cy="274320"/>
          </a:xfrm>
          <a:prstGeom prst="rect">
            <a:avLst/>
          </a:prstGeom>
          <a:noFill/>
          <a:ln/>
        </p:spPr>
        <p:txBody>
          <a:bodyPr wrap="square" lIns="0" tIns="0" rIns="0" bIns="0" rtlCol="0" anchor="ctr"/>
          <a:lstStyle/>
          <a:p>
            <a:pPr marL="0" indent="0">
              <a:buNone/>
            </a:pPr>
            <a:r>
              <a:rPr lang="en-US" sz="1150" dirty="0">
                <a:solidFill>
                  <a:srgbClr val="6B7480"/>
                </a:solidFill>
                <a:latin typeface="Calibri" pitchFamily="34" charset="0"/>
                <a:ea typeface="Calibri" pitchFamily="34" charset="-122"/>
                <a:cs typeface="Calibri" pitchFamily="34" charset="-120"/>
              </a:rPr>
              <a:t>Νέφος, τηλεργασία, κοινωνικά δίκτυα και το πώς προστατεύεσαι</a:t>
            </a:r>
            <a:endParaRPr lang="en-US" sz="1150" dirty="0"/>
          </a:p>
        </p:txBody>
      </p:sp>
      <p:sp>
        <p:nvSpPr>
          <p:cNvPr id="23" name="Text 21"/>
          <p:cNvSpPr txBox="1"/>
          <p:nvPr/>
        </p:nvSpPr>
        <p:spPr>
          <a:xfrm>
            <a:off x="7699248" y="3822192"/>
            <a:ext cx="941832" cy="420624"/>
          </a:xfrm>
          <a:prstGeom prst="rect">
            <a:avLst/>
          </a:prstGeom>
          <a:noFill/>
          <a:ln/>
        </p:spPr>
        <p:txBody>
          <a:bodyPr wrap="square" lIns="0" tIns="0" rIns="0" bIns="0" rtlCol="0" anchor="ctr"/>
          <a:lstStyle/>
          <a:p>
            <a:pPr marL="0" indent="0" algn="r">
              <a:buNone/>
            </a:pPr>
            <a:r>
              <a:rPr lang="en-US" sz="1000" dirty="0">
                <a:solidFill>
                  <a:srgbClr val="8F9AAA"/>
                </a:solidFill>
                <a:latin typeface="Courier New" pitchFamily="34" charset="0"/>
                <a:ea typeface="Courier New" pitchFamily="34" charset="-122"/>
                <a:cs typeface="Courier New" pitchFamily="34" charset="-120"/>
              </a:rPr>
              <a:t>κεφ. 13–16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00D68F"/>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00784F"/>
                </a:solidFill>
                <a:latin typeface="Courier New" pitchFamily="34" charset="0"/>
                <a:ea typeface="Courier New" pitchFamily="34" charset="-122"/>
                <a:cs typeface="Courier New" pitchFamily="34" charset="-120"/>
              </a:rPr>
              <a:t>ΕΝΟΤΗΤΑ 1  ·  ΚΕΦΑΛΑΙΑ 1 &amp; 2</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marL="0" indent="0">
              <a:buNone/>
            </a:pPr>
            <a:r>
              <a:rPr lang="en-US" sz="3200" b="1" dirty="0">
                <a:solidFill>
                  <a:srgbClr val="171B22"/>
                </a:solidFill>
                <a:latin typeface="Calibri" pitchFamily="34" charset="0"/>
                <a:ea typeface="Calibri" pitchFamily="34" charset="-122"/>
                <a:cs typeface="Calibri" pitchFamily="34" charset="-120"/>
              </a:rPr>
              <a:t>Τι κρύβει το κουτί</a:t>
            </a:r>
            <a:endParaRPr lang="en-US" sz="3200" dirty="0"/>
          </a:p>
        </p:txBody>
      </p:sp>
      <p:sp>
        <p:nvSpPr>
          <p:cNvPr id="6" name="Text 4"/>
          <p:cNvSpPr txBox="1"/>
          <p:nvPr/>
        </p:nvSpPr>
        <p:spPr>
          <a:xfrm>
            <a:off x="566928" y="1572768"/>
            <a:ext cx="4617720" cy="14630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Αρχιτεκτονική φον Νόιμαν: το σχέδιο του 1945 που κρατάει ακόμα</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ΚΜΕ: πάρε–αποκωδικοποίησε–εκτέλεσε–αποθήκευσε, δισεκατομμύρια φορές</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Ιεραρχία μνήμης, νόμος του Μουρ, πολυπύρηνοι, SSD, κβαντικοί</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Λογισμικό συστήματος και εφαρμογών — και τι σημαίνει ΕΛ/ΛΑΚ</a:t>
            </a:r>
            <a:endParaRPr lang="en-US" sz="1250" dirty="0"/>
          </a:p>
        </p:txBody>
      </p:sp>
      <p:sp>
        <p:nvSpPr>
          <p:cNvPr id="7" name="Shape 5"/>
          <p:cNvSpPr/>
          <p:nvPr/>
        </p:nvSpPr>
        <p:spPr>
          <a:xfrm>
            <a:off x="548640" y="3200400"/>
            <a:ext cx="4663440" cy="1188720"/>
          </a:xfrm>
          <a:prstGeom prst="roundRect">
            <a:avLst>
              <a:gd name="adj" fmla="val 6154"/>
            </a:avLst>
          </a:prstGeom>
          <a:solidFill>
            <a:srgbClr val="EAF7F0"/>
          </a:solidFill>
          <a:ln w="12700">
            <a:solidFill>
              <a:srgbClr val="EAF7F0"/>
            </a:solidFill>
            <a:prstDash val="solid"/>
          </a:ln>
        </p:spPr>
      </p:sp>
      <p:sp>
        <p:nvSpPr>
          <p:cNvPr id="8" name="Text 6"/>
          <p:cNvSpPr txBox="1"/>
          <p:nvPr/>
        </p:nvSpPr>
        <p:spPr>
          <a:xfrm>
            <a:off x="749808" y="3319272"/>
            <a:ext cx="4261104" cy="950976"/>
          </a:xfrm>
          <a:prstGeom prst="rect">
            <a:avLst/>
          </a:prstGeom>
          <a:noFill/>
          <a:ln/>
        </p:spPr>
        <p:txBody>
          <a:bodyPr wrap="square" lIns="0" tIns="0" rIns="0" bIns="0" rtlCol="0" anchor="t"/>
          <a:lstStyle/>
          <a:p>
            <a:pPr marL="0" indent="0">
              <a:lnSpc>
                <a:spcPts val="1600"/>
              </a:lnSpc>
              <a:buNone/>
            </a:pPr>
            <a:r>
              <a:rPr lang="en-US" sz="1150" b="1" dirty="0">
                <a:solidFill>
                  <a:srgbClr val="00784F"/>
                </a:solidFill>
                <a:latin typeface="Calibri" pitchFamily="34" charset="0"/>
                <a:ea typeface="Calibri" pitchFamily="34" charset="-122"/>
                <a:cs typeface="Calibri" pitchFamily="34" charset="-120"/>
              </a:rPr>
              <a:t>Εργαστήριο, πρώτη εβδομάδα</a:t>
            </a:r>
            <a:endParaRPr lang="en-US" sz="1150" dirty="0"/>
          </a:p>
          <a:p>
            <a:pPr marL="0" indent="0">
              <a:lnSpc>
                <a:spcPts val="1600"/>
              </a:lnSpc>
              <a:buNone/>
            </a:pPr>
            <a:r>
              <a:rPr lang="en-US" sz="1150" dirty="0">
                <a:solidFill>
                  <a:srgbClr val="171B22"/>
                </a:solidFill>
                <a:latin typeface="Calibri" pitchFamily="34" charset="0"/>
                <a:ea typeface="Calibri" pitchFamily="34" charset="-122"/>
                <a:cs typeface="Calibri" pitchFamily="34" charset="-120"/>
              </a:rPr>
              <a:t>Ανοίγουμε την κεντρική μονάδα ενός υπολογιστή και αναγνωρίζουμε τα κομμάτια της. Μετά μετράμε τον επεξεργαστή μας στο cpubenchmark.net.</a:t>
            </a:r>
            <a:endParaRPr lang="en-US" sz="1150" dirty="0"/>
          </a:p>
        </p:txBody>
      </p:sp>
      <p:sp>
        <p:nvSpPr>
          <p:cNvPr id="9" name="Shape 7"/>
          <p:cNvSpPr/>
          <p:nvPr/>
        </p:nvSpPr>
        <p:spPr>
          <a:xfrm>
            <a:off x="5394960" y="1627632"/>
            <a:ext cx="3246120" cy="2377440"/>
          </a:xfrm>
          <a:prstGeom prst="roundRect">
            <a:avLst>
              <a:gd name="adj" fmla="val 3077"/>
            </a:avLst>
          </a:prstGeom>
          <a:solidFill>
            <a:srgbClr val="1D222C"/>
          </a:solidFill>
          <a:ln w="12700">
            <a:solidFill>
              <a:srgbClr val="1D222C"/>
            </a:solidFill>
            <a:prstDash val="solid"/>
          </a:ln>
        </p:spPr>
      </p:sp>
      <p:sp>
        <p:nvSpPr>
          <p:cNvPr id="10" name="Shape 8"/>
          <p:cNvSpPr/>
          <p:nvPr/>
        </p:nvSpPr>
        <p:spPr>
          <a:xfrm>
            <a:off x="5614416" y="1828800"/>
            <a:ext cx="91440" cy="91440"/>
          </a:xfrm>
          <a:prstGeom prst="ellipse">
            <a:avLst/>
          </a:prstGeom>
          <a:solidFill>
            <a:srgbClr val="FF5F56"/>
          </a:solidFill>
          <a:ln w="12700">
            <a:solidFill>
              <a:srgbClr val="FF5F56"/>
            </a:solidFill>
            <a:prstDash val="solid"/>
          </a:ln>
        </p:spPr>
      </p:sp>
      <p:sp>
        <p:nvSpPr>
          <p:cNvPr id="11" name="Shape 9"/>
          <p:cNvSpPr/>
          <p:nvPr/>
        </p:nvSpPr>
        <p:spPr>
          <a:xfrm>
            <a:off x="5788152" y="1828800"/>
            <a:ext cx="91440" cy="91440"/>
          </a:xfrm>
          <a:prstGeom prst="ellipse">
            <a:avLst/>
          </a:prstGeom>
          <a:solidFill>
            <a:srgbClr val="FFBD2E"/>
          </a:solidFill>
          <a:ln w="12700">
            <a:solidFill>
              <a:srgbClr val="FFBD2E"/>
            </a:solidFill>
            <a:prstDash val="solid"/>
          </a:ln>
        </p:spPr>
      </p:sp>
      <p:sp>
        <p:nvSpPr>
          <p:cNvPr id="12" name="Shape 10"/>
          <p:cNvSpPr/>
          <p:nvPr/>
        </p:nvSpPr>
        <p:spPr>
          <a:xfrm>
            <a:off x="5961888" y="1828800"/>
            <a:ext cx="91440" cy="91440"/>
          </a:xfrm>
          <a:prstGeom prst="ellipse">
            <a:avLst/>
          </a:prstGeom>
          <a:solidFill>
            <a:srgbClr val="27C93F"/>
          </a:solidFill>
          <a:ln w="12700">
            <a:solidFill>
              <a:srgbClr val="27C93F"/>
            </a:solidFill>
            <a:prstDash val="solid"/>
          </a:ln>
        </p:spPr>
      </p:sp>
      <p:sp>
        <p:nvSpPr>
          <p:cNvPr id="13" name="Text 11"/>
          <p:cNvSpPr txBox="1"/>
          <p:nvPr/>
        </p:nvSpPr>
        <p:spPr>
          <a:xfrm>
            <a:off x="5596128" y="2103120"/>
            <a:ext cx="2862072" cy="1737360"/>
          </a:xfrm>
          <a:prstGeom prst="rect">
            <a:avLst/>
          </a:prstGeom>
          <a:noFill/>
          <a:ln/>
        </p:spPr>
        <p:txBody>
          <a:bodyPr wrap="square" lIns="0" tIns="0" rIns="0" bIns="0" rtlCol="0" anchor="t"/>
          <a:lstStyle/>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ΚΜΕ    : 4 πυρήνες @ 3.2 GHz</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Μνήμη  : 8 GB</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Λέξη   : 64 bit</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ISA    : CISC ή RISC;</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 </a:t>
            </a:r>
            <a:endParaRPr lang="en-US" sz="1050" dirty="0"/>
          </a:p>
          <a:p>
            <a:pPr marL="0" indent="0">
              <a:lnSpc>
                <a:spcPts val="1700"/>
              </a:lnSpc>
              <a:buNone/>
            </a:pPr>
            <a:r>
              <a:rPr lang="en-US" sz="1050" dirty="0">
                <a:solidFill>
                  <a:srgbClr val="5C6879"/>
                </a:solidFill>
                <a:latin typeface="Courier New" pitchFamily="34" charset="0"/>
                <a:ea typeface="Courier New" pitchFamily="34" charset="-122"/>
                <a:cs typeface="Courier New" pitchFamily="34" charset="-120"/>
              </a:rPr>
              <a:t># Τι απ' όλα μετράει</a:t>
            </a:r>
            <a:endParaRPr lang="en-US" sz="1050" dirty="0"/>
          </a:p>
          <a:p>
            <a:pPr marL="0" indent="0">
              <a:lnSpc>
                <a:spcPts val="1700"/>
              </a:lnSpc>
              <a:buNone/>
            </a:pPr>
            <a:r>
              <a:rPr lang="en-US" sz="1050" dirty="0">
                <a:solidFill>
                  <a:srgbClr val="5C6879"/>
                </a:solidFill>
                <a:latin typeface="Courier New" pitchFamily="34" charset="0"/>
                <a:ea typeface="Courier New" pitchFamily="34" charset="-122"/>
                <a:cs typeface="Courier New" pitchFamily="34" charset="-120"/>
              </a:rPr>
              <a:t># στην ταχύτητα;</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00D68F"/>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00784F"/>
                </a:solidFill>
                <a:latin typeface="Courier New" pitchFamily="34" charset="0"/>
                <a:ea typeface="Courier New" pitchFamily="34" charset="-122"/>
                <a:cs typeface="Courier New" pitchFamily="34" charset="-120"/>
              </a:rPr>
              <a:t>ΕΝΟΤΗΤΑ 1  ·  ΚΕΦΑΛΑΙΑ 3 &amp; 4</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marL="0" indent="0">
              <a:buNone/>
            </a:pPr>
            <a:r>
              <a:rPr lang="en-US" sz="3200" b="1" dirty="0">
                <a:solidFill>
                  <a:srgbClr val="171B22"/>
                </a:solidFill>
                <a:latin typeface="Calibri" pitchFamily="34" charset="0"/>
                <a:ea typeface="Calibri" pitchFamily="34" charset="-122"/>
                <a:cs typeface="Calibri" pitchFamily="34" charset="-120"/>
              </a:rPr>
              <a:t>Ο υπολογιστής στη ζωή σου</a:t>
            </a:r>
            <a:endParaRPr lang="en-US" sz="3200" dirty="0"/>
          </a:p>
        </p:txBody>
      </p:sp>
      <p:sp>
        <p:nvSpPr>
          <p:cNvPr id="6" name="Shape 4"/>
          <p:cNvSpPr/>
          <p:nvPr/>
        </p:nvSpPr>
        <p:spPr>
          <a:xfrm>
            <a:off x="548640" y="1417320"/>
            <a:ext cx="3931920" cy="1161288"/>
          </a:xfrm>
          <a:prstGeom prst="roundRect">
            <a:avLst>
              <a:gd name="adj" fmla="val 6299"/>
            </a:avLst>
          </a:prstGeom>
          <a:solidFill>
            <a:srgbClr val="F2F4F8"/>
          </a:solidFill>
          <a:ln w="12700">
            <a:solidFill>
              <a:srgbClr val="F2F4F8"/>
            </a:solidFill>
            <a:prstDash val="solid"/>
          </a:ln>
        </p:spPr>
      </p:sp>
      <p:sp>
        <p:nvSpPr>
          <p:cNvPr id="7" name="Text 5"/>
          <p:cNvSpPr txBox="1"/>
          <p:nvPr/>
        </p:nvSpPr>
        <p:spPr>
          <a:xfrm>
            <a:off x="749808" y="1545336"/>
            <a:ext cx="3566160" cy="274320"/>
          </a:xfrm>
          <a:prstGeom prst="rect">
            <a:avLst/>
          </a:prstGeom>
          <a:noFill/>
          <a:ln/>
        </p:spPr>
        <p:txBody>
          <a:bodyPr wrap="square" lIns="0" tIns="0" rIns="0" bIns="0" rtlCol="0" anchor="ctr"/>
          <a:lstStyle/>
          <a:p>
            <a:pPr marL="0" indent="0">
              <a:buNone/>
            </a:pPr>
            <a:r>
              <a:rPr lang="en-US" sz="1350" b="1" dirty="0">
                <a:solidFill>
                  <a:srgbClr val="00784F"/>
                </a:solidFill>
                <a:latin typeface="Calibri" pitchFamily="34" charset="0"/>
                <a:ea typeface="Calibri" pitchFamily="34" charset="-122"/>
                <a:cs typeface="Calibri" pitchFamily="34" charset="-120"/>
              </a:rPr>
              <a:t>3.1  Ψηφιακό υλικό &amp; πολυμέσα</a:t>
            </a:r>
            <a:endParaRPr lang="en-US" sz="1350" dirty="0"/>
          </a:p>
        </p:txBody>
      </p:sp>
      <p:sp>
        <p:nvSpPr>
          <p:cNvPr id="8" name="Text 6"/>
          <p:cNvSpPr txBox="1"/>
          <p:nvPr/>
        </p:nvSpPr>
        <p:spPr>
          <a:xfrm>
            <a:off x="749808" y="183794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Ψηφιοποίηση, μεταδεδομένα, ψηφιακές βιβλιοθήκες — επίσκεψη στην Europeana</a:t>
            </a:r>
            <a:endParaRPr lang="en-US" sz="1150" dirty="0"/>
          </a:p>
        </p:txBody>
      </p:sp>
      <p:sp>
        <p:nvSpPr>
          <p:cNvPr id="9" name="Shape 7"/>
          <p:cNvSpPr/>
          <p:nvPr/>
        </p:nvSpPr>
        <p:spPr>
          <a:xfrm>
            <a:off x="4709160" y="1417320"/>
            <a:ext cx="3931920" cy="1161288"/>
          </a:xfrm>
          <a:prstGeom prst="roundRect">
            <a:avLst>
              <a:gd name="adj" fmla="val 6299"/>
            </a:avLst>
          </a:prstGeom>
          <a:solidFill>
            <a:srgbClr val="F2F4F8"/>
          </a:solidFill>
          <a:ln w="12700">
            <a:solidFill>
              <a:srgbClr val="F2F4F8"/>
            </a:solidFill>
            <a:prstDash val="solid"/>
          </a:ln>
        </p:spPr>
      </p:sp>
      <p:sp>
        <p:nvSpPr>
          <p:cNvPr id="10" name="Text 8"/>
          <p:cNvSpPr txBox="1"/>
          <p:nvPr/>
        </p:nvSpPr>
        <p:spPr>
          <a:xfrm>
            <a:off x="4910328" y="1545336"/>
            <a:ext cx="3566160" cy="274320"/>
          </a:xfrm>
          <a:prstGeom prst="rect">
            <a:avLst/>
          </a:prstGeom>
          <a:noFill/>
          <a:ln/>
        </p:spPr>
        <p:txBody>
          <a:bodyPr wrap="square" lIns="0" tIns="0" rIns="0" bIns="0" rtlCol="0" anchor="ctr"/>
          <a:lstStyle/>
          <a:p>
            <a:pPr marL="0" indent="0">
              <a:buNone/>
            </a:pPr>
            <a:r>
              <a:rPr lang="en-US" sz="1350" b="1" dirty="0">
                <a:solidFill>
                  <a:srgbClr val="0369A1"/>
                </a:solidFill>
                <a:latin typeface="Calibri" pitchFamily="34" charset="0"/>
                <a:ea typeface="Calibri" pitchFamily="34" charset="-122"/>
                <a:cs typeface="Calibri" pitchFamily="34" charset="-120"/>
              </a:rPr>
              <a:t>3.2  Ηλεκτρονικό εμπόριο</a:t>
            </a:r>
            <a:endParaRPr lang="en-US" sz="1350" dirty="0"/>
          </a:p>
        </p:txBody>
      </p:sp>
      <p:sp>
        <p:nvSpPr>
          <p:cNvPr id="11" name="Text 9"/>
          <p:cNvSpPr txBox="1"/>
          <p:nvPr/>
        </p:nvSpPr>
        <p:spPr>
          <a:xfrm>
            <a:off x="4910328" y="183794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e-shops, δημοπρασίες, δυναμική τιμή, ασφάλεια συναλλαγών, BitCoin</a:t>
            </a:r>
            <a:endParaRPr lang="en-US" sz="1150" dirty="0"/>
          </a:p>
        </p:txBody>
      </p:sp>
      <p:sp>
        <p:nvSpPr>
          <p:cNvPr id="12" name="Shape 10"/>
          <p:cNvSpPr/>
          <p:nvPr/>
        </p:nvSpPr>
        <p:spPr>
          <a:xfrm>
            <a:off x="548640" y="2697480"/>
            <a:ext cx="3931920" cy="1161288"/>
          </a:xfrm>
          <a:prstGeom prst="roundRect">
            <a:avLst>
              <a:gd name="adj" fmla="val 6299"/>
            </a:avLst>
          </a:prstGeom>
          <a:solidFill>
            <a:srgbClr val="F2F4F8"/>
          </a:solidFill>
          <a:ln w="12700">
            <a:solidFill>
              <a:srgbClr val="F2F4F8"/>
            </a:solidFill>
            <a:prstDash val="solid"/>
          </a:ln>
        </p:spPr>
      </p:sp>
      <p:sp>
        <p:nvSpPr>
          <p:cNvPr id="13" name="Text 11"/>
          <p:cNvSpPr txBox="1"/>
          <p:nvPr/>
        </p:nvSpPr>
        <p:spPr>
          <a:xfrm>
            <a:off x="749808" y="2825496"/>
            <a:ext cx="3566160" cy="274320"/>
          </a:xfrm>
          <a:prstGeom prst="rect">
            <a:avLst/>
          </a:prstGeom>
          <a:noFill/>
          <a:ln/>
        </p:spPr>
        <p:txBody>
          <a:bodyPr wrap="square" lIns="0" tIns="0" rIns="0" bIns="0" rtlCol="0" anchor="ctr"/>
          <a:lstStyle/>
          <a:p>
            <a:pPr marL="0" indent="0">
              <a:buNone/>
            </a:pPr>
            <a:r>
              <a:rPr lang="en-US" sz="1350" b="1" dirty="0">
                <a:solidFill>
                  <a:srgbClr val="9A6300"/>
                </a:solidFill>
                <a:latin typeface="Calibri" pitchFamily="34" charset="0"/>
                <a:ea typeface="Calibri" pitchFamily="34" charset="-122"/>
                <a:cs typeface="Calibri" pitchFamily="34" charset="-120"/>
              </a:rPr>
              <a:t>3.3  Ρομποτική</a:t>
            </a:r>
            <a:endParaRPr lang="en-US" sz="1350" dirty="0"/>
          </a:p>
        </p:txBody>
      </p:sp>
      <p:sp>
        <p:nvSpPr>
          <p:cNvPr id="14" name="Text 12"/>
          <p:cNvSpPr txBox="1"/>
          <p:nvPr/>
        </p:nvSpPr>
        <p:spPr>
          <a:xfrm>
            <a:off x="749808" y="311810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Από τον ρομποτικό βραχίονα του εργοστασίου στο ASIMO και στο LEGO Mindstorms</a:t>
            </a:r>
            <a:endParaRPr lang="en-US" sz="1150" dirty="0"/>
          </a:p>
        </p:txBody>
      </p:sp>
      <p:sp>
        <p:nvSpPr>
          <p:cNvPr id="15" name="Shape 13"/>
          <p:cNvSpPr/>
          <p:nvPr/>
        </p:nvSpPr>
        <p:spPr>
          <a:xfrm>
            <a:off x="4709160" y="2697480"/>
            <a:ext cx="3931920" cy="1161288"/>
          </a:xfrm>
          <a:prstGeom prst="roundRect">
            <a:avLst>
              <a:gd name="adj" fmla="val 6299"/>
            </a:avLst>
          </a:prstGeom>
          <a:solidFill>
            <a:srgbClr val="F2F4F8"/>
          </a:solidFill>
          <a:ln w="12700">
            <a:solidFill>
              <a:srgbClr val="F2F4F8"/>
            </a:solidFill>
            <a:prstDash val="solid"/>
          </a:ln>
        </p:spPr>
      </p:sp>
      <p:sp>
        <p:nvSpPr>
          <p:cNvPr id="16" name="Text 14"/>
          <p:cNvSpPr txBox="1"/>
          <p:nvPr/>
        </p:nvSpPr>
        <p:spPr>
          <a:xfrm>
            <a:off x="4910328" y="2825496"/>
            <a:ext cx="3566160" cy="274320"/>
          </a:xfrm>
          <a:prstGeom prst="rect">
            <a:avLst/>
          </a:prstGeom>
          <a:noFill/>
          <a:ln/>
        </p:spPr>
        <p:txBody>
          <a:bodyPr wrap="square" lIns="0" tIns="0" rIns="0" bIns="0" rtlCol="0" anchor="ctr"/>
          <a:lstStyle/>
          <a:p>
            <a:pPr marL="0" indent="0">
              <a:buNone/>
            </a:pPr>
            <a:r>
              <a:rPr lang="en-US" sz="1350" b="1" dirty="0">
                <a:solidFill>
                  <a:srgbClr val="C23A22"/>
                </a:solidFill>
                <a:latin typeface="Calibri" pitchFamily="34" charset="0"/>
                <a:ea typeface="Calibri" pitchFamily="34" charset="-122"/>
                <a:cs typeface="Calibri" pitchFamily="34" charset="-120"/>
              </a:rPr>
              <a:t>4  Κοινωνικές επιπτώσεις</a:t>
            </a:r>
            <a:endParaRPr lang="en-US" sz="1350" dirty="0"/>
          </a:p>
        </p:txBody>
      </p:sp>
      <p:sp>
        <p:nvSpPr>
          <p:cNvPr id="17" name="Text 15"/>
          <p:cNvSpPr txBox="1"/>
          <p:nvPr/>
        </p:nvSpPr>
        <p:spPr>
          <a:xfrm>
            <a:off x="4910328" y="311810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Πνευματικά δικαιώματα, ηλεκτρονικό έγκλημα, ψηφιακό χάσμα</a:t>
            </a:r>
            <a:endParaRPr lang="en-US" sz="1150" dirty="0"/>
          </a:p>
        </p:txBody>
      </p:sp>
      <p:sp>
        <p:nvSpPr>
          <p:cNvPr id="18" name="Shape 16"/>
          <p:cNvSpPr/>
          <p:nvPr/>
        </p:nvSpPr>
        <p:spPr>
          <a:xfrm>
            <a:off x="548640" y="3931920"/>
            <a:ext cx="8092440" cy="749808"/>
          </a:xfrm>
          <a:prstGeom prst="roundRect">
            <a:avLst>
              <a:gd name="adj" fmla="val 9756"/>
            </a:avLst>
          </a:prstGeom>
          <a:solidFill>
            <a:srgbClr val="EAF7F0"/>
          </a:solidFill>
          <a:ln w="12700">
            <a:solidFill>
              <a:srgbClr val="EAF7F0"/>
            </a:solidFill>
            <a:prstDash val="solid"/>
          </a:ln>
        </p:spPr>
      </p:sp>
      <p:sp>
        <p:nvSpPr>
          <p:cNvPr id="19" name="Text 17"/>
          <p:cNvSpPr txBox="1"/>
          <p:nvPr/>
        </p:nvSpPr>
        <p:spPr>
          <a:xfrm>
            <a:off x="749808" y="4050792"/>
            <a:ext cx="7690104" cy="512064"/>
          </a:xfrm>
          <a:prstGeom prst="rect">
            <a:avLst/>
          </a:prstGeom>
          <a:noFill/>
          <a:ln/>
        </p:spPr>
        <p:txBody>
          <a:bodyPr wrap="square" lIns="0" tIns="0" rIns="0" bIns="0" rtlCol="0" anchor="t"/>
          <a:lstStyle/>
          <a:p>
            <a:pPr marL="0" indent="0">
              <a:lnSpc>
                <a:spcPts val="1600"/>
              </a:lnSpc>
              <a:buNone/>
            </a:pPr>
            <a:r>
              <a:rPr lang="en-US" sz="1150" b="1" dirty="0">
                <a:solidFill>
                  <a:srgbClr val="00784F"/>
                </a:solidFill>
                <a:latin typeface="Calibri" pitchFamily="34" charset="0"/>
                <a:ea typeface="Calibri" pitchFamily="34" charset="-122"/>
                <a:cs typeface="Calibri" pitchFamily="34" charset="-120"/>
              </a:rPr>
              <a:t>Δραστηριότητα:</a:t>
            </a:r>
            <a:endParaRPr lang="en-US" sz="1150" dirty="0"/>
          </a:p>
          <a:p>
            <a:pPr marL="0" indent="0">
              <a:lnSpc>
                <a:spcPts val="1600"/>
              </a:lnSpc>
              <a:buNone/>
            </a:pPr>
            <a:r>
              <a:rPr lang="en-US" sz="1150" dirty="0">
                <a:solidFill>
                  <a:srgbClr val="171B22"/>
                </a:solidFill>
                <a:latin typeface="Calibri" pitchFamily="34" charset="0"/>
                <a:ea typeface="Calibri" pitchFamily="34" charset="-122"/>
                <a:cs typeface="Calibri" pitchFamily="34" charset="-120"/>
              </a:rPr>
              <a:t>βρες τις 6 άδειες Creative Commons και ένα έργο για κάθε μία. Μετά ρώτα τους γονείς σου πώς έψαχναν πληροφορία πριν το Διαδίκτυο — «ψηφιακοί ιθαγενείς» και «ψηφιακοί μετανάστες».</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FFB020"/>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9A6300"/>
                </a:solidFill>
                <a:latin typeface="Courier New" pitchFamily="34" charset="0"/>
                <a:ea typeface="Courier New" pitchFamily="34" charset="-122"/>
                <a:cs typeface="Courier New" pitchFamily="34" charset="-120"/>
              </a:rPr>
              <a:t>ΕΝΟΤΗΤΑ 2  ·  ΚΕΦΑΛΑΙΑ 5 &amp; 6</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marL="0" indent="0">
              <a:buNone/>
            </a:pPr>
            <a:r>
              <a:rPr lang="en-US" sz="3200" b="1" dirty="0">
                <a:solidFill>
                  <a:srgbClr val="171B22"/>
                </a:solidFill>
                <a:latin typeface="Calibri" pitchFamily="34" charset="0"/>
                <a:ea typeface="Calibri" pitchFamily="34" charset="-122"/>
                <a:cs typeface="Calibri" pitchFamily="34" charset="-120"/>
              </a:rPr>
              <a:t>Από το πρόβλημα στην εφαρμογή</a:t>
            </a:r>
            <a:endParaRPr lang="en-US" sz="3200" dirty="0"/>
          </a:p>
        </p:txBody>
      </p:sp>
      <p:sp>
        <p:nvSpPr>
          <p:cNvPr id="6" name="Shape 4"/>
          <p:cNvSpPr/>
          <p:nvPr/>
        </p:nvSpPr>
        <p:spPr>
          <a:xfrm>
            <a:off x="457200" y="1417320"/>
            <a:ext cx="1463040" cy="749808"/>
          </a:xfrm>
          <a:prstGeom prst="roundRect">
            <a:avLst>
              <a:gd name="adj" fmla="val 9756"/>
            </a:avLst>
          </a:prstGeom>
          <a:solidFill>
            <a:srgbClr val="FFF5E3"/>
          </a:solidFill>
          <a:ln w="12700">
            <a:solidFill>
              <a:srgbClr val="FFF5E3"/>
            </a:solidFill>
            <a:prstDash val="solid"/>
          </a:ln>
        </p:spPr>
      </p:sp>
      <p:sp>
        <p:nvSpPr>
          <p:cNvPr id="7" name="Text 5"/>
          <p:cNvSpPr txBox="1"/>
          <p:nvPr/>
        </p:nvSpPr>
        <p:spPr>
          <a:xfrm>
            <a:off x="621792" y="1490472"/>
            <a:ext cx="274320" cy="256032"/>
          </a:xfrm>
          <a:prstGeom prst="rect">
            <a:avLst/>
          </a:prstGeom>
          <a:noFill/>
          <a:ln/>
        </p:spPr>
        <p:txBody>
          <a:bodyPr wrap="square" lIns="0" tIns="0" rIns="0" bIns="0" rtlCol="0" anchor="ctr"/>
          <a:lstStyle/>
          <a:p>
            <a:pPr marL="0" indent="0">
              <a:buNone/>
            </a:pPr>
            <a:r>
              <a:rPr lang="en-US" sz="1100" b="1" dirty="0">
                <a:solidFill>
                  <a:srgbClr val="9A6300"/>
                </a:solidFill>
                <a:latin typeface="Courier New" pitchFamily="34" charset="0"/>
                <a:ea typeface="Courier New" pitchFamily="34" charset="-122"/>
                <a:cs typeface="Courier New" pitchFamily="34" charset="-120"/>
              </a:rPr>
              <a:t>1</a:t>
            </a:r>
            <a:endParaRPr lang="en-US" sz="1100" dirty="0"/>
          </a:p>
        </p:txBody>
      </p:sp>
      <p:sp>
        <p:nvSpPr>
          <p:cNvPr id="8" name="Text 6"/>
          <p:cNvSpPr txBox="1"/>
          <p:nvPr/>
        </p:nvSpPr>
        <p:spPr>
          <a:xfrm>
            <a:off x="621792" y="1755648"/>
            <a:ext cx="1188720" cy="292608"/>
          </a:xfrm>
          <a:prstGeom prst="rect">
            <a:avLst/>
          </a:prstGeom>
          <a:noFill/>
          <a:ln/>
        </p:spPr>
        <p:txBody>
          <a:bodyPr wrap="square" lIns="0" tIns="0" rIns="0" bIns="0" rtlCol="0" anchor="ctr"/>
          <a:lstStyle/>
          <a:p>
            <a:pPr marL="0" indent="0">
              <a:buNone/>
            </a:pPr>
            <a:r>
              <a:rPr lang="en-US" sz="1250" b="1" dirty="0">
                <a:solidFill>
                  <a:srgbClr val="171B22"/>
                </a:solidFill>
                <a:latin typeface="Calibri" pitchFamily="34" charset="0"/>
                <a:ea typeface="Calibri" pitchFamily="34" charset="-122"/>
                <a:cs typeface="Calibri" pitchFamily="34" charset="-120"/>
              </a:rPr>
              <a:t>Ανάλυση</a:t>
            </a:r>
            <a:endParaRPr lang="en-US" sz="1250" dirty="0"/>
          </a:p>
        </p:txBody>
      </p:sp>
      <p:sp>
        <p:nvSpPr>
          <p:cNvPr id="9" name="Shape 7"/>
          <p:cNvSpPr/>
          <p:nvPr/>
        </p:nvSpPr>
        <p:spPr>
          <a:xfrm>
            <a:off x="2148840" y="1417320"/>
            <a:ext cx="1463040" cy="749808"/>
          </a:xfrm>
          <a:prstGeom prst="roundRect">
            <a:avLst>
              <a:gd name="adj" fmla="val 9756"/>
            </a:avLst>
          </a:prstGeom>
          <a:solidFill>
            <a:srgbClr val="FFF5E3"/>
          </a:solidFill>
          <a:ln w="12700">
            <a:solidFill>
              <a:srgbClr val="FFF5E3"/>
            </a:solidFill>
            <a:prstDash val="solid"/>
          </a:ln>
        </p:spPr>
      </p:sp>
      <p:sp>
        <p:nvSpPr>
          <p:cNvPr id="10" name="Text 8"/>
          <p:cNvSpPr txBox="1"/>
          <p:nvPr/>
        </p:nvSpPr>
        <p:spPr>
          <a:xfrm>
            <a:off x="2313432" y="1490472"/>
            <a:ext cx="274320" cy="256032"/>
          </a:xfrm>
          <a:prstGeom prst="rect">
            <a:avLst/>
          </a:prstGeom>
          <a:noFill/>
          <a:ln/>
        </p:spPr>
        <p:txBody>
          <a:bodyPr wrap="square" lIns="0" tIns="0" rIns="0" bIns="0" rtlCol="0" anchor="ctr"/>
          <a:lstStyle/>
          <a:p>
            <a:pPr marL="0" indent="0">
              <a:buNone/>
            </a:pPr>
            <a:r>
              <a:rPr lang="en-US" sz="1100" b="1" dirty="0">
                <a:solidFill>
                  <a:srgbClr val="9A6300"/>
                </a:solidFill>
                <a:latin typeface="Courier New" pitchFamily="34" charset="0"/>
                <a:ea typeface="Courier New" pitchFamily="34" charset="-122"/>
                <a:cs typeface="Courier New" pitchFamily="34" charset="-120"/>
              </a:rPr>
              <a:t>2</a:t>
            </a:r>
            <a:endParaRPr lang="en-US" sz="1100" dirty="0"/>
          </a:p>
        </p:txBody>
      </p:sp>
      <p:sp>
        <p:nvSpPr>
          <p:cNvPr id="11" name="Text 9"/>
          <p:cNvSpPr txBox="1"/>
          <p:nvPr/>
        </p:nvSpPr>
        <p:spPr>
          <a:xfrm>
            <a:off x="2313432" y="1755648"/>
            <a:ext cx="1188720" cy="292608"/>
          </a:xfrm>
          <a:prstGeom prst="rect">
            <a:avLst/>
          </a:prstGeom>
          <a:noFill/>
          <a:ln/>
        </p:spPr>
        <p:txBody>
          <a:bodyPr wrap="square" lIns="0" tIns="0" rIns="0" bIns="0" rtlCol="0" anchor="ctr"/>
          <a:lstStyle/>
          <a:p>
            <a:pPr marL="0" indent="0">
              <a:buNone/>
            </a:pPr>
            <a:r>
              <a:rPr lang="en-US" sz="1250" b="1" dirty="0">
                <a:solidFill>
                  <a:srgbClr val="171B22"/>
                </a:solidFill>
                <a:latin typeface="Calibri" pitchFamily="34" charset="0"/>
                <a:ea typeface="Calibri" pitchFamily="34" charset="-122"/>
                <a:cs typeface="Calibri" pitchFamily="34" charset="-120"/>
              </a:rPr>
              <a:t>Σχεδίαση</a:t>
            </a:r>
            <a:endParaRPr lang="en-US" sz="1250" dirty="0"/>
          </a:p>
        </p:txBody>
      </p:sp>
      <p:sp>
        <p:nvSpPr>
          <p:cNvPr id="12" name="Shape 10"/>
          <p:cNvSpPr/>
          <p:nvPr/>
        </p:nvSpPr>
        <p:spPr>
          <a:xfrm>
            <a:off x="3840480" y="1417320"/>
            <a:ext cx="1463040" cy="749808"/>
          </a:xfrm>
          <a:prstGeom prst="roundRect">
            <a:avLst>
              <a:gd name="adj" fmla="val 9756"/>
            </a:avLst>
          </a:prstGeom>
          <a:solidFill>
            <a:srgbClr val="FFF5E3"/>
          </a:solidFill>
          <a:ln w="12700">
            <a:solidFill>
              <a:srgbClr val="FFF5E3"/>
            </a:solidFill>
            <a:prstDash val="solid"/>
          </a:ln>
        </p:spPr>
      </p:sp>
      <p:sp>
        <p:nvSpPr>
          <p:cNvPr id="13" name="Text 11"/>
          <p:cNvSpPr txBox="1"/>
          <p:nvPr/>
        </p:nvSpPr>
        <p:spPr>
          <a:xfrm>
            <a:off x="4005072" y="1490472"/>
            <a:ext cx="274320" cy="256032"/>
          </a:xfrm>
          <a:prstGeom prst="rect">
            <a:avLst/>
          </a:prstGeom>
          <a:noFill/>
          <a:ln/>
        </p:spPr>
        <p:txBody>
          <a:bodyPr wrap="square" lIns="0" tIns="0" rIns="0" bIns="0" rtlCol="0" anchor="ctr"/>
          <a:lstStyle/>
          <a:p>
            <a:pPr marL="0" indent="0">
              <a:buNone/>
            </a:pPr>
            <a:r>
              <a:rPr lang="en-US" sz="1100" b="1" dirty="0">
                <a:solidFill>
                  <a:srgbClr val="9A6300"/>
                </a:solidFill>
                <a:latin typeface="Courier New" pitchFamily="34" charset="0"/>
                <a:ea typeface="Courier New" pitchFamily="34" charset="-122"/>
                <a:cs typeface="Courier New" pitchFamily="34" charset="-120"/>
              </a:rPr>
              <a:t>3</a:t>
            </a:r>
            <a:endParaRPr lang="en-US" sz="1100" dirty="0"/>
          </a:p>
        </p:txBody>
      </p:sp>
      <p:sp>
        <p:nvSpPr>
          <p:cNvPr id="14" name="Text 12"/>
          <p:cNvSpPr txBox="1"/>
          <p:nvPr/>
        </p:nvSpPr>
        <p:spPr>
          <a:xfrm>
            <a:off x="4005072" y="1755648"/>
            <a:ext cx="1188720" cy="292608"/>
          </a:xfrm>
          <a:prstGeom prst="rect">
            <a:avLst/>
          </a:prstGeom>
          <a:noFill/>
          <a:ln/>
        </p:spPr>
        <p:txBody>
          <a:bodyPr wrap="square" lIns="0" tIns="0" rIns="0" bIns="0" rtlCol="0" anchor="ctr"/>
          <a:lstStyle/>
          <a:p>
            <a:pPr marL="0" indent="0">
              <a:buNone/>
            </a:pPr>
            <a:r>
              <a:rPr lang="en-US" sz="1250" b="1" dirty="0">
                <a:solidFill>
                  <a:srgbClr val="171B22"/>
                </a:solidFill>
                <a:latin typeface="Calibri" pitchFamily="34" charset="0"/>
                <a:ea typeface="Calibri" pitchFamily="34" charset="-122"/>
                <a:cs typeface="Calibri" pitchFamily="34" charset="-120"/>
              </a:rPr>
              <a:t>Υλοποίηση</a:t>
            </a:r>
            <a:endParaRPr lang="en-US" sz="1250" dirty="0"/>
          </a:p>
        </p:txBody>
      </p:sp>
      <p:sp>
        <p:nvSpPr>
          <p:cNvPr id="15" name="Shape 13"/>
          <p:cNvSpPr/>
          <p:nvPr/>
        </p:nvSpPr>
        <p:spPr>
          <a:xfrm>
            <a:off x="5532120" y="1417320"/>
            <a:ext cx="1463040" cy="749808"/>
          </a:xfrm>
          <a:prstGeom prst="roundRect">
            <a:avLst>
              <a:gd name="adj" fmla="val 9756"/>
            </a:avLst>
          </a:prstGeom>
          <a:solidFill>
            <a:srgbClr val="FFF5E3"/>
          </a:solidFill>
          <a:ln w="12700">
            <a:solidFill>
              <a:srgbClr val="FFF5E3"/>
            </a:solidFill>
            <a:prstDash val="solid"/>
          </a:ln>
        </p:spPr>
      </p:sp>
      <p:sp>
        <p:nvSpPr>
          <p:cNvPr id="16" name="Text 14"/>
          <p:cNvSpPr txBox="1"/>
          <p:nvPr/>
        </p:nvSpPr>
        <p:spPr>
          <a:xfrm>
            <a:off x="5696712" y="1490472"/>
            <a:ext cx="274320" cy="256032"/>
          </a:xfrm>
          <a:prstGeom prst="rect">
            <a:avLst/>
          </a:prstGeom>
          <a:noFill/>
          <a:ln/>
        </p:spPr>
        <p:txBody>
          <a:bodyPr wrap="square" lIns="0" tIns="0" rIns="0" bIns="0" rtlCol="0" anchor="ctr"/>
          <a:lstStyle/>
          <a:p>
            <a:pPr marL="0" indent="0">
              <a:buNone/>
            </a:pPr>
            <a:r>
              <a:rPr lang="en-US" sz="1100" b="1" dirty="0">
                <a:solidFill>
                  <a:srgbClr val="9A6300"/>
                </a:solidFill>
                <a:latin typeface="Courier New" pitchFamily="34" charset="0"/>
                <a:ea typeface="Courier New" pitchFamily="34" charset="-122"/>
                <a:cs typeface="Courier New" pitchFamily="34" charset="-120"/>
              </a:rPr>
              <a:t>4</a:t>
            </a:r>
            <a:endParaRPr lang="en-US" sz="1100" dirty="0"/>
          </a:p>
        </p:txBody>
      </p:sp>
      <p:sp>
        <p:nvSpPr>
          <p:cNvPr id="17" name="Text 15"/>
          <p:cNvSpPr txBox="1"/>
          <p:nvPr/>
        </p:nvSpPr>
        <p:spPr>
          <a:xfrm>
            <a:off x="5696712" y="1755648"/>
            <a:ext cx="1188720" cy="292608"/>
          </a:xfrm>
          <a:prstGeom prst="rect">
            <a:avLst/>
          </a:prstGeom>
          <a:noFill/>
          <a:ln/>
        </p:spPr>
        <p:txBody>
          <a:bodyPr wrap="square" lIns="0" tIns="0" rIns="0" bIns="0" rtlCol="0" anchor="ctr"/>
          <a:lstStyle/>
          <a:p>
            <a:pPr marL="0" indent="0">
              <a:buNone/>
            </a:pPr>
            <a:r>
              <a:rPr lang="en-US" sz="1250" b="1" dirty="0">
                <a:solidFill>
                  <a:srgbClr val="171B22"/>
                </a:solidFill>
                <a:latin typeface="Calibri" pitchFamily="34" charset="0"/>
                <a:ea typeface="Calibri" pitchFamily="34" charset="-122"/>
                <a:cs typeface="Calibri" pitchFamily="34" charset="-120"/>
              </a:rPr>
              <a:t>Λειτουργία</a:t>
            </a:r>
            <a:endParaRPr lang="en-US" sz="1250" dirty="0"/>
          </a:p>
        </p:txBody>
      </p:sp>
      <p:sp>
        <p:nvSpPr>
          <p:cNvPr id="18" name="Shape 16"/>
          <p:cNvSpPr/>
          <p:nvPr/>
        </p:nvSpPr>
        <p:spPr>
          <a:xfrm>
            <a:off x="7223760" y="1417320"/>
            <a:ext cx="1463040" cy="749808"/>
          </a:xfrm>
          <a:prstGeom prst="roundRect">
            <a:avLst>
              <a:gd name="adj" fmla="val 9756"/>
            </a:avLst>
          </a:prstGeom>
          <a:solidFill>
            <a:srgbClr val="FFF5E3"/>
          </a:solidFill>
          <a:ln w="12700">
            <a:solidFill>
              <a:srgbClr val="FFF5E3"/>
            </a:solidFill>
            <a:prstDash val="solid"/>
          </a:ln>
        </p:spPr>
      </p:sp>
      <p:sp>
        <p:nvSpPr>
          <p:cNvPr id="19" name="Text 17"/>
          <p:cNvSpPr txBox="1"/>
          <p:nvPr/>
        </p:nvSpPr>
        <p:spPr>
          <a:xfrm>
            <a:off x="7388352" y="1490472"/>
            <a:ext cx="274320" cy="256032"/>
          </a:xfrm>
          <a:prstGeom prst="rect">
            <a:avLst/>
          </a:prstGeom>
          <a:noFill/>
          <a:ln/>
        </p:spPr>
        <p:txBody>
          <a:bodyPr wrap="square" lIns="0" tIns="0" rIns="0" bIns="0" rtlCol="0" anchor="ctr"/>
          <a:lstStyle/>
          <a:p>
            <a:pPr marL="0" indent="0">
              <a:buNone/>
            </a:pPr>
            <a:r>
              <a:rPr lang="en-US" sz="1100" b="1" dirty="0">
                <a:solidFill>
                  <a:srgbClr val="9A6300"/>
                </a:solidFill>
                <a:latin typeface="Courier New" pitchFamily="34" charset="0"/>
                <a:ea typeface="Courier New" pitchFamily="34" charset="-122"/>
                <a:cs typeface="Courier New" pitchFamily="34" charset="-120"/>
              </a:rPr>
              <a:t>5</a:t>
            </a:r>
            <a:endParaRPr lang="en-US" sz="1100" dirty="0"/>
          </a:p>
        </p:txBody>
      </p:sp>
      <p:sp>
        <p:nvSpPr>
          <p:cNvPr id="20" name="Text 18"/>
          <p:cNvSpPr txBox="1"/>
          <p:nvPr/>
        </p:nvSpPr>
        <p:spPr>
          <a:xfrm>
            <a:off x="7388352" y="1755648"/>
            <a:ext cx="1188720" cy="292608"/>
          </a:xfrm>
          <a:prstGeom prst="rect">
            <a:avLst/>
          </a:prstGeom>
          <a:noFill/>
          <a:ln/>
        </p:spPr>
        <p:txBody>
          <a:bodyPr wrap="square" lIns="0" tIns="0" rIns="0" bIns="0" rtlCol="0" anchor="ctr"/>
          <a:lstStyle/>
          <a:p>
            <a:pPr marL="0" indent="0">
              <a:buNone/>
            </a:pPr>
            <a:r>
              <a:rPr lang="en-US" sz="1250" b="1" dirty="0">
                <a:solidFill>
                  <a:srgbClr val="171B22"/>
                </a:solidFill>
                <a:latin typeface="Calibri" pitchFamily="34" charset="0"/>
                <a:ea typeface="Calibri" pitchFamily="34" charset="-122"/>
                <a:cs typeface="Calibri" pitchFamily="34" charset="-120"/>
              </a:rPr>
              <a:t>Συντήρηση</a:t>
            </a:r>
            <a:endParaRPr lang="en-US" sz="1250" dirty="0"/>
          </a:p>
        </p:txBody>
      </p:sp>
      <p:sp>
        <p:nvSpPr>
          <p:cNvPr id="21" name="Text 19"/>
          <p:cNvSpPr txBox="1"/>
          <p:nvPr/>
        </p:nvSpPr>
        <p:spPr>
          <a:xfrm>
            <a:off x="457200" y="2240280"/>
            <a:ext cx="8183880" cy="256032"/>
          </a:xfrm>
          <a:prstGeom prst="rect">
            <a:avLst/>
          </a:prstGeom>
          <a:noFill/>
          <a:ln/>
        </p:spPr>
        <p:txBody>
          <a:bodyPr wrap="square" lIns="0" tIns="0" rIns="0" bIns="0" rtlCol="0" anchor="ctr"/>
          <a:lstStyle/>
          <a:p>
            <a:pPr marL="0" indent="0">
              <a:buNone/>
            </a:pPr>
            <a:r>
              <a:rPr lang="en-US" sz="1100" dirty="0">
                <a:solidFill>
                  <a:srgbClr val="6B7480"/>
                </a:solidFill>
                <a:latin typeface="Calibri" pitchFamily="34" charset="0"/>
                <a:ea typeface="Calibri" pitchFamily="34" charset="-122"/>
                <a:cs typeface="Calibri" pitchFamily="34" charset="-120"/>
              </a:rPr>
              <a:t>ο κύκλος ζωής κάθε εφαρμογής — από το Instagram μέχρι την εργασία σου</a:t>
            </a:r>
            <a:endParaRPr lang="en-US" sz="1100" dirty="0"/>
          </a:p>
        </p:txBody>
      </p:sp>
      <p:sp>
        <p:nvSpPr>
          <p:cNvPr id="22" name="Shape 20"/>
          <p:cNvSpPr/>
          <p:nvPr/>
        </p:nvSpPr>
        <p:spPr>
          <a:xfrm>
            <a:off x="548640" y="2606040"/>
            <a:ext cx="3931920" cy="1325880"/>
          </a:xfrm>
          <a:prstGeom prst="roundRect">
            <a:avLst>
              <a:gd name="adj" fmla="val 5517"/>
            </a:avLst>
          </a:prstGeom>
          <a:solidFill>
            <a:srgbClr val="F2F4F8"/>
          </a:solidFill>
          <a:ln w="12700">
            <a:solidFill>
              <a:srgbClr val="F2F4F8"/>
            </a:solidFill>
            <a:prstDash val="solid"/>
          </a:ln>
        </p:spPr>
      </p:sp>
      <p:sp>
        <p:nvSpPr>
          <p:cNvPr id="23" name="Text 21"/>
          <p:cNvSpPr txBox="1"/>
          <p:nvPr/>
        </p:nvSpPr>
        <p:spPr>
          <a:xfrm>
            <a:off x="749808" y="2734056"/>
            <a:ext cx="3566160" cy="274320"/>
          </a:xfrm>
          <a:prstGeom prst="rect">
            <a:avLst/>
          </a:prstGeom>
          <a:noFill/>
          <a:ln/>
        </p:spPr>
        <p:txBody>
          <a:bodyPr wrap="square" lIns="0" tIns="0" rIns="0" bIns="0" rtlCol="0" anchor="ctr"/>
          <a:lstStyle/>
          <a:p>
            <a:pPr marL="0" indent="0">
              <a:buNone/>
            </a:pPr>
            <a:r>
              <a:rPr lang="en-US" sz="1350" b="1" dirty="0">
                <a:solidFill>
                  <a:srgbClr val="171B22"/>
                </a:solidFill>
                <a:latin typeface="Calibri" pitchFamily="34" charset="0"/>
                <a:ea typeface="Calibri" pitchFamily="34" charset="-122"/>
                <a:cs typeface="Calibri" pitchFamily="34" charset="-120"/>
              </a:rPr>
              <a:t>Επαγγελματικά εργαλεία</a:t>
            </a:r>
            <a:endParaRPr lang="en-US" sz="1350" dirty="0"/>
          </a:p>
        </p:txBody>
      </p:sp>
      <p:sp>
        <p:nvSpPr>
          <p:cNvPr id="24" name="Text 22"/>
          <p:cNvSpPr txBox="1"/>
          <p:nvPr/>
        </p:nvSpPr>
        <p:spPr>
          <a:xfrm>
            <a:off x="749808" y="3035808"/>
            <a:ext cx="3566160" cy="777240"/>
          </a:xfrm>
          <a:prstGeom prst="rect">
            <a:avLst/>
          </a:prstGeom>
          <a:noFill/>
          <a:ln/>
        </p:spPr>
        <p:txBody>
          <a:bodyPr wrap="square" lIns="0" tIns="0" rIns="0" bIns="0" rtlCol="0" anchor="ctr"/>
          <a:lstStyle/>
          <a:p>
            <a:pPr marL="0" indent="0">
              <a:lnSpc>
                <a:spcPts val="1600"/>
              </a:lnSpc>
              <a:buNone/>
            </a:pPr>
            <a:r>
              <a:rPr lang="en-US" sz="1150" dirty="0">
                <a:solidFill>
                  <a:srgbClr val="6B7480"/>
                </a:solidFill>
                <a:latin typeface="Calibri" pitchFamily="34" charset="0"/>
                <a:ea typeface="Calibri" pitchFamily="34" charset="-122"/>
                <a:cs typeface="Calibri" pitchFamily="34" charset="-120"/>
              </a:rPr>
              <a:t>C, C++, Java, Python, JavaScript, PHP, C#, Ruby — και τα περιβάλλοντα Eclipse, NetBeans, Visual Studio, Xcode.</a:t>
            </a:r>
            <a:endParaRPr lang="en-US" sz="1150" dirty="0"/>
          </a:p>
        </p:txBody>
      </p:sp>
      <p:sp>
        <p:nvSpPr>
          <p:cNvPr id="25" name="Shape 23"/>
          <p:cNvSpPr/>
          <p:nvPr/>
        </p:nvSpPr>
        <p:spPr>
          <a:xfrm>
            <a:off x="4709160" y="2606040"/>
            <a:ext cx="3931920" cy="1325880"/>
          </a:xfrm>
          <a:prstGeom prst="roundRect">
            <a:avLst>
              <a:gd name="adj" fmla="val 5517"/>
            </a:avLst>
          </a:prstGeom>
          <a:solidFill>
            <a:srgbClr val="FFF5E3"/>
          </a:solidFill>
          <a:ln w="12700">
            <a:solidFill>
              <a:srgbClr val="FFF5E3"/>
            </a:solidFill>
            <a:prstDash val="solid"/>
          </a:ln>
        </p:spPr>
      </p:sp>
      <p:sp>
        <p:nvSpPr>
          <p:cNvPr id="26" name="Text 24"/>
          <p:cNvSpPr txBox="1"/>
          <p:nvPr/>
        </p:nvSpPr>
        <p:spPr>
          <a:xfrm>
            <a:off x="4910328" y="2734056"/>
            <a:ext cx="3566160" cy="274320"/>
          </a:xfrm>
          <a:prstGeom prst="rect">
            <a:avLst/>
          </a:prstGeom>
          <a:noFill/>
          <a:ln/>
        </p:spPr>
        <p:txBody>
          <a:bodyPr wrap="square" lIns="0" tIns="0" rIns="0" bIns="0" rtlCol="0" anchor="ctr"/>
          <a:lstStyle/>
          <a:p>
            <a:pPr marL="0" indent="0">
              <a:buNone/>
            </a:pPr>
            <a:r>
              <a:rPr lang="en-US" sz="1350" b="1" dirty="0">
                <a:solidFill>
                  <a:srgbClr val="9A6300"/>
                </a:solidFill>
                <a:latin typeface="Calibri" pitchFamily="34" charset="0"/>
                <a:ea typeface="Calibri" pitchFamily="34" charset="-122"/>
                <a:cs typeface="Calibri" pitchFamily="34" charset="-120"/>
              </a:rPr>
              <a:t>Εκπαιδευτικά περιβάλλοντα</a:t>
            </a:r>
            <a:endParaRPr lang="en-US" sz="1350" dirty="0"/>
          </a:p>
        </p:txBody>
      </p:sp>
      <p:sp>
        <p:nvSpPr>
          <p:cNvPr id="27" name="Text 25"/>
          <p:cNvSpPr txBox="1"/>
          <p:nvPr/>
        </p:nvSpPr>
        <p:spPr>
          <a:xfrm>
            <a:off x="4910328" y="3035808"/>
            <a:ext cx="3566160" cy="777240"/>
          </a:xfrm>
          <a:prstGeom prst="rect">
            <a:avLst/>
          </a:prstGeom>
          <a:noFill/>
          <a:ln/>
        </p:spPr>
        <p:txBody>
          <a:bodyPr wrap="square" lIns="0" tIns="0" rIns="0" bIns="0" rtlCol="0" anchor="ctr"/>
          <a:lstStyle/>
          <a:p>
            <a:pPr marL="0" indent="0">
              <a:lnSpc>
                <a:spcPts val="1600"/>
              </a:lnSpc>
              <a:buNone/>
            </a:pPr>
            <a:r>
              <a:rPr lang="en-US" sz="1150" dirty="0">
                <a:solidFill>
                  <a:srgbClr val="171B22"/>
                </a:solidFill>
                <a:latin typeface="Calibri" pitchFamily="34" charset="0"/>
                <a:ea typeface="Calibri" pitchFamily="34" charset="-122"/>
                <a:cs typeface="Calibri" pitchFamily="34" charset="-120"/>
              </a:rPr>
              <a:t>LOGO, Scratch, BYOB, Kodu, StarLogo TNG, Game Maker, Alice, App Inventor — προγραμματίζεις σύροντας πλακίδια.</a:t>
            </a:r>
            <a:endParaRPr lang="en-US" sz="1150" dirty="0"/>
          </a:p>
        </p:txBody>
      </p:sp>
      <p:sp>
        <p:nvSpPr>
          <p:cNvPr id="28" name="Text 26"/>
          <p:cNvSpPr txBox="1"/>
          <p:nvPr/>
        </p:nvSpPr>
        <p:spPr>
          <a:xfrm>
            <a:off x="566928" y="4096512"/>
            <a:ext cx="8092440" cy="320040"/>
          </a:xfrm>
          <a:prstGeom prst="rect">
            <a:avLst/>
          </a:prstGeom>
          <a:noFill/>
          <a:ln/>
        </p:spPr>
        <p:txBody>
          <a:bodyPr wrap="square" lIns="0" tIns="0" rIns="0" bIns="0" rtlCol="0" anchor="ctr"/>
          <a:lstStyle/>
          <a:p>
            <a:pPr marL="0" indent="0">
              <a:buNone/>
            </a:pPr>
            <a:r>
              <a:rPr lang="en-US" sz="1200" i="1" dirty="0">
                <a:solidFill>
                  <a:srgbClr val="6B7480"/>
                </a:solidFill>
                <a:latin typeface="Calibri" pitchFamily="34" charset="0"/>
                <a:ea typeface="Calibri" pitchFamily="34" charset="-122"/>
                <a:cs typeface="Calibri" pitchFamily="34" charset="-120"/>
              </a:rPr>
              <a:t>Και μια ερώτηση που βάζει το ίδιο το βιβλίο: το Scratch είναι επαγγελματικό ή εκπαιδευτικό περιβάλλον;</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C"/>
        </a:solidFill>
        <a:effectLst/>
      </p:bgPr>
    </p:bg>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FFB020"/>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FFB020"/>
                </a:solidFill>
                <a:latin typeface="Courier New" pitchFamily="34" charset="0"/>
                <a:ea typeface="Courier New" pitchFamily="34" charset="-122"/>
                <a:cs typeface="Courier New" pitchFamily="34" charset="-120"/>
              </a:rPr>
              <a:t>ΕΝΟΤΗΤΑ 2  ·  ΚΕΦΑΛΑΙΟ 7  ·  ΤΟ ΜΕΓΑΛΟ ΚΕΦΑΛΑΙΟ</a:t>
            </a:r>
            <a:endParaRPr lang="en-US" sz="1050" dirty="0"/>
          </a:p>
        </p:txBody>
      </p:sp>
      <p:sp>
        <p:nvSpPr>
          <p:cNvPr id="5" name="Text 3"/>
          <p:cNvSpPr txBox="1"/>
          <p:nvPr/>
        </p:nvSpPr>
        <p:spPr>
          <a:xfrm>
            <a:off x="530352" y="822960"/>
            <a:ext cx="8138160" cy="54864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Θα φτιάξεις εφαρμογή για κινητό</a:t>
            </a:r>
            <a:endParaRPr lang="en-US" sz="3100" dirty="0"/>
          </a:p>
        </p:txBody>
      </p:sp>
      <p:sp>
        <p:nvSpPr>
          <p:cNvPr id="6" name="Shape 4"/>
          <p:cNvSpPr/>
          <p:nvPr/>
        </p:nvSpPr>
        <p:spPr>
          <a:xfrm>
            <a:off x="548640" y="1536192"/>
            <a:ext cx="4114800" cy="2395728"/>
          </a:xfrm>
          <a:prstGeom prst="roundRect">
            <a:avLst>
              <a:gd name="adj" fmla="val 3053"/>
            </a:avLst>
          </a:prstGeom>
          <a:solidFill>
            <a:srgbClr val="1D222C"/>
          </a:solidFill>
          <a:ln w="12700">
            <a:solidFill>
              <a:srgbClr val="1D222C"/>
            </a:solidFill>
            <a:prstDash val="solid"/>
          </a:ln>
        </p:spPr>
      </p:sp>
      <p:sp>
        <p:nvSpPr>
          <p:cNvPr id="7" name="Text 5"/>
          <p:cNvSpPr txBox="1"/>
          <p:nvPr/>
        </p:nvSpPr>
        <p:spPr>
          <a:xfrm>
            <a:off x="777240" y="1691640"/>
            <a:ext cx="3657600" cy="292608"/>
          </a:xfrm>
          <a:prstGeom prst="rect">
            <a:avLst/>
          </a:prstGeom>
          <a:noFill/>
          <a:ln/>
        </p:spPr>
        <p:txBody>
          <a:bodyPr wrap="square" lIns="0" tIns="0" rIns="0" bIns="0" rtlCol="0" anchor="ctr"/>
          <a:lstStyle/>
          <a:p>
            <a:pPr marL="0" indent="0">
              <a:buNone/>
            </a:pPr>
            <a:r>
              <a:rPr lang="en-US" sz="1300" b="1" dirty="0">
                <a:solidFill>
                  <a:srgbClr val="FFB020"/>
                </a:solidFill>
                <a:latin typeface="Courier New" pitchFamily="34" charset="0"/>
                <a:ea typeface="Courier New" pitchFamily="34" charset="-122"/>
                <a:cs typeface="Courier New" pitchFamily="34" charset="-120"/>
              </a:rPr>
              <a:t>Fun &amp; Learn</a:t>
            </a:r>
            <a:endParaRPr lang="en-US" sz="1300" dirty="0"/>
          </a:p>
        </p:txBody>
      </p:sp>
      <p:sp>
        <p:nvSpPr>
          <p:cNvPr id="8" name="Shape 6"/>
          <p:cNvSpPr/>
          <p:nvPr/>
        </p:nvSpPr>
        <p:spPr>
          <a:xfrm>
            <a:off x="777240" y="2121408"/>
            <a:ext cx="274320" cy="274320"/>
          </a:xfrm>
          <a:prstGeom prst="ellipse">
            <a:avLst/>
          </a:prstGeom>
          <a:solidFill>
            <a:srgbClr val="FFB020"/>
          </a:solidFill>
          <a:ln/>
        </p:spPr>
      </p:sp>
      <p:sp>
        <p:nvSpPr>
          <p:cNvPr id="9" name="Text 7"/>
          <p:cNvSpPr txBox="1"/>
          <p:nvPr/>
        </p:nvSpPr>
        <p:spPr>
          <a:xfrm>
            <a:off x="777240" y="2121408"/>
            <a:ext cx="274320" cy="274320"/>
          </a:xfrm>
          <a:prstGeom prst="rect">
            <a:avLst/>
          </a:prstGeom>
          <a:noFill/>
          <a:ln/>
        </p:spPr>
        <p:txBody>
          <a:bodyPr wrap="square" lIns="0" tIns="0" rIns="0" bIns="0" rtlCol="0" anchor="ctr"/>
          <a:lstStyle/>
          <a:p>
            <a:pPr marL="0" indent="0" algn="ctr">
              <a:buNone/>
            </a:pPr>
            <a:r>
              <a:rPr lang="en-US" sz="1100" b="1" dirty="0">
                <a:solidFill>
                  <a:srgbClr val="12151C"/>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161288" y="2084832"/>
            <a:ext cx="3291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Screensaver με σκύλο</a:t>
            </a:r>
            <a:endParaRPr lang="en-US" sz="1250" dirty="0"/>
          </a:p>
        </p:txBody>
      </p:sp>
      <p:sp>
        <p:nvSpPr>
          <p:cNvPr id="11" name="Text 9"/>
          <p:cNvSpPr txBox="1"/>
          <p:nvPr/>
        </p:nvSpPr>
        <p:spPr>
          <a:xfrm>
            <a:off x="1161288" y="2331720"/>
            <a:ext cx="3291840" cy="237744"/>
          </a:xfrm>
          <a:prstGeom prst="rect">
            <a:avLst/>
          </a:prstGeom>
          <a:noFill/>
          <a:ln/>
        </p:spPr>
        <p:txBody>
          <a:bodyPr wrap="square" lIns="0" tIns="0" rIns="0" bIns="0" rtlCol="0" anchor="ctr"/>
          <a:lstStyle/>
          <a:p>
            <a:pPr marL="0" indent="0">
              <a:buNone/>
            </a:pPr>
            <a:r>
              <a:rPr lang="en-US" sz="1050" dirty="0">
                <a:solidFill>
                  <a:srgbClr val="8F9AAA"/>
                </a:solidFill>
                <a:latin typeface="Calibri" pitchFamily="34" charset="0"/>
                <a:ea typeface="Calibri" pitchFamily="34" charset="-122"/>
                <a:cs typeface="Calibri" pitchFamily="34" charset="-120"/>
              </a:rPr>
              <a:t>που αλλάζει διάθεση και γαβγίζει</a:t>
            </a:r>
            <a:endParaRPr lang="en-US" sz="1050" dirty="0"/>
          </a:p>
        </p:txBody>
      </p:sp>
      <p:sp>
        <p:nvSpPr>
          <p:cNvPr id="12" name="Shape 10"/>
          <p:cNvSpPr/>
          <p:nvPr/>
        </p:nvSpPr>
        <p:spPr>
          <a:xfrm>
            <a:off x="777240" y="2697480"/>
            <a:ext cx="274320" cy="274320"/>
          </a:xfrm>
          <a:prstGeom prst="ellipse">
            <a:avLst/>
          </a:prstGeom>
          <a:solidFill>
            <a:srgbClr val="FFB020"/>
          </a:solidFill>
          <a:ln/>
        </p:spPr>
      </p:sp>
      <p:sp>
        <p:nvSpPr>
          <p:cNvPr id="13" name="Text 11"/>
          <p:cNvSpPr txBox="1"/>
          <p:nvPr/>
        </p:nvSpPr>
        <p:spPr>
          <a:xfrm>
            <a:off x="777240" y="2697480"/>
            <a:ext cx="274320" cy="274320"/>
          </a:xfrm>
          <a:prstGeom prst="rect">
            <a:avLst/>
          </a:prstGeom>
          <a:noFill/>
          <a:ln/>
        </p:spPr>
        <p:txBody>
          <a:bodyPr wrap="square" lIns="0" tIns="0" rIns="0" bIns="0" rtlCol="0" anchor="ctr"/>
          <a:lstStyle/>
          <a:p>
            <a:pPr marL="0" indent="0" algn="ctr">
              <a:buNone/>
            </a:pPr>
            <a:r>
              <a:rPr lang="en-US" sz="1100" b="1" dirty="0">
                <a:solidFill>
                  <a:srgbClr val="12151C"/>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61288" y="2660904"/>
            <a:ext cx="3291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Ζωγραφίζεις στην οθόνη</a:t>
            </a:r>
            <a:endParaRPr lang="en-US" sz="1250" dirty="0"/>
          </a:p>
        </p:txBody>
      </p:sp>
      <p:sp>
        <p:nvSpPr>
          <p:cNvPr id="15" name="Text 13"/>
          <p:cNvSpPr txBox="1"/>
          <p:nvPr/>
        </p:nvSpPr>
        <p:spPr>
          <a:xfrm>
            <a:off x="1161288" y="2907792"/>
            <a:ext cx="3291840" cy="237744"/>
          </a:xfrm>
          <a:prstGeom prst="rect">
            <a:avLst/>
          </a:prstGeom>
          <a:noFill/>
          <a:ln/>
        </p:spPr>
        <p:txBody>
          <a:bodyPr wrap="square" lIns="0" tIns="0" rIns="0" bIns="0" rtlCol="0" anchor="ctr"/>
          <a:lstStyle/>
          <a:p>
            <a:pPr marL="0" indent="0">
              <a:buNone/>
            </a:pPr>
            <a:r>
              <a:rPr lang="en-US" sz="1050" dirty="0">
                <a:solidFill>
                  <a:srgbClr val="8F9AAA"/>
                </a:solidFill>
                <a:latin typeface="Calibri" pitchFamily="34" charset="0"/>
                <a:ea typeface="Calibri" pitchFamily="34" charset="-122"/>
                <a:cs typeface="Calibri" pitchFamily="34" charset="-120"/>
              </a:rPr>
              <a:t>και σβήνεις κουνώντας το κινητό</a:t>
            </a:r>
            <a:endParaRPr lang="en-US" sz="1050" dirty="0"/>
          </a:p>
        </p:txBody>
      </p:sp>
      <p:sp>
        <p:nvSpPr>
          <p:cNvPr id="16" name="Shape 14"/>
          <p:cNvSpPr/>
          <p:nvPr/>
        </p:nvSpPr>
        <p:spPr>
          <a:xfrm>
            <a:off x="777240" y="3273552"/>
            <a:ext cx="274320" cy="274320"/>
          </a:xfrm>
          <a:prstGeom prst="ellipse">
            <a:avLst/>
          </a:prstGeom>
          <a:solidFill>
            <a:srgbClr val="FFB020"/>
          </a:solidFill>
          <a:ln/>
        </p:spPr>
      </p:sp>
      <p:sp>
        <p:nvSpPr>
          <p:cNvPr id="17" name="Text 15"/>
          <p:cNvSpPr txBox="1"/>
          <p:nvPr/>
        </p:nvSpPr>
        <p:spPr>
          <a:xfrm>
            <a:off x="777240" y="3273552"/>
            <a:ext cx="274320" cy="274320"/>
          </a:xfrm>
          <a:prstGeom prst="rect">
            <a:avLst/>
          </a:prstGeom>
          <a:noFill/>
          <a:ln/>
        </p:spPr>
        <p:txBody>
          <a:bodyPr wrap="square" lIns="0" tIns="0" rIns="0" bIns="0" rtlCol="0" anchor="ctr"/>
          <a:lstStyle/>
          <a:p>
            <a:pPr marL="0" indent="0" algn="ctr">
              <a:buNone/>
            </a:pPr>
            <a:r>
              <a:rPr lang="en-US" sz="1100" b="1" dirty="0">
                <a:solidFill>
                  <a:srgbClr val="12151C"/>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161288" y="3236976"/>
            <a:ext cx="3291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Υπολογιστής μέσου όρου</a:t>
            </a:r>
            <a:endParaRPr lang="en-US" sz="1250" dirty="0"/>
          </a:p>
        </p:txBody>
      </p:sp>
      <p:sp>
        <p:nvSpPr>
          <p:cNvPr id="19" name="Text 17"/>
          <p:cNvSpPr txBox="1"/>
          <p:nvPr/>
        </p:nvSpPr>
        <p:spPr>
          <a:xfrm>
            <a:off x="1161288" y="3483864"/>
            <a:ext cx="3291840" cy="237744"/>
          </a:xfrm>
          <a:prstGeom prst="rect">
            <a:avLst/>
          </a:prstGeom>
          <a:noFill/>
          <a:ln/>
        </p:spPr>
        <p:txBody>
          <a:bodyPr wrap="square" lIns="0" tIns="0" rIns="0" bIns="0" rtlCol="0" anchor="ctr"/>
          <a:lstStyle/>
          <a:p>
            <a:pPr marL="0" indent="0">
              <a:buNone/>
            </a:pPr>
            <a:r>
              <a:rPr lang="en-US" sz="1050" dirty="0">
                <a:solidFill>
                  <a:srgbClr val="8F9AAA"/>
                </a:solidFill>
                <a:latin typeface="Calibri" pitchFamily="34" charset="0"/>
                <a:ea typeface="Calibri" pitchFamily="34" charset="-122"/>
                <a:cs typeface="Calibri" pitchFamily="34" charset="-120"/>
              </a:rPr>
              <a:t>με slider για τα δύο τετράμηνα</a:t>
            </a:r>
            <a:endParaRPr lang="en-US" sz="1050" dirty="0"/>
          </a:p>
        </p:txBody>
      </p:sp>
      <p:sp>
        <p:nvSpPr>
          <p:cNvPr id="20" name="Text 18"/>
          <p:cNvSpPr txBox="1"/>
          <p:nvPr/>
        </p:nvSpPr>
        <p:spPr>
          <a:xfrm>
            <a:off x="4937760" y="1600200"/>
            <a:ext cx="3703320" cy="228600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D7DEE8"/>
                </a:solidFill>
                <a:latin typeface="Calibri" pitchFamily="34" charset="0"/>
                <a:ea typeface="Calibri" pitchFamily="34" charset="-122"/>
                <a:cs typeface="Calibri" pitchFamily="34" charset="-120"/>
              </a:rPr>
              <a:t>MIT App Inventor: σχεδιάζεις την οθόνη, ενώνεις πλακίδια, βγάζεις αρχείο .apk</a:t>
            </a:r>
            <a:endParaRPr lang="en-US" sz="1150" dirty="0"/>
          </a:p>
          <a:p>
            <a:pPr marL="342900" indent="-342900">
              <a:spcAft>
                <a:spcPts val="1200"/>
              </a:spcAft>
              <a:buSzPct val="100000"/>
              <a:buChar char="•"/>
            </a:pPr>
            <a:r>
              <a:rPr lang="en-US" sz="1150" dirty="0">
                <a:solidFill>
                  <a:srgbClr val="D7DEE8"/>
                </a:solidFill>
                <a:latin typeface="Calibri" pitchFamily="34" charset="0"/>
                <a:ea typeface="Calibri" pitchFamily="34" charset="-122"/>
                <a:cs typeface="Calibri" pitchFamily="34" charset="-120"/>
              </a:rPr>
              <a:t>Το τρέχεις στο δικό σου κινητό μέσω AI Companion</a:t>
            </a:r>
            <a:endParaRPr lang="en-US" sz="1150" dirty="0"/>
          </a:p>
          <a:p>
            <a:pPr marL="342900" indent="-342900">
              <a:spcAft>
                <a:spcPts val="1200"/>
              </a:spcAft>
              <a:buSzPct val="100000"/>
              <a:buChar char="•"/>
            </a:pPr>
            <a:r>
              <a:rPr lang="en-US" sz="1150" dirty="0">
                <a:solidFill>
                  <a:srgbClr val="D7DEE8"/>
                </a:solidFill>
                <a:latin typeface="Calibri" pitchFamily="34" charset="0"/>
                <a:ea typeface="Calibri" pitchFamily="34" charset="-122"/>
                <a:cs typeface="Calibri" pitchFamily="34" charset="-120"/>
              </a:rPr>
              <a:t>Alice 3: αντικειμενοστρεφής προγραμματισμός σε τρισδιάστατο κόσμο</a:t>
            </a:r>
            <a:endParaRPr lang="en-US" sz="1150" dirty="0"/>
          </a:p>
          <a:p>
            <a:pPr marL="342900" indent="-342900">
              <a:spcAft>
                <a:spcPts val="1200"/>
              </a:spcAft>
              <a:buSzPct val="100000"/>
              <a:buChar char="•"/>
            </a:pPr>
            <a:r>
              <a:rPr lang="en-US" sz="1150" dirty="0">
                <a:solidFill>
                  <a:srgbClr val="D7DEE8"/>
                </a:solidFill>
                <a:latin typeface="Calibri" pitchFamily="34" charset="0"/>
                <a:ea typeface="Calibri" pitchFamily="34" charset="-122"/>
                <a:cs typeface="Calibri" pitchFamily="34" charset="-120"/>
              </a:rPr>
              <a:t>Κλάση, αντικείμενο, ιδιότητα, μέθοδος, κληρονομικότητα</a:t>
            </a:r>
            <a:endParaRPr lang="en-US" sz="1150" dirty="0"/>
          </a:p>
        </p:txBody>
      </p:sp>
      <p:sp>
        <p:nvSpPr>
          <p:cNvPr id="21" name="Text 19"/>
          <p:cNvSpPr txBox="1"/>
          <p:nvPr/>
        </p:nvSpPr>
        <p:spPr>
          <a:xfrm>
            <a:off x="566928" y="4114800"/>
            <a:ext cx="8046720" cy="548640"/>
          </a:xfrm>
          <a:prstGeom prst="rect">
            <a:avLst/>
          </a:prstGeom>
          <a:noFill/>
          <a:ln/>
        </p:spPr>
        <p:txBody>
          <a:bodyPr wrap="square" lIns="0" tIns="0" rIns="0" bIns="0" rtlCol="0" anchor="ctr"/>
          <a:lstStyle/>
          <a:p>
            <a:pPr marL="0" indent="0">
              <a:lnSpc>
                <a:spcPts val="1800"/>
              </a:lnSpc>
              <a:buNone/>
            </a:pPr>
            <a:r>
              <a:rPr lang="en-US" sz="1250" b="1" dirty="0">
                <a:solidFill>
                  <a:srgbClr val="FFB020"/>
                </a:solidFill>
                <a:latin typeface="Calibri" pitchFamily="34" charset="0"/>
                <a:ea typeface="Calibri" pitchFamily="34" charset="-122"/>
                <a:cs typeface="Calibri" pitchFamily="34" charset="-120"/>
              </a:rPr>
              <a:t>Και τα δύο είναι ελεύθερο λογισμικό.  </a:t>
            </a:r>
            <a:r>
              <a:rPr lang="en-US" sz="1250" dirty="0">
                <a:solidFill>
                  <a:srgbClr val="C9D2DE"/>
                </a:solidFill>
                <a:latin typeface="Calibri" pitchFamily="34" charset="0"/>
                <a:ea typeface="Calibri" pitchFamily="34" charset="-122"/>
                <a:cs typeface="Calibri" pitchFamily="34" charset="-120"/>
              </a:rPr>
              <a:t>Τα κατεβάζεις και στο σπίτι — ό,τι φτιάξεις εδώ, μπορείς να το συνεχίσεις εκεί.</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38BDF8"/>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0369A1"/>
                </a:solidFill>
                <a:latin typeface="Courier New" pitchFamily="34" charset="0"/>
                <a:ea typeface="Courier New" pitchFamily="34" charset="-122"/>
                <a:cs typeface="Courier New" pitchFamily="34" charset="-120"/>
              </a:rPr>
              <a:t>ΕΝΟΤΗΤΑ 3  ·  ΚΕΦΑΛΑΙΑ 8, 9, 10</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marL="0" indent="0">
              <a:buNone/>
            </a:pPr>
            <a:r>
              <a:rPr lang="en-US" sz="3200" b="1" dirty="0">
                <a:solidFill>
                  <a:srgbClr val="171B22"/>
                </a:solidFill>
                <a:latin typeface="Calibri" pitchFamily="34" charset="0"/>
                <a:ea typeface="Calibri" pitchFamily="34" charset="-122"/>
                <a:cs typeface="Calibri" pitchFamily="34" charset="-120"/>
              </a:rPr>
              <a:t>Από τις φρυκτωρίες στο Wi-Fi</a:t>
            </a:r>
            <a:endParaRPr lang="en-US" sz="3200" dirty="0"/>
          </a:p>
        </p:txBody>
      </p:sp>
      <p:sp>
        <p:nvSpPr>
          <p:cNvPr id="6" name="Shape 4"/>
          <p:cNvSpPr/>
          <p:nvPr/>
        </p:nvSpPr>
        <p:spPr>
          <a:xfrm>
            <a:off x="484632" y="1463040"/>
            <a:ext cx="2651760" cy="2103120"/>
          </a:xfrm>
          <a:prstGeom prst="roundRect">
            <a:avLst>
              <a:gd name="adj" fmla="val 3478"/>
            </a:avLst>
          </a:prstGeom>
          <a:solidFill>
            <a:srgbClr val="F2F4F8"/>
          </a:solidFill>
          <a:ln w="12700">
            <a:solidFill>
              <a:srgbClr val="F2F4F8"/>
            </a:solidFill>
            <a:prstDash val="solid"/>
          </a:ln>
        </p:spPr>
      </p:sp>
      <p:sp>
        <p:nvSpPr>
          <p:cNvPr id="7" name="Text 5"/>
          <p:cNvSpPr txBox="1"/>
          <p:nvPr/>
        </p:nvSpPr>
        <p:spPr>
          <a:xfrm>
            <a:off x="685800" y="1609344"/>
            <a:ext cx="2194560" cy="237744"/>
          </a:xfrm>
          <a:prstGeom prst="rect">
            <a:avLst/>
          </a:prstGeom>
          <a:noFill/>
          <a:ln/>
        </p:spPr>
        <p:txBody>
          <a:bodyPr wrap="square" lIns="0" tIns="0" rIns="0" bIns="0" rtlCol="0" anchor="ctr"/>
          <a:lstStyle/>
          <a:p>
            <a:pPr marL="0" indent="0">
              <a:buNone/>
            </a:pPr>
            <a:r>
              <a:rPr lang="en-US" sz="950" b="1" kern="0" spc="100" dirty="0">
                <a:solidFill>
                  <a:srgbClr val="0369A1"/>
                </a:solidFill>
                <a:latin typeface="Courier New" pitchFamily="34" charset="0"/>
                <a:ea typeface="Courier New" pitchFamily="34" charset="-122"/>
                <a:cs typeface="Courier New" pitchFamily="34" charset="-120"/>
              </a:rPr>
              <a:t>Κεφ. 8</a:t>
            </a:r>
            <a:endParaRPr lang="en-US" sz="950" dirty="0"/>
          </a:p>
        </p:txBody>
      </p:sp>
      <p:sp>
        <p:nvSpPr>
          <p:cNvPr id="8" name="Text 6"/>
          <p:cNvSpPr txBox="1"/>
          <p:nvPr/>
        </p:nvSpPr>
        <p:spPr>
          <a:xfrm>
            <a:off x="685800" y="1874520"/>
            <a:ext cx="2286000" cy="310896"/>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Δίκτυα</a:t>
            </a:r>
            <a:endParaRPr lang="en-US" sz="1450" dirty="0"/>
          </a:p>
        </p:txBody>
      </p:sp>
      <p:sp>
        <p:nvSpPr>
          <p:cNvPr id="9" name="Text 7"/>
          <p:cNvSpPr txBox="1"/>
          <p:nvPr/>
        </p:nvSpPr>
        <p:spPr>
          <a:xfrm>
            <a:off x="685800" y="2249424"/>
            <a:ext cx="2286000" cy="1188720"/>
          </a:xfrm>
          <a:prstGeom prst="rect">
            <a:avLst/>
          </a:prstGeom>
          <a:noFill/>
          <a:ln/>
        </p:spPr>
        <p:txBody>
          <a:bodyPr wrap="square" lIns="0" tIns="0" rIns="0" bIns="0" rtlCol="0" anchor="ctr"/>
          <a:lstStyle/>
          <a:p>
            <a:pPr marL="0" indent="0">
              <a:lnSpc>
                <a:spcPts val="1600"/>
              </a:lnSpc>
              <a:buNone/>
            </a:pPr>
            <a:r>
              <a:rPr lang="en-US" sz="1150" dirty="0">
                <a:solidFill>
                  <a:srgbClr val="6B7480"/>
                </a:solidFill>
                <a:latin typeface="Calibri" pitchFamily="34" charset="0"/>
                <a:ea typeface="Calibri" pitchFamily="34" charset="-122"/>
                <a:cs typeface="Calibri" pitchFamily="34" charset="-120"/>
              </a:rPr>
              <a:t>Πρωτόκολλα, ενσύρματα και ασύρματα, LAN / MAN / WAN, τοπολογίες. Και γιατί το savoir vivre είναι κι αυτό πρωτόκολλο.</a:t>
            </a:r>
            <a:endParaRPr lang="en-US" sz="1150" dirty="0"/>
          </a:p>
        </p:txBody>
      </p:sp>
      <p:sp>
        <p:nvSpPr>
          <p:cNvPr id="10" name="Shape 8"/>
          <p:cNvSpPr/>
          <p:nvPr/>
        </p:nvSpPr>
        <p:spPr>
          <a:xfrm>
            <a:off x="3246120" y="1463040"/>
            <a:ext cx="2651760" cy="2103120"/>
          </a:xfrm>
          <a:prstGeom prst="roundRect">
            <a:avLst>
              <a:gd name="adj" fmla="val 3478"/>
            </a:avLst>
          </a:prstGeom>
          <a:solidFill>
            <a:srgbClr val="F2F4F8"/>
          </a:solidFill>
          <a:ln w="12700">
            <a:solidFill>
              <a:srgbClr val="F2F4F8"/>
            </a:solidFill>
            <a:prstDash val="solid"/>
          </a:ln>
        </p:spPr>
      </p:sp>
      <p:sp>
        <p:nvSpPr>
          <p:cNvPr id="11" name="Text 9"/>
          <p:cNvSpPr txBox="1"/>
          <p:nvPr/>
        </p:nvSpPr>
        <p:spPr>
          <a:xfrm>
            <a:off x="3447288" y="1609344"/>
            <a:ext cx="2194560" cy="237744"/>
          </a:xfrm>
          <a:prstGeom prst="rect">
            <a:avLst/>
          </a:prstGeom>
          <a:noFill/>
          <a:ln/>
        </p:spPr>
        <p:txBody>
          <a:bodyPr wrap="square" lIns="0" tIns="0" rIns="0" bIns="0" rtlCol="0" anchor="ctr"/>
          <a:lstStyle/>
          <a:p>
            <a:pPr marL="0" indent="0">
              <a:buNone/>
            </a:pPr>
            <a:r>
              <a:rPr lang="en-US" sz="950" b="1" kern="0" spc="100" dirty="0">
                <a:solidFill>
                  <a:srgbClr val="0369A1"/>
                </a:solidFill>
                <a:latin typeface="Courier New" pitchFamily="34" charset="0"/>
                <a:ea typeface="Courier New" pitchFamily="34" charset="-122"/>
                <a:cs typeface="Courier New" pitchFamily="34" charset="-120"/>
              </a:rPr>
              <a:t>Κεφ. 9</a:t>
            </a:r>
            <a:endParaRPr lang="en-US" sz="950" dirty="0"/>
          </a:p>
        </p:txBody>
      </p:sp>
      <p:sp>
        <p:nvSpPr>
          <p:cNvPr id="12" name="Text 10"/>
          <p:cNvSpPr txBox="1"/>
          <p:nvPr/>
        </p:nvSpPr>
        <p:spPr>
          <a:xfrm>
            <a:off x="3447288" y="1874520"/>
            <a:ext cx="2286000" cy="310896"/>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Web 1.0 → X.0</a:t>
            </a:r>
            <a:endParaRPr lang="en-US" sz="1450" dirty="0"/>
          </a:p>
        </p:txBody>
      </p:sp>
      <p:sp>
        <p:nvSpPr>
          <p:cNvPr id="13" name="Text 11"/>
          <p:cNvSpPr txBox="1"/>
          <p:nvPr/>
        </p:nvSpPr>
        <p:spPr>
          <a:xfrm>
            <a:off x="3447288" y="2249424"/>
            <a:ext cx="2286000" cy="1188720"/>
          </a:xfrm>
          <a:prstGeom prst="rect">
            <a:avLst/>
          </a:prstGeom>
          <a:noFill/>
          <a:ln/>
        </p:spPr>
        <p:txBody>
          <a:bodyPr wrap="square" lIns="0" tIns="0" rIns="0" bIns="0" rtlCol="0" anchor="ctr"/>
          <a:lstStyle/>
          <a:p>
            <a:pPr marL="0" indent="0">
              <a:lnSpc>
                <a:spcPts val="1600"/>
              </a:lnSpc>
              <a:buNone/>
            </a:pPr>
            <a:r>
              <a:rPr lang="en-US" sz="1150" dirty="0">
                <a:solidFill>
                  <a:srgbClr val="6B7480"/>
                </a:solidFill>
                <a:latin typeface="Calibri" pitchFamily="34" charset="0"/>
                <a:ea typeface="Calibri" pitchFamily="34" charset="-122"/>
                <a:cs typeface="Calibri" pitchFamily="34" charset="-120"/>
              </a:rPr>
              <a:t>ARPANET, το πρώτο e-mail το 1971, ο Παγκόσμιος Ιστός του Berners-Lee το 1990. Δεδομένα → άτομα → γνώσεις → νοημοσύνες.</a:t>
            </a:r>
            <a:endParaRPr lang="en-US" sz="1150" dirty="0"/>
          </a:p>
        </p:txBody>
      </p:sp>
      <p:sp>
        <p:nvSpPr>
          <p:cNvPr id="14" name="Shape 12"/>
          <p:cNvSpPr/>
          <p:nvPr/>
        </p:nvSpPr>
        <p:spPr>
          <a:xfrm>
            <a:off x="6007608" y="1463040"/>
            <a:ext cx="2651760" cy="2103120"/>
          </a:xfrm>
          <a:prstGeom prst="roundRect">
            <a:avLst>
              <a:gd name="adj" fmla="val 3478"/>
            </a:avLst>
          </a:prstGeom>
          <a:solidFill>
            <a:srgbClr val="F2F4F8"/>
          </a:solidFill>
          <a:ln w="12700">
            <a:solidFill>
              <a:srgbClr val="F2F4F8"/>
            </a:solidFill>
            <a:prstDash val="solid"/>
          </a:ln>
        </p:spPr>
      </p:sp>
      <p:sp>
        <p:nvSpPr>
          <p:cNvPr id="15" name="Text 13"/>
          <p:cNvSpPr txBox="1"/>
          <p:nvPr/>
        </p:nvSpPr>
        <p:spPr>
          <a:xfrm>
            <a:off x="6208776" y="1609344"/>
            <a:ext cx="2194560" cy="237744"/>
          </a:xfrm>
          <a:prstGeom prst="rect">
            <a:avLst/>
          </a:prstGeom>
          <a:noFill/>
          <a:ln/>
        </p:spPr>
        <p:txBody>
          <a:bodyPr wrap="square" lIns="0" tIns="0" rIns="0" bIns="0" rtlCol="0" anchor="ctr"/>
          <a:lstStyle/>
          <a:p>
            <a:pPr marL="0" indent="0">
              <a:buNone/>
            </a:pPr>
            <a:r>
              <a:rPr lang="en-US" sz="950" b="1" kern="0" spc="100" dirty="0">
                <a:solidFill>
                  <a:srgbClr val="0369A1"/>
                </a:solidFill>
                <a:latin typeface="Courier New" pitchFamily="34" charset="0"/>
                <a:ea typeface="Courier New" pitchFamily="34" charset="-122"/>
                <a:cs typeface="Courier New" pitchFamily="34" charset="-120"/>
              </a:rPr>
              <a:t>Κεφ. 10</a:t>
            </a:r>
            <a:endParaRPr lang="en-US" sz="950" dirty="0"/>
          </a:p>
        </p:txBody>
      </p:sp>
      <p:sp>
        <p:nvSpPr>
          <p:cNvPr id="16" name="Text 14"/>
          <p:cNvSpPr txBox="1"/>
          <p:nvPr/>
        </p:nvSpPr>
        <p:spPr>
          <a:xfrm>
            <a:off x="6208776" y="1874520"/>
            <a:ext cx="2286000" cy="310896"/>
          </a:xfrm>
          <a:prstGeom prst="rect">
            <a:avLst/>
          </a:prstGeom>
          <a:noFill/>
          <a:ln/>
        </p:spPr>
        <p:txBody>
          <a:bodyPr wrap="square" lIns="0" tIns="0" rIns="0" bIns="0" rtlCol="0" anchor="ctr"/>
          <a:lstStyle/>
          <a:p>
            <a:pPr marL="0" indent="0">
              <a:buNone/>
            </a:pPr>
            <a:r>
              <a:rPr lang="en-US" sz="1450" b="1" dirty="0">
                <a:solidFill>
                  <a:srgbClr val="171B22"/>
                </a:solidFill>
                <a:latin typeface="Calibri" pitchFamily="34" charset="0"/>
                <a:ea typeface="Calibri" pitchFamily="34" charset="-122"/>
                <a:cs typeface="Calibri" pitchFamily="34" charset="-120"/>
              </a:rPr>
              <a:t>Υπηρεσίες</a:t>
            </a:r>
            <a:endParaRPr lang="en-US" sz="1450" dirty="0"/>
          </a:p>
        </p:txBody>
      </p:sp>
      <p:sp>
        <p:nvSpPr>
          <p:cNvPr id="17" name="Text 15"/>
          <p:cNvSpPr txBox="1"/>
          <p:nvPr/>
        </p:nvSpPr>
        <p:spPr>
          <a:xfrm>
            <a:off x="6208776" y="2249424"/>
            <a:ext cx="2286000" cy="1188720"/>
          </a:xfrm>
          <a:prstGeom prst="rect">
            <a:avLst/>
          </a:prstGeom>
          <a:noFill/>
          <a:ln/>
        </p:spPr>
        <p:txBody>
          <a:bodyPr wrap="square" lIns="0" tIns="0" rIns="0" bIns="0" rtlCol="0" anchor="ctr"/>
          <a:lstStyle/>
          <a:p>
            <a:pPr marL="0" indent="0">
              <a:lnSpc>
                <a:spcPts val="1600"/>
              </a:lnSpc>
              <a:buNone/>
            </a:pPr>
            <a:r>
              <a:rPr lang="en-US" sz="1150" dirty="0">
                <a:solidFill>
                  <a:srgbClr val="6B7480"/>
                </a:solidFill>
                <a:latin typeface="Calibri" pitchFamily="34" charset="0"/>
                <a:ea typeface="Calibri" pitchFamily="34" charset="-122"/>
                <a:cs typeface="Calibri" pitchFamily="34" charset="-120"/>
              </a:rPr>
              <a:t>E-mail, μεταφορά αρχείων, ομότιμα δίκτυα, απομακρυσμένος έλεγχος, βιντεοκλήσεις, συναλλαγές.</a:t>
            </a:r>
            <a:endParaRPr lang="en-US" sz="1150" dirty="0"/>
          </a:p>
        </p:txBody>
      </p:sp>
      <p:sp>
        <p:nvSpPr>
          <p:cNvPr id="18" name="Shape 16"/>
          <p:cNvSpPr/>
          <p:nvPr/>
        </p:nvSpPr>
        <p:spPr>
          <a:xfrm>
            <a:off x="484632" y="3794760"/>
            <a:ext cx="8174736" cy="822960"/>
          </a:xfrm>
          <a:prstGeom prst="roundRect">
            <a:avLst>
              <a:gd name="adj" fmla="val 8889"/>
            </a:avLst>
          </a:prstGeom>
          <a:solidFill>
            <a:srgbClr val="E8F6FD"/>
          </a:solidFill>
          <a:ln w="12700">
            <a:solidFill>
              <a:srgbClr val="E8F6FD"/>
            </a:solidFill>
            <a:prstDash val="solid"/>
          </a:ln>
        </p:spPr>
      </p:sp>
      <p:sp>
        <p:nvSpPr>
          <p:cNvPr id="19" name="Text 17"/>
          <p:cNvSpPr txBox="1"/>
          <p:nvPr/>
        </p:nvSpPr>
        <p:spPr>
          <a:xfrm>
            <a:off x="685800" y="3913632"/>
            <a:ext cx="7772400" cy="585216"/>
          </a:xfrm>
          <a:prstGeom prst="rect">
            <a:avLst/>
          </a:prstGeom>
          <a:noFill/>
          <a:ln/>
        </p:spPr>
        <p:txBody>
          <a:bodyPr wrap="square" lIns="0" tIns="0" rIns="0" bIns="0" rtlCol="0" anchor="t"/>
          <a:lstStyle/>
          <a:p>
            <a:pPr marL="0" indent="0">
              <a:lnSpc>
                <a:spcPts val="1600"/>
              </a:lnSpc>
              <a:buNone/>
            </a:pPr>
            <a:r>
              <a:rPr lang="en-US" sz="1150" b="1" dirty="0">
                <a:solidFill>
                  <a:srgbClr val="0369A1"/>
                </a:solidFill>
                <a:latin typeface="Calibri" pitchFamily="34" charset="0"/>
                <a:ea typeface="Calibri" pitchFamily="34" charset="-122"/>
                <a:cs typeface="Calibri" pitchFamily="34" charset="-120"/>
              </a:rPr>
              <a:t>Η πρώτη άσκηση του κεφαλαίου 8 είναι από τον Αισχύλο:</a:t>
            </a:r>
            <a:endParaRPr lang="en-US" sz="1150" dirty="0"/>
          </a:p>
          <a:p>
            <a:pPr marL="0" indent="0">
              <a:lnSpc>
                <a:spcPts val="1600"/>
              </a:lnSpc>
              <a:buNone/>
            </a:pPr>
            <a:r>
              <a:rPr lang="en-US" sz="1150" dirty="0">
                <a:solidFill>
                  <a:srgbClr val="171B22"/>
                </a:solidFill>
                <a:latin typeface="Calibri" pitchFamily="34" charset="0"/>
                <a:ea typeface="Calibri" pitchFamily="34" charset="-122"/>
                <a:cs typeface="Calibri" pitchFamily="34" charset="-120"/>
              </a:rPr>
              <a:t>πόση ώρα έκανε η είδηση ότι έπεσε η Τροία να φτάσει στις Μυκήνες, με φωτιές από βουνό σε βουνό; Υπολόγισέ το — και σύγκρινέ το με το μήνυμα που μόλις έστειλες.</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38BDF8"/>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0369A1"/>
                </a:solidFill>
                <a:latin typeface="Courier New" pitchFamily="34" charset="0"/>
                <a:ea typeface="Courier New" pitchFamily="34" charset="-122"/>
                <a:cs typeface="Courier New" pitchFamily="34" charset="-120"/>
              </a:rPr>
              <a:t>ΕΝΟΤΗΤΑ 3  ·  ΚΕΦΑΛΑΙΑ 11 &amp; 12</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marL="0" indent="0">
              <a:buNone/>
            </a:pPr>
            <a:r>
              <a:rPr lang="en-US" sz="3200" b="1" dirty="0">
                <a:solidFill>
                  <a:srgbClr val="171B22"/>
                </a:solidFill>
                <a:latin typeface="Calibri" pitchFamily="34" charset="0"/>
                <a:ea typeface="Calibri" pitchFamily="34" charset="-122"/>
                <a:cs typeface="Calibri" pitchFamily="34" charset="-120"/>
              </a:rPr>
              <a:t>Γράψε τη δική σου ιστοσελίδα</a:t>
            </a:r>
            <a:endParaRPr lang="en-US" sz="3200" dirty="0"/>
          </a:p>
        </p:txBody>
      </p:sp>
      <p:sp>
        <p:nvSpPr>
          <p:cNvPr id="6" name="Text 4"/>
          <p:cNvSpPr txBox="1"/>
          <p:nvPr/>
        </p:nvSpPr>
        <p:spPr>
          <a:xfrm>
            <a:off x="566928" y="1572768"/>
            <a:ext cx="4617720" cy="141732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HTML: ετικέτες, επικεφαλίδες, σύνδεσμοι, εικόνες</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HTML5: βίντεο και ήχος χωρίς πρόσθετα, canvas, δομή σελίδας</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CSS: η εμφάνιση ξεχωριστά από το περιεχόμενο</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Ενσωμάτωση χάρτη ή βίντεο μέσα στη σελίδα σου</a:t>
            </a:r>
            <a:endParaRPr lang="en-US" sz="1250" dirty="0"/>
          </a:p>
        </p:txBody>
      </p:sp>
      <p:sp>
        <p:nvSpPr>
          <p:cNvPr id="7" name="Shape 5"/>
          <p:cNvSpPr/>
          <p:nvPr/>
        </p:nvSpPr>
        <p:spPr>
          <a:xfrm>
            <a:off x="548640" y="3154680"/>
            <a:ext cx="4663440" cy="1234440"/>
          </a:xfrm>
          <a:prstGeom prst="roundRect">
            <a:avLst>
              <a:gd name="adj" fmla="val 5926"/>
            </a:avLst>
          </a:prstGeom>
          <a:solidFill>
            <a:srgbClr val="F1EDFE"/>
          </a:solidFill>
          <a:ln w="12700">
            <a:solidFill>
              <a:srgbClr val="F1EDFE"/>
            </a:solidFill>
            <a:prstDash val="solid"/>
          </a:ln>
        </p:spPr>
      </p:sp>
      <p:sp>
        <p:nvSpPr>
          <p:cNvPr id="8" name="Text 6"/>
          <p:cNvSpPr txBox="1"/>
          <p:nvPr/>
        </p:nvSpPr>
        <p:spPr>
          <a:xfrm>
            <a:off x="749808" y="3273552"/>
            <a:ext cx="4261104" cy="996696"/>
          </a:xfrm>
          <a:prstGeom prst="rect">
            <a:avLst/>
          </a:prstGeom>
          <a:noFill/>
          <a:ln/>
        </p:spPr>
        <p:txBody>
          <a:bodyPr wrap="square" lIns="0" tIns="0" rIns="0" bIns="0" rtlCol="0" anchor="t"/>
          <a:lstStyle/>
          <a:p>
            <a:pPr marL="0" indent="0">
              <a:lnSpc>
                <a:spcPts val="1600"/>
              </a:lnSpc>
              <a:buNone/>
            </a:pPr>
            <a:r>
              <a:rPr lang="en-US" sz="1150" b="1" dirty="0">
                <a:solidFill>
                  <a:srgbClr val="5B3FD1"/>
                </a:solidFill>
                <a:latin typeface="Calibri" pitchFamily="34" charset="0"/>
                <a:ea typeface="Calibri" pitchFamily="34" charset="-122"/>
                <a:cs typeface="Calibri" pitchFamily="34" charset="-120"/>
              </a:rPr>
              <a:t>Κεφ. 12 · Η μάθηση στο Διαδίκτυο</a:t>
            </a:r>
            <a:endParaRPr lang="en-US" sz="1150" dirty="0"/>
          </a:p>
          <a:p>
            <a:pPr marL="0" indent="0">
              <a:lnSpc>
                <a:spcPts val="1600"/>
              </a:lnSpc>
              <a:buNone/>
            </a:pPr>
            <a:r>
              <a:rPr lang="en-US" sz="1150" dirty="0">
                <a:solidFill>
                  <a:srgbClr val="171B22"/>
                </a:solidFill>
                <a:latin typeface="Calibri" pitchFamily="34" charset="0"/>
                <a:ea typeface="Calibri" pitchFamily="34" charset="-122"/>
                <a:cs typeface="Calibri" pitchFamily="34" charset="-120"/>
              </a:rPr>
              <a:t>Moodle, Open eClass, edX, Coursera. Το 2011 ένα μάθημα Τεχνητής Νοημοσύνης του Stanford είχε 160.000 εγγραφές — δωρεάν.</a:t>
            </a:r>
            <a:endParaRPr lang="en-US" sz="1150" dirty="0"/>
          </a:p>
        </p:txBody>
      </p:sp>
      <p:sp>
        <p:nvSpPr>
          <p:cNvPr id="9" name="Shape 7"/>
          <p:cNvSpPr/>
          <p:nvPr/>
        </p:nvSpPr>
        <p:spPr>
          <a:xfrm>
            <a:off x="5394960" y="1627632"/>
            <a:ext cx="3246120" cy="2651760"/>
          </a:xfrm>
          <a:prstGeom prst="roundRect">
            <a:avLst>
              <a:gd name="adj" fmla="val 2759"/>
            </a:avLst>
          </a:prstGeom>
          <a:solidFill>
            <a:srgbClr val="1D222C"/>
          </a:solidFill>
          <a:ln w="12700">
            <a:solidFill>
              <a:srgbClr val="1D222C"/>
            </a:solidFill>
            <a:prstDash val="solid"/>
          </a:ln>
        </p:spPr>
      </p:sp>
      <p:sp>
        <p:nvSpPr>
          <p:cNvPr id="10" name="Shape 8"/>
          <p:cNvSpPr/>
          <p:nvPr/>
        </p:nvSpPr>
        <p:spPr>
          <a:xfrm>
            <a:off x="5614416" y="1828800"/>
            <a:ext cx="91440" cy="91440"/>
          </a:xfrm>
          <a:prstGeom prst="ellipse">
            <a:avLst/>
          </a:prstGeom>
          <a:solidFill>
            <a:srgbClr val="FF5F56"/>
          </a:solidFill>
          <a:ln w="12700">
            <a:solidFill>
              <a:srgbClr val="FF5F56"/>
            </a:solidFill>
            <a:prstDash val="solid"/>
          </a:ln>
        </p:spPr>
      </p:sp>
      <p:sp>
        <p:nvSpPr>
          <p:cNvPr id="11" name="Shape 9"/>
          <p:cNvSpPr/>
          <p:nvPr/>
        </p:nvSpPr>
        <p:spPr>
          <a:xfrm>
            <a:off x="5788152" y="1828800"/>
            <a:ext cx="91440" cy="91440"/>
          </a:xfrm>
          <a:prstGeom prst="ellipse">
            <a:avLst/>
          </a:prstGeom>
          <a:solidFill>
            <a:srgbClr val="FFBD2E"/>
          </a:solidFill>
          <a:ln w="12700">
            <a:solidFill>
              <a:srgbClr val="FFBD2E"/>
            </a:solidFill>
            <a:prstDash val="solid"/>
          </a:ln>
        </p:spPr>
      </p:sp>
      <p:sp>
        <p:nvSpPr>
          <p:cNvPr id="12" name="Shape 10"/>
          <p:cNvSpPr/>
          <p:nvPr/>
        </p:nvSpPr>
        <p:spPr>
          <a:xfrm>
            <a:off x="5961888" y="1828800"/>
            <a:ext cx="91440" cy="91440"/>
          </a:xfrm>
          <a:prstGeom prst="ellipse">
            <a:avLst/>
          </a:prstGeom>
          <a:solidFill>
            <a:srgbClr val="27C93F"/>
          </a:solidFill>
          <a:ln w="12700">
            <a:solidFill>
              <a:srgbClr val="27C93F"/>
            </a:solidFill>
            <a:prstDash val="solid"/>
          </a:ln>
        </p:spPr>
      </p:sp>
      <p:sp>
        <p:nvSpPr>
          <p:cNvPr id="13" name="Text 11"/>
          <p:cNvSpPr txBox="1"/>
          <p:nvPr/>
        </p:nvSpPr>
        <p:spPr>
          <a:xfrm>
            <a:off x="5596128" y="2103120"/>
            <a:ext cx="2862072" cy="2011680"/>
          </a:xfrm>
          <a:prstGeom prst="rect">
            <a:avLst/>
          </a:prstGeom>
          <a:noFill/>
          <a:ln/>
        </p:spPr>
        <p:txBody>
          <a:bodyPr wrap="square" lIns="0" tIns="0" rIns="0" bIns="0" rtlCol="0" anchor="t"/>
          <a:lstStyle/>
          <a:p>
            <a:pPr marL="0" indent="0">
              <a:lnSpc>
                <a:spcPts val="1700"/>
              </a:lnSpc>
              <a:buNone/>
            </a:pPr>
            <a:r>
              <a:rPr lang="en-US" sz="1050" dirty="0">
                <a:solidFill>
                  <a:srgbClr val="00D68F"/>
                </a:solidFill>
                <a:latin typeface="Courier New" pitchFamily="34" charset="0"/>
                <a:ea typeface="Courier New" pitchFamily="34" charset="-122"/>
                <a:cs typeface="Courier New" pitchFamily="34" charset="-120"/>
              </a:rPr>
              <a:t>&lt;h1&gt;Η πόλη μου&lt;/h1&gt;</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&lt;p&gt;Λίγα λόγια...&lt;/p&gt;</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&lt;img src="foto.jpg"&gt;</a:t>
            </a:r>
            <a:endParaRPr lang="en-US" sz="1050" dirty="0"/>
          </a:p>
          <a:p>
            <a:pPr marL="0" indent="0">
              <a:lnSpc>
                <a:spcPts val="1700"/>
              </a:lnSpc>
              <a:buNone/>
            </a:pPr>
            <a:r>
              <a:rPr lang="en-US" sz="1050" dirty="0">
                <a:solidFill>
                  <a:srgbClr val="38BDF8"/>
                </a:solidFill>
                <a:latin typeface="Courier New" pitchFamily="34" charset="0"/>
                <a:ea typeface="Courier New" pitchFamily="34" charset="-122"/>
                <a:cs typeface="Courier New" pitchFamily="34" charset="-120"/>
              </a:rPr>
              <a:t>&lt;a href="p2.html"&gt;</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   Επόμενη</a:t>
            </a:r>
            <a:endParaRPr lang="en-US" sz="1050" dirty="0"/>
          </a:p>
          <a:p>
            <a:pPr marL="0" indent="0">
              <a:lnSpc>
                <a:spcPts val="1700"/>
              </a:lnSpc>
              <a:buNone/>
            </a:pPr>
            <a:r>
              <a:rPr lang="en-US" sz="1050" dirty="0">
                <a:solidFill>
                  <a:srgbClr val="38BDF8"/>
                </a:solidFill>
                <a:latin typeface="Courier New" pitchFamily="34" charset="0"/>
                <a:ea typeface="Courier New" pitchFamily="34" charset="-122"/>
                <a:cs typeface="Courier New" pitchFamily="34" charset="-120"/>
              </a:rPr>
              <a:t>&lt;/a&gt;</a:t>
            </a:r>
            <a:endParaRPr lang="en-US" sz="1050" dirty="0"/>
          </a:p>
          <a:p>
            <a:pPr marL="0" indent="0">
              <a:lnSpc>
                <a:spcPts val="1700"/>
              </a:lnSpc>
              <a:buNone/>
            </a:pPr>
            <a:r>
              <a:rPr lang="en-US" sz="1050" dirty="0">
                <a:solidFill>
                  <a:srgbClr val="D7DEE8"/>
                </a:solidFill>
                <a:latin typeface="Courier New" pitchFamily="34" charset="0"/>
                <a:ea typeface="Courier New" pitchFamily="34" charset="-122"/>
                <a:cs typeface="Courier New" pitchFamily="34" charset="-120"/>
              </a:rPr>
              <a:t> </a:t>
            </a:r>
            <a:endParaRPr lang="en-US" sz="1050" dirty="0"/>
          </a:p>
          <a:p>
            <a:pPr marL="0" indent="0">
              <a:lnSpc>
                <a:spcPts val="1700"/>
              </a:lnSpc>
              <a:buNone/>
            </a:pPr>
            <a:r>
              <a:rPr lang="en-US" sz="1050" dirty="0">
                <a:solidFill>
                  <a:srgbClr val="5C6879"/>
                </a:solidFill>
                <a:latin typeface="Courier New" pitchFamily="34" charset="0"/>
                <a:ea typeface="Courier New" pitchFamily="34" charset="-122"/>
                <a:cs typeface="Courier New" pitchFamily="34" charset="-120"/>
              </a:rPr>
              <a:t># Αρκεί το Σημειωματάριο.</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FF8A75"/>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marL="0" indent="0" algn="ctr">
              <a:buNone/>
            </a:pPr>
            <a:r>
              <a:rPr lang="en-US" sz="1200" b="1" dirty="0">
                <a:solidFill>
                  <a:srgbClr val="12151C"/>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941832" y="420624"/>
            <a:ext cx="6400800" cy="310896"/>
          </a:xfrm>
          <a:prstGeom prst="rect">
            <a:avLst/>
          </a:prstGeom>
          <a:noFill/>
          <a:ln/>
        </p:spPr>
        <p:txBody>
          <a:bodyPr wrap="square" lIns="0" tIns="0" rIns="0" bIns="0" rtlCol="0" anchor="ctr"/>
          <a:lstStyle/>
          <a:p>
            <a:pPr marL="0" indent="0">
              <a:buNone/>
            </a:pPr>
            <a:r>
              <a:rPr lang="en-US" sz="1050" b="1" kern="0" spc="160" dirty="0">
                <a:solidFill>
                  <a:srgbClr val="C23A22"/>
                </a:solidFill>
                <a:latin typeface="Courier New" pitchFamily="34" charset="0"/>
                <a:ea typeface="Courier New" pitchFamily="34" charset="-122"/>
                <a:cs typeface="Courier New" pitchFamily="34" charset="-120"/>
              </a:rPr>
              <a:t>ΕΝΟΤΗΤΑ 4  ·  ΚΕΦΑΛΑΙΑ 13, 14, 15, 16</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marL="0" indent="0">
              <a:buNone/>
            </a:pPr>
            <a:r>
              <a:rPr lang="en-US" sz="3200" b="1" dirty="0">
                <a:solidFill>
                  <a:srgbClr val="171B22"/>
                </a:solidFill>
                <a:latin typeface="Calibri" pitchFamily="34" charset="0"/>
                <a:ea typeface="Calibri" pitchFamily="34" charset="-122"/>
                <a:cs typeface="Calibri" pitchFamily="34" charset="-120"/>
              </a:rPr>
              <a:t>Συνεργασία, νέφος, ασφάλεια</a:t>
            </a:r>
            <a:endParaRPr lang="en-US" sz="3200" dirty="0"/>
          </a:p>
        </p:txBody>
      </p:sp>
      <p:sp>
        <p:nvSpPr>
          <p:cNvPr id="6" name="Shape 4"/>
          <p:cNvSpPr/>
          <p:nvPr/>
        </p:nvSpPr>
        <p:spPr>
          <a:xfrm>
            <a:off x="548640" y="1417320"/>
            <a:ext cx="3931920" cy="1161288"/>
          </a:xfrm>
          <a:prstGeom prst="roundRect">
            <a:avLst>
              <a:gd name="adj" fmla="val 6299"/>
            </a:avLst>
          </a:prstGeom>
          <a:solidFill>
            <a:srgbClr val="F2F4F8"/>
          </a:solidFill>
          <a:ln w="12700">
            <a:solidFill>
              <a:srgbClr val="F2F4F8"/>
            </a:solidFill>
            <a:prstDash val="solid"/>
          </a:ln>
        </p:spPr>
      </p:sp>
      <p:sp>
        <p:nvSpPr>
          <p:cNvPr id="7" name="Text 5"/>
          <p:cNvSpPr txBox="1"/>
          <p:nvPr/>
        </p:nvSpPr>
        <p:spPr>
          <a:xfrm>
            <a:off x="749808" y="1545336"/>
            <a:ext cx="3566160" cy="274320"/>
          </a:xfrm>
          <a:prstGeom prst="rect">
            <a:avLst/>
          </a:prstGeom>
          <a:noFill/>
          <a:ln/>
        </p:spPr>
        <p:txBody>
          <a:bodyPr wrap="square" lIns="0" tIns="0" rIns="0" bIns="0" rtlCol="0" anchor="ctr"/>
          <a:lstStyle/>
          <a:p>
            <a:pPr marL="0" indent="0">
              <a:buNone/>
            </a:pPr>
            <a:r>
              <a:rPr lang="en-US" sz="1350" b="1" dirty="0">
                <a:solidFill>
                  <a:srgbClr val="0369A1"/>
                </a:solidFill>
                <a:latin typeface="Calibri" pitchFamily="34" charset="0"/>
                <a:ea typeface="Calibri" pitchFamily="34" charset="-122"/>
                <a:cs typeface="Calibri" pitchFamily="34" charset="-120"/>
              </a:rPr>
              <a:t>13  Εφαρμογές νέφους</a:t>
            </a:r>
            <a:endParaRPr lang="en-US" sz="1350" dirty="0"/>
          </a:p>
        </p:txBody>
      </p:sp>
      <p:sp>
        <p:nvSpPr>
          <p:cNvPr id="8" name="Text 6"/>
          <p:cNvSpPr txBox="1"/>
          <p:nvPr/>
        </p:nvSpPr>
        <p:spPr>
          <a:xfrm>
            <a:off x="749808" y="183794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SaaS, PaaS, IaaS. Τα αρχεία σου δεν είναι «κάπου» — είναι σε κάποιου άλλου τον υπολογιστή</a:t>
            </a:r>
            <a:endParaRPr lang="en-US" sz="1150" dirty="0"/>
          </a:p>
        </p:txBody>
      </p:sp>
      <p:sp>
        <p:nvSpPr>
          <p:cNvPr id="9" name="Shape 7"/>
          <p:cNvSpPr/>
          <p:nvPr/>
        </p:nvSpPr>
        <p:spPr>
          <a:xfrm>
            <a:off x="4709160" y="1417320"/>
            <a:ext cx="3931920" cy="1161288"/>
          </a:xfrm>
          <a:prstGeom prst="roundRect">
            <a:avLst>
              <a:gd name="adj" fmla="val 6299"/>
            </a:avLst>
          </a:prstGeom>
          <a:solidFill>
            <a:srgbClr val="F2F4F8"/>
          </a:solidFill>
          <a:ln w="12700">
            <a:solidFill>
              <a:srgbClr val="F2F4F8"/>
            </a:solidFill>
            <a:prstDash val="solid"/>
          </a:ln>
        </p:spPr>
      </p:sp>
      <p:sp>
        <p:nvSpPr>
          <p:cNvPr id="10" name="Text 8"/>
          <p:cNvSpPr txBox="1"/>
          <p:nvPr/>
        </p:nvSpPr>
        <p:spPr>
          <a:xfrm>
            <a:off x="4910328" y="1545336"/>
            <a:ext cx="3566160" cy="274320"/>
          </a:xfrm>
          <a:prstGeom prst="rect">
            <a:avLst/>
          </a:prstGeom>
          <a:noFill/>
          <a:ln/>
        </p:spPr>
        <p:txBody>
          <a:bodyPr wrap="square" lIns="0" tIns="0" rIns="0" bIns="0" rtlCol="0" anchor="ctr"/>
          <a:lstStyle/>
          <a:p>
            <a:pPr marL="0" indent="0">
              <a:buNone/>
            </a:pPr>
            <a:r>
              <a:rPr lang="en-US" sz="1350" b="1" dirty="0">
                <a:solidFill>
                  <a:srgbClr val="9A6300"/>
                </a:solidFill>
                <a:latin typeface="Calibri" pitchFamily="34" charset="0"/>
                <a:ea typeface="Calibri" pitchFamily="34" charset="-122"/>
                <a:cs typeface="Calibri" pitchFamily="34" charset="-120"/>
              </a:rPr>
              <a:t>14  Τηλεργασία</a:t>
            </a:r>
            <a:endParaRPr lang="en-US" sz="1350" dirty="0"/>
          </a:p>
        </p:txBody>
      </p:sp>
      <p:sp>
        <p:nvSpPr>
          <p:cNvPr id="11" name="Text 9"/>
          <p:cNvSpPr txBox="1"/>
          <p:nvPr/>
        </p:nvSpPr>
        <p:spPr>
          <a:xfrm>
            <a:off x="4910328" y="183794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Ποια επαγγέλματα γίνονται από απόσταση και ποια όχι. Σύγχρονη και ασύγχρονη συνεργασία</a:t>
            </a:r>
            <a:endParaRPr lang="en-US" sz="1150" dirty="0"/>
          </a:p>
        </p:txBody>
      </p:sp>
      <p:sp>
        <p:nvSpPr>
          <p:cNvPr id="12" name="Shape 10"/>
          <p:cNvSpPr/>
          <p:nvPr/>
        </p:nvSpPr>
        <p:spPr>
          <a:xfrm>
            <a:off x="548640" y="2697480"/>
            <a:ext cx="3931920" cy="1161288"/>
          </a:xfrm>
          <a:prstGeom prst="roundRect">
            <a:avLst>
              <a:gd name="adj" fmla="val 6299"/>
            </a:avLst>
          </a:prstGeom>
          <a:solidFill>
            <a:srgbClr val="F2F4F8"/>
          </a:solidFill>
          <a:ln w="12700">
            <a:solidFill>
              <a:srgbClr val="F2F4F8"/>
            </a:solidFill>
            <a:prstDash val="solid"/>
          </a:ln>
        </p:spPr>
      </p:sp>
      <p:sp>
        <p:nvSpPr>
          <p:cNvPr id="13" name="Text 11"/>
          <p:cNvSpPr txBox="1"/>
          <p:nvPr/>
        </p:nvSpPr>
        <p:spPr>
          <a:xfrm>
            <a:off x="749808" y="2825496"/>
            <a:ext cx="3566160" cy="274320"/>
          </a:xfrm>
          <a:prstGeom prst="rect">
            <a:avLst/>
          </a:prstGeom>
          <a:noFill/>
          <a:ln/>
        </p:spPr>
        <p:txBody>
          <a:bodyPr wrap="square" lIns="0" tIns="0" rIns="0" bIns="0" rtlCol="0" anchor="ctr"/>
          <a:lstStyle/>
          <a:p>
            <a:pPr marL="0" indent="0">
              <a:buNone/>
            </a:pPr>
            <a:r>
              <a:rPr lang="en-US" sz="1350" b="1" dirty="0">
                <a:solidFill>
                  <a:srgbClr val="5B3FD1"/>
                </a:solidFill>
                <a:latin typeface="Calibri" pitchFamily="34" charset="0"/>
                <a:ea typeface="Calibri" pitchFamily="34" charset="-122"/>
                <a:cs typeface="Calibri" pitchFamily="34" charset="-120"/>
              </a:rPr>
              <a:t>15  Κοινωνικά δίκτυα</a:t>
            </a:r>
            <a:endParaRPr lang="en-US" sz="1350" dirty="0"/>
          </a:p>
        </p:txBody>
      </p:sp>
      <p:sp>
        <p:nvSpPr>
          <p:cNvPr id="14" name="Text 12"/>
          <p:cNvSpPr txBox="1"/>
          <p:nvPr/>
        </p:nvSpPr>
        <p:spPr>
          <a:xfrm>
            <a:off x="749808" y="311810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Κατηγορίες, προφίλ, προσωπικά δεδομένα — και τι δίνεις χωρίς να το καταλάβεις</a:t>
            </a:r>
            <a:endParaRPr lang="en-US" sz="1150" dirty="0"/>
          </a:p>
        </p:txBody>
      </p:sp>
      <p:sp>
        <p:nvSpPr>
          <p:cNvPr id="15" name="Shape 13"/>
          <p:cNvSpPr/>
          <p:nvPr/>
        </p:nvSpPr>
        <p:spPr>
          <a:xfrm>
            <a:off x="4709160" y="2697480"/>
            <a:ext cx="3931920" cy="1161288"/>
          </a:xfrm>
          <a:prstGeom prst="roundRect">
            <a:avLst>
              <a:gd name="adj" fmla="val 6299"/>
            </a:avLst>
          </a:prstGeom>
          <a:solidFill>
            <a:srgbClr val="F2F4F8"/>
          </a:solidFill>
          <a:ln w="12700">
            <a:solidFill>
              <a:srgbClr val="F2F4F8"/>
            </a:solidFill>
            <a:prstDash val="solid"/>
          </a:ln>
        </p:spPr>
      </p:sp>
      <p:sp>
        <p:nvSpPr>
          <p:cNvPr id="16" name="Text 14"/>
          <p:cNvSpPr txBox="1"/>
          <p:nvPr/>
        </p:nvSpPr>
        <p:spPr>
          <a:xfrm>
            <a:off x="4910328" y="2825496"/>
            <a:ext cx="3566160" cy="274320"/>
          </a:xfrm>
          <a:prstGeom prst="rect">
            <a:avLst/>
          </a:prstGeom>
          <a:noFill/>
          <a:ln/>
        </p:spPr>
        <p:txBody>
          <a:bodyPr wrap="square" lIns="0" tIns="0" rIns="0" bIns="0" rtlCol="0" anchor="ctr"/>
          <a:lstStyle/>
          <a:p>
            <a:pPr marL="0" indent="0">
              <a:buNone/>
            </a:pPr>
            <a:r>
              <a:rPr lang="en-US" sz="1350" b="1" dirty="0">
                <a:solidFill>
                  <a:srgbClr val="C23A22"/>
                </a:solidFill>
                <a:latin typeface="Calibri" pitchFamily="34" charset="0"/>
                <a:ea typeface="Calibri" pitchFamily="34" charset="-122"/>
                <a:cs typeface="Calibri" pitchFamily="34" charset="-120"/>
              </a:rPr>
              <a:t>16  Ασφάλεια &amp; προστασία</a:t>
            </a:r>
            <a:endParaRPr lang="en-US" sz="1350" dirty="0"/>
          </a:p>
        </p:txBody>
      </p:sp>
      <p:sp>
        <p:nvSpPr>
          <p:cNvPr id="17" name="Text 15"/>
          <p:cNvSpPr txBox="1"/>
          <p:nvPr/>
        </p:nvSpPr>
        <p:spPr>
          <a:xfrm>
            <a:off x="4910328" y="3118104"/>
            <a:ext cx="3566160" cy="621792"/>
          </a:xfrm>
          <a:prstGeom prst="rect">
            <a:avLst/>
          </a:prstGeom>
          <a:noFill/>
          <a:ln/>
        </p:spPr>
        <p:txBody>
          <a:bodyPr wrap="square" lIns="0" tIns="0" rIns="0" bIns="0" rtlCol="0" anchor="ctr"/>
          <a:lstStyle/>
          <a:p>
            <a:pPr marL="0" indent="0">
              <a:lnSpc>
                <a:spcPts val="1500"/>
              </a:lnSpc>
              <a:buNone/>
            </a:pPr>
            <a:r>
              <a:rPr lang="en-US" sz="1150" dirty="0">
                <a:solidFill>
                  <a:srgbClr val="171B22"/>
                </a:solidFill>
                <a:latin typeface="Calibri" pitchFamily="34" charset="0"/>
                <a:ea typeface="Calibri" pitchFamily="34" charset="-122"/>
                <a:cs typeface="Calibri" pitchFamily="34" charset="-120"/>
              </a:rPr>
              <a:t>Κακόβουλο λογισμικό, ηλεκτρονικό ψάρεμα, αξιολόγηση πληροφοριών, ιδιωτικότητα</a:t>
            </a:r>
            <a:endParaRPr lang="en-US" sz="1150" dirty="0"/>
          </a:p>
        </p:txBody>
      </p:sp>
      <p:sp>
        <p:nvSpPr>
          <p:cNvPr id="18" name="Shape 16"/>
          <p:cNvSpPr/>
          <p:nvPr/>
        </p:nvSpPr>
        <p:spPr>
          <a:xfrm>
            <a:off x="548640" y="3931920"/>
            <a:ext cx="8092440" cy="749808"/>
          </a:xfrm>
          <a:prstGeom prst="roundRect">
            <a:avLst>
              <a:gd name="adj" fmla="val 9756"/>
            </a:avLst>
          </a:prstGeom>
          <a:solidFill>
            <a:srgbClr val="FFF1EE"/>
          </a:solidFill>
          <a:ln w="12700">
            <a:solidFill>
              <a:srgbClr val="FFF1EE"/>
            </a:solidFill>
            <a:prstDash val="solid"/>
          </a:ln>
        </p:spPr>
      </p:sp>
      <p:sp>
        <p:nvSpPr>
          <p:cNvPr id="19" name="Text 17"/>
          <p:cNvSpPr txBox="1"/>
          <p:nvPr/>
        </p:nvSpPr>
        <p:spPr>
          <a:xfrm>
            <a:off x="749808" y="4050792"/>
            <a:ext cx="7690104" cy="512064"/>
          </a:xfrm>
          <a:prstGeom prst="rect">
            <a:avLst/>
          </a:prstGeom>
          <a:noFill/>
          <a:ln/>
        </p:spPr>
        <p:txBody>
          <a:bodyPr wrap="square" lIns="0" tIns="0" rIns="0" bIns="0" rtlCol="0" anchor="t"/>
          <a:lstStyle/>
          <a:p>
            <a:pPr marL="0" indent="0">
              <a:lnSpc>
                <a:spcPts val="1600"/>
              </a:lnSpc>
              <a:buNone/>
            </a:pPr>
            <a:r>
              <a:rPr lang="en-US" sz="1150" b="1" dirty="0">
                <a:solidFill>
                  <a:srgbClr val="C23A22"/>
                </a:solidFill>
                <a:latin typeface="Calibri" pitchFamily="34" charset="0"/>
                <a:ea typeface="Calibri" pitchFamily="34" charset="-122"/>
                <a:cs typeface="Calibri" pitchFamily="34" charset="-120"/>
              </a:rPr>
              <a:t>Δύο δραστηριότητες που θυμούνται όλοι:</a:t>
            </a:r>
            <a:endParaRPr lang="en-US" sz="1150" dirty="0"/>
          </a:p>
          <a:p>
            <a:pPr marL="0" indent="0">
              <a:lnSpc>
                <a:spcPts val="1600"/>
              </a:lnSpc>
              <a:buNone/>
            </a:pPr>
            <a:r>
              <a:rPr lang="en-US" sz="1150" dirty="0">
                <a:solidFill>
                  <a:srgbClr val="171B22"/>
                </a:solidFill>
                <a:latin typeface="Calibri" pitchFamily="34" charset="0"/>
                <a:ea typeface="Calibri" pitchFamily="34" charset="-122"/>
                <a:cs typeface="Calibri" pitchFamily="34" charset="-120"/>
              </a:rPr>
              <a:t>διόρθωσε το άρθρο της Wikipedia για την περιοχή σου και δες στο επόμενο μάθημα ποιος το άλλαξε ξανά. Και τσέκαρε στο pegi.info αν το παιχνίδι που παίζεις είναι για την ηλικία σου.</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C"/>
        </a:solidFill>
        <a:effectLst/>
      </p:bgPr>
    </p:bg>
    <p:spTree>
      <p:nvGrpSpPr>
        <p:cNvPr id="1" name=""/>
        <p:cNvGrpSpPr/>
        <p:nvPr/>
      </p:nvGrpSpPr>
      <p:grpSpPr>
        <a:xfrm>
          <a:off x="0" y="0"/>
          <a:ext cx="0" cy="0"/>
          <a:chOff x="0" y="0"/>
          <a:chExt cx="0" cy="0"/>
        </a:xfrm>
      </p:grpSpPr>
      <p:sp>
        <p:nvSpPr>
          <p:cNvPr id="2" name="Text 0"/>
          <p:cNvSpPr txBox="1"/>
          <p:nvPr/>
        </p:nvSpPr>
        <p:spPr>
          <a:xfrm>
            <a:off x="548640" y="566928"/>
            <a:ext cx="3657600" cy="274320"/>
          </a:xfrm>
          <a:prstGeom prst="rect">
            <a:avLst/>
          </a:prstGeom>
          <a:noFill/>
          <a:ln/>
        </p:spPr>
        <p:txBody>
          <a:bodyPr wrap="square" lIns="0" tIns="0" rIns="0" bIns="0" rtlCol="0" anchor="ctr"/>
          <a:lstStyle/>
          <a:p>
            <a:pPr marL="0" indent="0">
              <a:buNone/>
            </a:pPr>
            <a:r>
              <a:rPr lang="en-US" sz="1050" b="1" kern="0" spc="200" dirty="0">
                <a:solidFill>
                  <a:srgbClr val="00D68F"/>
                </a:solidFill>
                <a:latin typeface="Courier New" pitchFamily="34" charset="0"/>
                <a:ea typeface="Courier New" pitchFamily="34" charset="-122"/>
                <a:cs typeface="Courier New" pitchFamily="34" charset="-120"/>
              </a:rPr>
              <a:t>ΤΩΡΑ</a:t>
            </a:r>
            <a:endParaRPr lang="en-US" sz="1050" dirty="0"/>
          </a:p>
        </p:txBody>
      </p:sp>
      <p:sp>
        <p:nvSpPr>
          <p:cNvPr id="3" name="Text 1"/>
          <p:cNvSpPr txBox="1"/>
          <p:nvPr/>
        </p:nvSpPr>
        <p:spPr>
          <a:xfrm>
            <a:off x="530352" y="932688"/>
            <a:ext cx="8138160" cy="5943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Η πρώτη σου αποστολή</a:t>
            </a:r>
            <a:endParaRPr lang="en-US" sz="3400" dirty="0"/>
          </a:p>
        </p:txBody>
      </p:sp>
      <p:sp>
        <p:nvSpPr>
          <p:cNvPr id="4" name="Shape 2"/>
          <p:cNvSpPr/>
          <p:nvPr/>
        </p:nvSpPr>
        <p:spPr>
          <a:xfrm>
            <a:off x="548640" y="1783080"/>
            <a:ext cx="8092440" cy="1783080"/>
          </a:xfrm>
          <a:prstGeom prst="roundRect">
            <a:avLst>
              <a:gd name="adj" fmla="val 4103"/>
            </a:avLst>
          </a:prstGeom>
          <a:solidFill>
            <a:srgbClr val="1D222C"/>
          </a:solidFill>
          <a:ln w="12700">
            <a:solidFill>
              <a:srgbClr val="1D222C"/>
            </a:solidFill>
            <a:prstDash val="solid"/>
          </a:ln>
        </p:spPr>
      </p:sp>
      <p:sp>
        <p:nvSpPr>
          <p:cNvPr id="5" name="Text 3"/>
          <p:cNvSpPr txBox="1"/>
          <p:nvPr/>
        </p:nvSpPr>
        <p:spPr>
          <a:xfrm>
            <a:off x="822960" y="2011680"/>
            <a:ext cx="7543800" cy="457200"/>
          </a:xfrm>
          <a:prstGeom prst="rect">
            <a:avLst/>
          </a:prstGeom>
          <a:noFill/>
          <a:ln/>
        </p:spPr>
        <p:txBody>
          <a:bodyPr wrap="square" lIns="0" tIns="0" rIns="0" bIns="0" rtlCol="0" anchor="ctr"/>
          <a:lstStyle/>
          <a:p>
            <a:pPr marL="0" indent="0">
              <a:buNone/>
            </a:pPr>
            <a:r>
              <a:rPr lang="en-US" sz="1900" b="1" dirty="0">
                <a:solidFill>
                  <a:srgbClr val="00D68F"/>
                </a:solidFill>
                <a:latin typeface="Calibri" pitchFamily="34" charset="0"/>
                <a:ea typeface="Calibri" pitchFamily="34" charset="-122"/>
                <a:cs typeface="Calibri" pitchFamily="34" charset="-120"/>
              </a:rPr>
              <a:t>Ψάξε το όνομά σου σε μια μηχανή αναζήτησης.</a:t>
            </a:r>
            <a:endParaRPr lang="en-US" sz="1900" dirty="0"/>
          </a:p>
        </p:txBody>
      </p:sp>
      <p:sp>
        <p:nvSpPr>
          <p:cNvPr id="6" name="Text 4"/>
          <p:cNvSpPr txBox="1"/>
          <p:nvPr/>
        </p:nvSpPr>
        <p:spPr>
          <a:xfrm>
            <a:off x="822960" y="2560320"/>
            <a:ext cx="7543800" cy="868680"/>
          </a:xfrm>
          <a:prstGeom prst="rect">
            <a:avLst/>
          </a:prstGeom>
          <a:noFill/>
          <a:ln/>
        </p:spPr>
        <p:txBody>
          <a:bodyPr wrap="square" lIns="0" tIns="0" rIns="0" bIns="0" rtlCol="0" anchor="ctr"/>
          <a:lstStyle/>
          <a:p>
            <a:pPr marL="0" indent="0">
              <a:lnSpc>
                <a:spcPts val="2200"/>
              </a:lnSpc>
              <a:buNone/>
            </a:pPr>
            <a:r>
              <a:rPr lang="en-US" sz="1400" dirty="0">
                <a:solidFill>
                  <a:srgbClr val="C9D2DE"/>
                </a:solidFill>
                <a:latin typeface="Calibri" pitchFamily="34" charset="0"/>
                <a:ea typeface="Calibri" pitchFamily="34" charset="-122"/>
                <a:cs typeface="Calibri" pitchFamily="34" charset="-120"/>
              </a:rPr>
              <a:t>Δες τι βγαίνει — και σκέψου ποιος το ανέβασε εκεί. Είναι δραστηριότητα του κεφαλαίου 16, δηλαδή του τελευταίου. Την κάνουμε σήμερα, γιατί μέχρι να φτάσουμε εκεί θα έχεις ανεβάσει άλλα τόσα.</a:t>
            </a:r>
            <a:endParaRPr lang="en-US" sz="1400" dirty="0"/>
          </a:p>
        </p:txBody>
      </p:sp>
      <p:sp>
        <p:nvSpPr>
          <p:cNvPr id="7" name="Text 5"/>
          <p:cNvSpPr txBox="1"/>
          <p:nvPr/>
        </p:nvSpPr>
        <p:spPr>
          <a:xfrm>
            <a:off x="566928" y="3931920"/>
            <a:ext cx="4572000" cy="365760"/>
          </a:xfrm>
          <a:prstGeom prst="rect">
            <a:avLst/>
          </a:prstGeom>
          <a:noFill/>
          <a:ln/>
        </p:spPr>
        <p:txBody>
          <a:bodyPr wrap="square" lIns="0" tIns="0" rIns="0" bIns="0" rtlCol="0" anchor="ctr"/>
          <a:lstStyle/>
          <a:p>
            <a:pPr marL="0" indent="0">
              <a:buNone/>
            </a:pPr>
            <a:r>
              <a:rPr lang="en-US" sz="1500" b="1" dirty="0">
                <a:solidFill>
                  <a:srgbClr val="00D68F"/>
                </a:solidFill>
                <a:latin typeface="Courier New" pitchFamily="34" charset="0"/>
                <a:ea typeface="Courier New" pitchFamily="34" charset="-122"/>
                <a:cs typeface="Courier New" pitchFamily="34" charset="-120"/>
              </a:rPr>
              <a:t>&lt;!-- Καλή αρχή. --&gt;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1455</Words>
  <Application>Microsoft Office PowerPoint</Application>
  <PresentationFormat>Προβολή στην οθόνη (16:9)</PresentationFormat>
  <Paragraphs>165</Paragraphs>
  <Slides>10</Slides>
  <Notes>10</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10</vt:i4>
      </vt:variant>
    </vt:vector>
  </HeadingPairs>
  <TitlesOfParts>
    <vt:vector size="14" baseType="lpstr">
      <vt:lpstr>Arial</vt:lpstr>
      <vt:lpstr>Calibri</vt:lpstr>
      <vt:lpstr>Courier New</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Εφαρμογές Πληροφορικής — Α΄ Λυκείου</dc:title>
  <dc:subject>PptxGenJS Presentation</dc:subject>
  <dc:creator>Chris</dc:creator>
  <cp:lastModifiedBy>Χρήστος Ηλιόπουλος</cp:lastModifiedBy>
  <cp:revision>1</cp:revision>
  <dcterms:created xsi:type="dcterms:W3CDTF">2026-09-15T14:11:37Z</dcterms:created>
  <dcterms:modified xsi:type="dcterms:W3CDTF">2026-09-15T14:13:14Z</dcterms:modified>
</cp:coreProperties>
</file>