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Σύντομη σύνδεση με την προηγούμενη ώρα και παρουσίαση του θέματος.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Αφόρμηση από την καθημερινότητα.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Στόχοι §2.5 (συνοπτικά – το βιβλίο έχει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Η σωστή ψύξη ξεκινά από τη θέση του υπολογιστή μέσα στον χώρο.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Ψύκτρα (heat sink): μεταλλικό στοιχείο που αυξάνει την επιφάνεια επαφής με τον αέρα. Μπαίνει πάντα με θερμοαγώγιμη πάστα.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Το βιβλίο την ονομάζει «εργονομική ροή αέρα (normal air flow)».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Ελέγχουμε πάντα συμβατότητα ψύκτρας και βάσης πριν την αγορά.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Παρακολούθηση: λογισμικό της μητρικής ή ελεύθερο λογισμικό (το βιβλίο αναφέρει SpeedFan) διαβάζει θερμοκρασίες και στροφές.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≈20 λεπτά. Κυκλοφορήστε πρώτα στους λιγότερο εξοικειωμένους. Οι γρήγοροι μπορούν να βοηθήσουν τον διπλανό τους αφού τελειώσουν το 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Οι απαντήσεις γράφονται στο τέλος του φύλλου εργασίας.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05840" cy="1005840"/>
          </a:xfrm>
          <a:prstGeom prst="ellipse">
            <a:avLst/>
          </a:prstGeom>
          <a:solidFill>
            <a:srgbClr val="8FD6F5"/>
          </a:solidFill>
          <a:ln w="12700">
            <a:solidFill>
              <a:srgbClr val="8FD6F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8915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74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2 · 5η ΔΙΔΑΚΤΙΚΗ ΩΡΑ · §2.5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Ψύξη του υπολογιστή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Εγκατάσταση, Διαχείριση και Συντήρηση Υπολογιστικών Συστημάτων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1097280" cy="1097280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920240" y="868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Ας ξεκινήσουμε με μια ερώτηση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920240" y="137160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Γιατί ζεσταίνεται το κινητό όταν παίζετε ή φορτίζει; Τι γίνεται με αυτή τη θερμότητα μέσα σε έναν υπολογιστή;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80467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2918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Όλα τα εξαρτήματα που παίρνουν ρεύμα βγάζουν θερμότητα. Αν δεν απομακρυνθεί, η θερμοκρασία ανεβαίνει και τα ηλεκτρονικά δυσλειτουργούν. Γι’ αυτό η ψύξη είναι κρίσιμης σημασίας.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2.5 · Ψύξη του υπολογιστή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Στόχοι: τι θα μπορείτε να κάνετε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85216" cy="585216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335024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188720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εξηγείτε γιατί η ψύξη είναι σημαντική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1883664"/>
            <a:ext cx="585216" cy="585216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029968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88366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περιγράφετε και να αναγνωρίζετε παθητική, ενεργή και υδρόψυξη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2578608"/>
            <a:ext cx="585216" cy="585216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724912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2578608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αναγνωρίζετε τους τύπους ανεμιστήρων και πού συνδέονται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40080" y="3273552"/>
            <a:ext cx="585216" cy="585216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419856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00200" y="3273552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τοποθετείτε, να καθαρίζετε και να συντηρείτε την ψύξη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40080" y="3968496"/>
            <a:ext cx="585216" cy="585216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11480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600200" y="3968496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παρακολουθείτε θερμοκρασίες και στροφές</a:t>
            </a:r>
            <a:endParaRPr lang="en-US" sz="1600" dirty="0"/>
          </a:p>
        </p:txBody>
      </p:sp>
      <p:sp>
        <p:nvSpPr>
          <p:cNvPr id="19" name="Text 1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2.5 · Ψύξη του υπολογιστή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Θερμότητα και θερμοκρασία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E3F1F8"/>
          </a:solidFill>
          <a:ln w="19050">
            <a:solidFill>
              <a:srgbClr val="E3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731520" cy="731520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Θερμότητα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Ενέργεια που ρέει από το θερμότερο στο ψυχρότερο σώμα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Μονάδα SI: joule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kcal = 4.186,8 J = 3,968 Btu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ζεστός αέρας ανεβαίνει προς τα πάνω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9050">
            <a:solidFill>
              <a:srgbClr val="E3F1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71600"/>
            <a:ext cx="731520" cy="731520"/>
          </a:xfrm>
          <a:prstGeom prst="ellipse">
            <a:avLst/>
          </a:prstGeom>
          <a:solidFill>
            <a:srgbClr val="8FD6F5"/>
          </a:solidFill>
          <a:ln w="12700">
            <a:solidFill>
              <a:srgbClr val="8FD6F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Θερμοκρασία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Πόσο ζεστό ή κρύο είναι ένα σώμα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°C = 32 °F · 100 °C = 212 °F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1,8 · C + 32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Δωμάτιο: έως 20 °C τον χειμώνα, 30 °C το καλοκαίρι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Μακριά από ήλιο και καλοριφέρ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2.5 · Ψύξη του υπολογιστή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Τεχνικές ψύξης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33472" cy="3383280"/>
          </a:xfrm>
          <a:prstGeom prst="roundRect">
            <a:avLst>
              <a:gd name="adj" fmla="val 3472"/>
            </a:avLst>
          </a:prstGeom>
          <a:solidFill>
            <a:srgbClr val="E3F1F8"/>
          </a:solidFill>
          <a:ln w="12700">
            <a:solidFill>
              <a:srgbClr val="E3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62456" y="1371600"/>
            <a:ext cx="822960" cy="822960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5773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8600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Παθητική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880360"/>
            <a:ext cx="24140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Χωρίς κατανάλωση ενέργειας: ψύκτρες αλουμινίου ή χαλκού, σωστή θήκη, εξοικονόμηση ενέργειας, εξαρτήματα χαμηλής κατανάλωσης.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55264" y="1188720"/>
            <a:ext cx="2633472" cy="3383280"/>
          </a:xfrm>
          <a:prstGeom prst="roundRect">
            <a:avLst>
              <a:gd name="adj" fmla="val 3472"/>
            </a:avLst>
          </a:prstGeom>
          <a:solidFill>
            <a:srgbClr val="E3F1F8"/>
          </a:solidFill>
          <a:ln w="12700">
            <a:solidFill>
              <a:srgbClr val="E3F1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60520" y="1371600"/>
            <a:ext cx="822960" cy="822960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15773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46704" y="228600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Ενεργή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364992" y="2880360"/>
            <a:ext cx="24140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ηλεκτρική υποβοήθηση: κυρίως ανεμιστήρες πάνω σε ψύκτρες και στη θήκη.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53328" y="1188720"/>
            <a:ext cx="2633472" cy="3383280"/>
          </a:xfrm>
          <a:prstGeom prst="roundRect">
            <a:avLst>
              <a:gd name="adj" fmla="val 3472"/>
            </a:avLst>
          </a:prstGeom>
          <a:solidFill>
            <a:srgbClr val="E3F1F8"/>
          </a:solidFill>
          <a:ln w="12700">
            <a:solidFill>
              <a:srgbClr val="E3F1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58584" y="1371600"/>
            <a:ext cx="822960" cy="822960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324" y="15773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44768" y="228600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Υδρόψυξη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163056" y="2880360"/>
            <a:ext cx="24140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Υγρό κυκλοφορεί με αντλία από το water block στο ψυγείο (radiator). Καλύτερη απόδοση, λιγότερος θόρυβος – αλλά ακριβότερη και πιο σύνθετη.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2.5 · Ψύξη του υπολογιστή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Ποια εξαρτήματα ζεσταίνονται;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Χρειάζονται δικό τους σύστημα ψύξης: επεξεργαστής (CPU), κάρτα γραφικών (GPU), chipset, σκληροί δίσκοι, τροφοδοτικό και μνήμη.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21280" cy="2103120"/>
          </a:xfrm>
          <a:prstGeom prst="roundRect">
            <a:avLst>
              <a:gd name="adj" fmla="val 5217"/>
            </a:avLst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90 °C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8036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Επεξεργαστής ή κάρτα γραφικών χωρίς ψύξη – πολύ εύκολα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1360" y="1783080"/>
            <a:ext cx="2621280" cy="2103120"/>
          </a:xfrm>
          <a:prstGeom prst="roundRect">
            <a:avLst>
              <a:gd name="adj" fmla="val 5217"/>
            </a:avLst>
          </a:prstGeom>
          <a:solidFill>
            <a:srgbClr val="E3F1F8"/>
          </a:solidFill>
          <a:ln w="12700">
            <a:solidFill>
              <a:srgbClr val="E3F1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52800" y="192024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72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40–250 χιλ.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398520" y="288036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Μεγέθη ανεμιστήρων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65520" y="1783080"/>
            <a:ext cx="2621280" cy="2103120"/>
          </a:xfrm>
          <a:prstGeom prst="roundRect">
            <a:avLst>
              <a:gd name="adj" fmla="val 5217"/>
            </a:avLst>
          </a:prstGeom>
          <a:solidFill>
            <a:srgbClr val="E3F1F8"/>
          </a:solidFill>
          <a:ln w="12700">
            <a:solidFill>
              <a:srgbClr val="E3F1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56960" y="192024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72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12 V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288036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Τάση ανεμιστήρων · οι στροφές μετριούνται σε RPM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ανεμιστήρες (μαζί με τους δίσκους) είναι η κύρια πηγή θορύβου.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2.5 · Ψύξη του υπολογιστή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Ροή αέρα μέσα στη θήκη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881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μπροστινός κάτω ανεμιστήρας φέρνει κρύο αέρα και ψύχει τους δίσκους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84048" cy="384048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739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τροφοδοτικό (κάτω) παίρνει κρύο αέρα από πίσω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384048" cy="384048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597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θερμότητα ανεβαίνει προς τα πάνω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84048" cy="384048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1455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πίσω ανεμιστήρας και ο ανεμιστήρας οροφής βγάζουν τον ζεστό αέρα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120640" y="114300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E3F1F8"/>
          </a:solidFill>
          <a:ln w="12700">
            <a:solidFill>
              <a:srgbClr val="E3F1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1298448"/>
            <a:ext cx="548640" cy="548640"/>
          </a:xfrm>
          <a:prstGeom prst="ellipse">
            <a:avLst/>
          </a:prstGeom>
          <a:solidFill>
            <a:srgbClr val="8FD6F5"/>
          </a:solidFill>
          <a:ln w="12700">
            <a:solidFill>
              <a:srgbClr val="8FD6F5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35608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989320" y="1298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Σωστή ροή αέρα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20116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Μπροστά: εισαγωγή κρύου αέρα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Πίσω και πάνω: εξαγωγή ζεστού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Φίλτρα και πλέγματα κατά της σκόνης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pipe: χάλκινος σωλήνας που μεταφέρει θερμότητα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2.5 · Ψύξη του υπολογιστή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Ανεμιστήρες: πόσα καλώδια;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468880"/>
                <a:gridCol w="35661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Καλώδια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2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Πού συνδέονται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2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 μπορούμε να κάνουμε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2A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(+12 V, γείωση)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Απευθείας στο τροφοδοτικό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Γυρίζει μόλις πάρει ρεύμα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(+ στροφές)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Μητρική – CHA_FAN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Διαβάζουμε RPM · έλεγχος με αλλαγή τάσης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(+ PWM)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Μητρική – CPU_FAN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Διαβάζουμε RPM και ρυθμίζουμε τις στροφές με PWM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56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 ο ανεμιστήρας 3 ή 4 καλωδίων δείχνει 0 στροφές, η μητρική μπορεί να δώσει σήμα βλάβης.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2.5 · Ψύξη του υπολογιστή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Τοποθέτηση ψύξης επεξεργαστή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88136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Καθαρίζουμε επεξεργαστή και ψύκτρα από παλιά πάστα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819656"/>
            <a:ext cx="384048" cy="384048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64792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Βάζουμε λίγη θερμοαγώγιμη πάστα στο κέντρο του επεξεργαστή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384048" cy="384048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41448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Τοποθετούμε την ψύκτρα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3172968"/>
            <a:ext cx="384048" cy="384048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118104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Ασφαλίζουμε τον μηχανισμό στη βάση (socket)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384048" cy="384048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794760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Συνδέουμε τον ανεμιστήρα στην υποδοχή CPU_FAN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120640" y="114300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E3F1F8"/>
          </a:solidFill>
          <a:ln w="12700">
            <a:solidFill>
              <a:srgbClr val="E3F1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298448"/>
            <a:ext cx="548640" cy="548640"/>
          </a:xfrm>
          <a:prstGeom prst="ellipse">
            <a:avLst/>
          </a:prstGeom>
          <a:solidFill>
            <a:srgbClr val="8FD6F5"/>
          </a:solidFill>
          <a:ln w="12700">
            <a:solidFill>
              <a:srgbClr val="8FD6F5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3560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989320" y="1298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Θερμοαγώγιμη πάστα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20116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Γεμίζει τις μικρές ατέλειες ανάμεσα σε ψύκτρα και επεξεργαστή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Λίγη ποσότητα, στο κέντρο, μόνο στον επεξεργαστή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μη φτάσει στις επαφές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τον καιρό χάνει τις ιδιότητές της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2.5 · Ψύξη του υπολογιστή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Καθαρισμός και συντήρηση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94360" cy="594360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33731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16152" y="1143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Πόσο συχνά;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16152" y="14447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φορές τον χρόνο (8 ώρες/μέρα, γραφείο)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594360" cy="594360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225171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16152" y="2057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τι;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16152" y="23591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Φυσητήρας, πεπιεσμένος αέρας, μαλακό πινέλο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594360" cy="594360"/>
          </a:xfrm>
          <a:prstGeom prst="ellipse">
            <a:avLst/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316611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16152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Πού;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16152" y="32735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ανοιχτό ή καλά αεριζόμενο χώρο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663440" y="1188720"/>
            <a:ext cx="594360" cy="594360"/>
          </a:xfrm>
          <a:prstGeom prst="ellipse">
            <a:avLst/>
          </a:prstGeom>
          <a:solidFill>
            <a:srgbClr val="8FD6F5"/>
          </a:solidFill>
          <a:ln w="12700">
            <a:solidFill>
              <a:srgbClr val="8FD6F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30" y="133731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22392" y="1143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Απόσταση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422392" y="14447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εκ. από τον φυσητήρα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663440" y="2103120"/>
            <a:ext cx="594360" cy="594360"/>
          </a:xfrm>
          <a:prstGeom prst="ellipse">
            <a:avLst/>
          </a:prstGeom>
          <a:solidFill>
            <a:srgbClr val="8FD6F5"/>
          </a:solidFill>
          <a:ln w="12700">
            <a:solidFill>
              <a:srgbClr val="8FD6F5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030" y="2251710"/>
            <a:ext cx="297180" cy="2971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22392" y="2057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Ανεμιστήρες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5422392" y="23591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Τους κρατάμε με το χέρι για να μη γυρίσουν υπερβολικά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663440" y="3017520"/>
            <a:ext cx="594360" cy="594360"/>
          </a:xfrm>
          <a:prstGeom prst="ellipse">
            <a:avLst/>
          </a:prstGeom>
          <a:solidFill>
            <a:srgbClr val="8FD6F5"/>
          </a:solidFill>
          <a:ln w="12700">
            <a:solidFill>
              <a:srgbClr val="8FD6F5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2030" y="3166110"/>
            <a:ext cx="297180" cy="2971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22392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Πινέλο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422392" y="32735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Δημιουργεί στατικό: μόνο σε πτερύγια, πρόσοψη, πλαίσιο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56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σκόνη μονώνει, ανεβάζει τη θερμοκρασία και φράζει τις εισόδους αέρα.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2.5 · Ψύξη του υπολογιστή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βιβλίο (2015) και σήμερα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6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τεχνολογία αλλάζει γρήγορα. Τι ισχύει σήμερα;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6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ΒΙΒΛΙΟ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6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ΣΗΜΕΡΑ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1796796"/>
            <a:ext cx="365760" cy="219456"/>
          </a:xfrm>
          <a:prstGeom prst="rightArrow">
            <a:avLst/>
          </a:prstGeom>
          <a:solidFill>
            <a:srgbClr val="8FD6F5"/>
          </a:solidFill>
          <a:ln w="12700">
            <a:solidFill>
              <a:srgbClr val="8FD6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64592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3F1F8"/>
          </a:solidFill>
          <a:ln w="12700">
            <a:solidFill>
              <a:srgbClr val="E3F1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64592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SpeedFan, Open Hardware Monitor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64592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HWMonitor, HWiNFO, LibreHardwareMonitor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409444"/>
            <a:ext cx="365760" cy="219456"/>
          </a:xfrm>
          <a:prstGeom prst="rightArrow">
            <a:avLst/>
          </a:prstGeom>
          <a:solidFill>
            <a:srgbClr val="8FD6F5"/>
          </a:solidFill>
          <a:ln w="12700">
            <a:solidFill>
              <a:srgbClr val="8FD6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258568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3F1F8"/>
          </a:solidFill>
          <a:ln w="12700">
            <a:solidFill>
              <a:srgbClr val="E3F1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258568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Υδρόψυξη: όχι για μεσαία συστήματα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258568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Έτοιμες κλειστές AIO, προσιτές και για μεσαία PC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3022092"/>
            <a:ext cx="365760" cy="219456"/>
          </a:xfrm>
          <a:prstGeom prst="rightArrow">
            <a:avLst/>
          </a:prstGeom>
          <a:solidFill>
            <a:srgbClr val="8FD6F5"/>
          </a:solidFill>
          <a:ln w="12700">
            <a:solidFill>
              <a:srgbClr val="8FD6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871216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3F1F8"/>
          </a:solidFill>
          <a:ln w="12700">
            <a:solidFill>
              <a:srgbClr val="E3F1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871216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με δική του ψύκτρα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2871216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northbridge είναι πια μέσα στον επεξεργαστή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483864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634740"/>
            <a:ext cx="365760" cy="219456"/>
          </a:xfrm>
          <a:prstGeom prst="rightArrow">
            <a:avLst/>
          </a:prstGeom>
          <a:solidFill>
            <a:srgbClr val="8FD6F5"/>
          </a:solidFill>
          <a:ln w="12700">
            <a:solidFill>
              <a:srgbClr val="8FD6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483864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3F1F8"/>
          </a:solidFill>
          <a:ln w="12700">
            <a:solidFill>
              <a:srgbClr val="E3F1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483864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Επεξεργαστής πάντα με ψύκτρα στο κουτί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3483864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Πολλοί ισχυροί επεξεργαστές πωλούνται χωρίς ψύκτρα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09651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4247388"/>
            <a:ext cx="365760" cy="219456"/>
          </a:xfrm>
          <a:prstGeom prst="rightArrow">
            <a:avLst/>
          </a:prstGeom>
          <a:solidFill>
            <a:srgbClr val="8FD6F5"/>
          </a:solidFill>
          <a:ln w="12700">
            <a:solidFill>
              <a:srgbClr val="8FD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409651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3F1F8"/>
          </a:solidFill>
          <a:ln w="12700">
            <a:solidFill>
              <a:srgbClr val="E3F1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4096512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Ψύξη σκληρών δίσκων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983480" y="4096512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SSD M.2 NVMe συχνά θέλουν δική τους ψύκτρα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2.5 · Ψύξη του υπολογιστή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Ώρα για το φύλλο εργασίας 5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Ανοίξτε: Κεφ2_Ώρα5_Φύλλο_Εργασίας.docx και Κεφ2_Ώρα5_Εφαρμογή_Ψύξη.html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Ξεκινάω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Παθητική ή ενεργή; Στοιχεία από τη Διαχείριση Εργασιών, Σωστό/Λάθος.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691640"/>
            <a:ext cx="731520" cy="73152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Προχωράω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Σωστή σειρά, μετατροπές °C/°F, όριο θερμοκρασίας του επεξεργαστή σου.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91640"/>
            <a:ext cx="731520" cy="731520"/>
          </a:xfrm>
          <a:prstGeom prst="ellipse">
            <a:avLst/>
          </a:prstGeom>
          <a:solidFill>
            <a:srgbClr val="D8483B"/>
          </a:solidFill>
          <a:ln w="12700">
            <a:solidFill>
              <a:srgbClr val="D848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Πρόκληση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Σενάρια, σύγκριση ψυκτρών, μέτρηση θερμοκρασιών.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Τελειώσατε το Α; Συνεχίστε στο Β. Δεν χρειάζεται να τελειώσουν όλοι τα πάντα.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2.5 · Ψύξη του υπολογιστή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Ανακεφαλαίωση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8FD6F5"/>
          </a:solidFill>
          <a:ln w="12700">
            <a:solidFill>
              <a:srgbClr val="8FD6F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3944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280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Όλα τα εξαρτήματα βγάζουν θερμότητα – η ψύξη είναι κρίσιμη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8FD6F5"/>
          </a:solidFill>
          <a:ln w="12700">
            <a:solidFill>
              <a:srgbClr val="8FD6F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052828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9385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Παθητική (ψύκτρες), ενεργή (ανεμιστήρες), υδρόψυξη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8FD6F5"/>
          </a:solidFill>
          <a:ln w="12700">
            <a:solidFill>
              <a:srgbClr val="8FD6F5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711196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259689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Λίγη πάστα, σωστή ροή αέρα, καθαρισμός 1–2 φορές τον χρόνο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1672A3"/>
          </a:solidFill>
          <a:ln w="12700">
            <a:solidFill>
              <a:srgbClr val="1672A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7724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Ερώτηση εξόδου: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Πού θα βάζατε έναν υπολογιστή μέσα σε ένα δωμάτιο ώστε να ψύχεται σωστά και γιατί;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Ώρα 5 – Ψύξη του υπολογιστή</dc:title>
  <dc:subject>PptxGenJS Presentation</dc:subject>
  <dc:creator>PptxGenJS</dc:creator>
  <cp:lastModifiedBy>PptxGenJS</cp:lastModifiedBy>
  <cp:revision>1</cp:revision>
  <dcterms:created xsi:type="dcterms:W3CDTF">2026-09-16T20:32:04Z</dcterms:created>
  <dcterms:modified xsi:type="dcterms:W3CDTF">2026-09-16T20:32:04Z</dcterms:modified>
</cp:coreProperties>
</file>