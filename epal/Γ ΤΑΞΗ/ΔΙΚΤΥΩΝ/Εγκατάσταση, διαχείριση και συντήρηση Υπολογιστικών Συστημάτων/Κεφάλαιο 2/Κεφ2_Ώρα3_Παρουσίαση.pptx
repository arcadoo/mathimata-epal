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Σύντομη σύνδεση με την προηγούμενη ώρα και παρουσίαση του θέματος.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Αφήστε λίγα δευτερόλεπτα για απαντήσεις πριν αποκαλύψετε την απάντηση.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Στόχοι §2.3 (συνοπτικά).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Διαδικασία επιλογής: καταγράφουμε απαιτήσεις → διαλέγουμε τύπο → κάνουμε έρευνα αγοράς.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Ζητήστε να μαντέψουν ποια θήκη έχουν οι υπολογιστές του εργαστηρίου.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Εστιάστε στα δύο «μέγιστα»: ύψος ψύκτρας και μήκος κάρτας γραφικών – συχνή αιτία ασυμβατότητας. Θα τα ελέγξουν στην εφαρμογή «Χωράει;».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Συρόμενη μονάδα DVD: βγάζουμε καλώδια δεδομένων και ρεύματος → πιέζουμε το έλασμα → τη σύρουμε από μπροστά.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≈20 λεπτά. Κυκλοφορήστε πρώτα στους λιγότερο εξοικειωμένους. Οι γρήγοροι μπορούν να βοηθήσουν τον διπλανό τους αφού τελειώσουν το 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Οι απαντήσεις γράφονται στο τέλος του φύλλου εργασίας.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005840" cy="100584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8915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874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ΚΕΦΑΛΑΙΟ 2 · 3η ΔΙΔΑΚΤΙΚΗ ΩΡΑ · §2.3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Κουτιά και θήκες επιτραπέζιων υπολογιστών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6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Εγκατάσταση, Διαχείριση και Συντήρηση Υπολογιστικών Συστημάτων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E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1097280" cy="1097280"/>
          </a:xfrm>
          <a:prstGeom prst="ellipse">
            <a:avLst/>
          </a:prstGeom>
          <a:solidFill>
            <a:srgbClr val="5C4491"/>
          </a:solidFill>
          <a:ln w="12700">
            <a:solidFill>
              <a:srgbClr val="5C449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058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920240" y="868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C4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Ας ξεκινήσουμε με μια ερώτηση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1920240" y="1371600"/>
            <a:ext cx="6766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6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Αλλάζετε επεξεργαστή, μνήμη και κάρτα γραφικών. Ποιο μέρος του υπολογιστή μπορεί να μείνει ίδιο για χρόνια;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3246120"/>
            <a:ext cx="80467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29184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θήκη! Είναι ο «σκελετός» του υπολογιστή: φιλοξενεί όλες τις συσκευές. Αν επιλεγεί σωστά, μένει ίδια μετά από πολλές αναβαθμίσεις.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2.3 · Κουτιά και θήκες επιτραπέζιων υπολογιστών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Στόχοι: τι θα μπορείτε να κάνετε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640080" cy="640080"/>
          </a:xfrm>
          <a:prstGeom prst="ellipse">
            <a:avLst/>
          </a:prstGeom>
          <a:solidFill>
            <a:srgbClr val="5C4491"/>
          </a:solidFill>
          <a:ln w="12700">
            <a:solidFill>
              <a:srgbClr val="5C449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3487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1887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αναγνωρίζετε τους τύπους θηκών και πού ταιριάζει ο καθένας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640080" cy="640080"/>
          </a:xfrm>
          <a:prstGeom prst="ellipse">
            <a:avLst/>
          </a:prstGeom>
          <a:solidFill>
            <a:srgbClr val="5C4491"/>
          </a:solidFill>
          <a:ln w="12700">
            <a:solidFill>
              <a:srgbClr val="5C449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2174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20574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διαβάζετε και να ερμηνεύετε τις προδιαγραφές μιας θήκης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40080" y="2926080"/>
            <a:ext cx="640080" cy="640080"/>
          </a:xfrm>
          <a:prstGeom prst="ellipse">
            <a:avLst/>
          </a:prstGeom>
          <a:solidFill>
            <a:srgbClr val="5C4491"/>
          </a:solidFill>
          <a:ln w="12700">
            <a:solidFill>
              <a:srgbClr val="5C4491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08610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00200" y="29260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επιλέγετε θήκη ανάλογα με τα εξαρτήματα και τον ρόλο του υπολογιστή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640080" y="3794760"/>
            <a:ext cx="640080" cy="640080"/>
          </a:xfrm>
          <a:prstGeom prst="ellipse">
            <a:avLst/>
          </a:prstGeom>
          <a:solidFill>
            <a:srgbClr val="5C4491"/>
          </a:solidFill>
          <a:ln w="12700">
            <a:solidFill>
              <a:srgbClr val="5C4491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95478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600200" y="3794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ανοίγετε θήκες και να στερεώνετε δίσκους, κάρτες και μητρική</a:t>
            </a:r>
            <a:endParaRPr lang="en-US" sz="1700" dirty="0"/>
          </a:p>
        </p:txBody>
      </p:sp>
      <p:sp>
        <p:nvSpPr>
          <p:cNvPr id="16" name="Text 9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2.3 · Κουτιά και θήκες επιτραπέζιων υπολογιστών</a:t>
            </a:r>
            <a:endParaRPr lang="en-US" sz="1000" dirty="0"/>
          </a:p>
        </p:txBody>
      </p:sp>
      <p:sp>
        <p:nvSpPr>
          <p:cNvPr id="17" name="Text 10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Πώς διαλέγουμε θήκη: 7 κριτήρια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94360" cy="594360"/>
          </a:xfrm>
          <a:prstGeom prst="ellipse">
            <a:avLst/>
          </a:prstGeom>
          <a:solidFill>
            <a:srgbClr val="5C4491"/>
          </a:solidFill>
          <a:ln w="12700">
            <a:solidFill>
              <a:srgbClr val="5C449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" y="1337310"/>
            <a:ext cx="297180" cy="2971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16152" y="1143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D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Μέγεθος μητρικής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216152" y="1444752"/>
            <a:ext cx="32461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πρότυπο ATX καθορίζει και τις θήκες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2045970"/>
            <a:ext cx="594360" cy="594360"/>
          </a:xfrm>
          <a:prstGeom prst="ellipse">
            <a:avLst/>
          </a:prstGeom>
          <a:solidFill>
            <a:srgbClr val="5C4491"/>
          </a:solidFill>
          <a:ln w="12700">
            <a:solidFill>
              <a:srgbClr val="5C449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" y="219456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16152" y="200025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D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Πλήθος εξαρτημάτων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216152" y="2302002"/>
            <a:ext cx="32461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Πόσοι δίσκοι, τι ψύξη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903220"/>
            <a:ext cx="594360" cy="594360"/>
          </a:xfrm>
          <a:prstGeom prst="ellipse">
            <a:avLst/>
          </a:prstGeom>
          <a:solidFill>
            <a:srgbClr val="5C4491"/>
          </a:solidFill>
          <a:ln w="12700">
            <a:solidFill>
              <a:srgbClr val="5C449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" y="3051810"/>
            <a:ext cx="297180" cy="2971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16152" y="28575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D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Σημείο τοποθέτησης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216152" y="3159252"/>
            <a:ext cx="32461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Γραφείο ή πάτωμα; σαλόνι, data room, infokiosk;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57200" y="3760470"/>
            <a:ext cx="594360" cy="594360"/>
          </a:xfrm>
          <a:prstGeom prst="ellipse">
            <a:avLst/>
          </a:prstGeom>
          <a:solidFill>
            <a:srgbClr val="5C4491"/>
          </a:solidFill>
          <a:ln w="12700">
            <a:solidFill>
              <a:srgbClr val="5C4491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90" y="3909060"/>
            <a:ext cx="297180" cy="2971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16152" y="371475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D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Ρόλος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216152" y="4016502"/>
            <a:ext cx="32461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Γραφείο, server, home cinema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4663440" y="1188720"/>
            <a:ext cx="594360" cy="59436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2030" y="1337310"/>
            <a:ext cx="297180" cy="2971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422392" y="1143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D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Συχνότητα παρεμβάσεων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5422392" y="1444752"/>
            <a:ext cx="32461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Πόσο συχνά θα ανοίγουμε τη θήκη;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4663440" y="2045970"/>
            <a:ext cx="594360" cy="59436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2030" y="2194560"/>
            <a:ext cx="297180" cy="29718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422392" y="200025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D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Αισθητική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5422392" y="2302002"/>
            <a:ext cx="32461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Σχέδιο, χρώμα, φωτισμός, διαστάσεις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4663440" y="2903220"/>
            <a:ext cx="594360" cy="59436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2030" y="3051810"/>
            <a:ext cx="297180" cy="29718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422392" y="28575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D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Κόστος</a:t>
            </a:r>
            <a:endParaRPr lang="en-US" sz="1500" dirty="0"/>
          </a:p>
        </p:txBody>
      </p:sp>
      <p:sp>
        <p:nvSpPr>
          <p:cNvPr id="30" name="Text 21"/>
          <p:cNvSpPr txBox="1"/>
          <p:nvPr/>
        </p:nvSpPr>
        <p:spPr>
          <a:xfrm>
            <a:off x="5422392" y="3159252"/>
            <a:ext cx="32461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Πόσα θέλουμε να επενδύσουμε</a:t>
            </a:r>
            <a:endParaRPr lang="en-US" sz="1250" dirty="0"/>
          </a:p>
        </p:txBody>
      </p:sp>
      <p:sp>
        <p:nvSpPr>
          <p:cNvPr id="32" name="Text 2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2.3 · Κουτιά και θήκες επιτραπέζιων υπολογιστών</a:t>
            </a:r>
            <a:endParaRPr lang="en-US" sz="1000" dirty="0"/>
          </a:p>
        </p:txBody>
      </p:sp>
      <p:sp>
        <p:nvSpPr>
          <p:cNvPr id="33" name="Text 23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Είδη θηκών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371600"/>
                <a:gridCol w="35661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Κατηγορία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44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Ύψος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44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Θέσεις δίσκων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44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Για ποιον / πού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449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Πλήρους ύψους (Full Tower)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60 εκ.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έως 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Servers, αυξημένες απαιτήσεις υλικού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Μεσαίου ύψους (Mid Tower)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45–60 εκ.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Χρήστες με μεσαίες απαιτήσεις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Μικρού ύψους (Mini Tower)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35–45 εκ.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συνήθως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Χωρίς ανάγκες επέκτασης, λίγος χώρος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HTPC / Media Center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λίγες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cinema: μικρή μητρική, χαμηλός θόρυβος, εξωτερικό τροφοδοτικό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Επιτραπέζιο (Desktop)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λίγες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Πάνω στο γραφείο: τράπεζες, ταμεία καταστημάτων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Πάγκου εργασίας (Bench)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Ανοιχτές θήκες για δοκιμές στον πάγκο του τεχνικού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i="1" dirty="0">
                <a:solidFill>
                  <a:srgbClr val="62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 υπάρχει απόλυτη τυποποίηση στις διαστάσεις και στην ονοματολογία των θηκών.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2.3 · Κουτιά και θήκες επιτραπέζιων υπολογιστών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Διαβάζουμε προδιαγραφές (παράδειγμα βιβλίου)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 ύψος 51 εκ., αυτή η θήκη είναι Mid Tower.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  <a:gridCol w="2103120"/>
                <a:gridCol w="2011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Χαρακτηριστικό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44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Τιμή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44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Χαρακτηριστικό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44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Τιμή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449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Διαστάσεις (Υ×Π×Β)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 × 233 × 500 χιλ.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Θέσεις 5,25″ / 3,5″ / 2,5″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7 / 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Βάρος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κιλά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Θέσεις καρτών επέκτασης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+ 1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Μητρική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ATX, micro ATX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Θύρες πρόσοψης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 USB 3.0, 2× USB 2.0, ήχος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Τροφοδοτικό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Κάτω · ATX PS2 / EPS 12V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Φίλτρα αέρα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Μέγ. ύψος ψύκτρας CPU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 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Μέγ. μήκος κάρτας γραφικών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 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Ανεμιστήρες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Πάνω, μπροστά, πίσω, πλάι, κάτω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Εγγύηση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χρόνια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2.3 · Κουτιά και θήκες επιτραπέζιων υπολογιστών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Άνοιγμα όρθιας θήκης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84048" cy="384048"/>
          </a:xfrm>
          <a:prstGeom prst="ellipse">
            <a:avLst/>
          </a:prstGeom>
          <a:solidFill>
            <a:srgbClr val="5C4491"/>
          </a:solidFill>
          <a:ln w="12700">
            <a:solidFill>
              <a:srgbClr val="5C44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08813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Μελετάμε την κατασκευή και το διάγραμμα του κατασκευαστή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84048" cy="384048"/>
          </a:xfrm>
          <a:prstGeom prst="ellipse">
            <a:avLst/>
          </a:prstGeom>
          <a:solidFill>
            <a:srgbClr val="5C4491"/>
          </a:solidFill>
          <a:ln w="12700">
            <a:solidFill>
              <a:srgbClr val="5C449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7393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 χρειάζεται, αφαιρούμε πρώτα την πρόσοψη (τραβάμε προσεκτικά το κάτω μέρος προς τα έξω)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384048" cy="384048"/>
          </a:xfrm>
          <a:prstGeom prst="ellipse">
            <a:avLst/>
          </a:prstGeom>
          <a:solidFill>
            <a:srgbClr val="5C4491"/>
          </a:solidFill>
          <a:ln w="12700">
            <a:solidFill>
              <a:srgbClr val="5C449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45973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 σταυροκατσάβιδο αφαιρούμε τις βίδες του αριστερού πλαϊνού (ή μετακινούμε τα ελάσματα)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384048" cy="384048"/>
          </a:xfrm>
          <a:prstGeom prst="ellipse">
            <a:avLst/>
          </a:prstGeom>
          <a:solidFill>
            <a:srgbClr val="5C4491"/>
          </a:solidFill>
          <a:ln w="12700">
            <a:solidFill>
              <a:srgbClr val="5C449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14553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Τραβάμε το πλαϊνό συρταρωτά προς τα πίσω και το αφαιρούμε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120640" y="1143000"/>
            <a:ext cx="3566160" cy="3429000"/>
          </a:xfrm>
          <a:prstGeom prst="roundRect">
            <a:avLst>
              <a:gd name="adj" fmla="val 2667"/>
            </a:avLst>
          </a:prstGeom>
          <a:solidFill>
            <a:srgbClr val="EEEAF6"/>
          </a:solidFill>
          <a:ln w="12700">
            <a:solidFill>
              <a:srgbClr val="EEEA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1298448"/>
            <a:ext cx="548640" cy="54864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435608"/>
            <a:ext cx="274320" cy="27432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989320" y="12984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θυμάστε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0" y="201168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6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Άλλες θήκες ανοίγουν με εργαλεία, άλλες χωρίς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6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Στα επιτραπέζια (desktop) κουτιά αφαιρείται το επάνω μέρος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6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Πριν από όλα: ρεύμα έξω και γείωση (§2.2)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2.3 · Κουτιά και θήκες επιτραπέζιων υπολογιστών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Στερέωση συσκευών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33472" cy="3383280"/>
          </a:xfrm>
          <a:prstGeom prst="roundRect">
            <a:avLst>
              <a:gd name="adj" fmla="val 3472"/>
            </a:avLst>
          </a:prstGeom>
          <a:solidFill>
            <a:srgbClr val="EEEAF6"/>
          </a:solidFill>
          <a:ln w="12700">
            <a:solidFill>
              <a:srgbClr val="EEEA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62456" y="1371600"/>
            <a:ext cx="822960" cy="822960"/>
          </a:xfrm>
          <a:prstGeom prst="ellipse">
            <a:avLst/>
          </a:prstGeom>
          <a:solidFill>
            <a:srgbClr val="5C4491"/>
          </a:solidFill>
          <a:ln w="12700">
            <a:solidFill>
              <a:srgbClr val="5C449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15773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28600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Μονάδες δίσκων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2880360"/>
            <a:ext cx="24140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6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 σταθερά ή αφαιρούμενα αρθρώματα, με βίδες διαφορετικές από της θήκης. Πρώτα οι δίσκοι στο άρθρωμα, μετά το άρθρωμα στη θήκη.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55264" y="1188720"/>
            <a:ext cx="2633472" cy="3383280"/>
          </a:xfrm>
          <a:prstGeom prst="roundRect">
            <a:avLst>
              <a:gd name="adj" fmla="val 3472"/>
            </a:avLst>
          </a:prstGeom>
          <a:solidFill>
            <a:srgbClr val="EEEAF6"/>
          </a:solidFill>
          <a:ln w="12700">
            <a:solidFill>
              <a:srgbClr val="EEEA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60520" y="1371600"/>
            <a:ext cx="822960" cy="822960"/>
          </a:xfrm>
          <a:prstGeom prst="ellipse">
            <a:avLst/>
          </a:prstGeom>
          <a:solidFill>
            <a:srgbClr val="5C4491"/>
          </a:solidFill>
          <a:ln w="12700">
            <a:solidFill>
              <a:srgbClr val="5C449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260" y="15773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46704" y="228600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Κάρτες επέκτασης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364992" y="2880360"/>
            <a:ext cx="24140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6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Στην υποδοχή της μητρικής, με τις θύρες προς τα πίσω. Στερέωση με βίδα ή πλαστικό στήριγμα (χωρίς εργαλεία).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53328" y="1188720"/>
            <a:ext cx="2633472" cy="3383280"/>
          </a:xfrm>
          <a:prstGeom prst="roundRect">
            <a:avLst>
              <a:gd name="adj" fmla="val 3472"/>
            </a:avLst>
          </a:prstGeom>
          <a:solidFill>
            <a:srgbClr val="EEEAF6"/>
          </a:solidFill>
          <a:ln w="12700">
            <a:solidFill>
              <a:srgbClr val="EEEAF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958584" y="1371600"/>
            <a:ext cx="822960" cy="822960"/>
          </a:xfrm>
          <a:prstGeom prst="ellipse">
            <a:avLst/>
          </a:prstGeom>
          <a:solidFill>
            <a:srgbClr val="5C4491"/>
          </a:solidFill>
          <a:ln w="12700">
            <a:solidFill>
              <a:srgbClr val="5C449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324" y="157734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144768" y="228600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Μητρική πλακέτα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163056" y="2880360"/>
            <a:ext cx="24140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6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Βίδες πάνω σε αποστάτες (stand-off), λίγα χιλιοστά από την πλάτη. Ή πλαστικά στηρίγματα. Σε κάποιες θήκες βγαίνει όλη η πλάτη.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2.3 · Κουτιά και θήκες επιτραπέζιων υπολογιστών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Το βιβλίο (2015) και σήμερα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C4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τεχνολογία αλλάζει γρήγορα. Τι ισχύει σήμερα;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2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ΣΤΟ ΒΙΒΛΙΟ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4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ΣΗΜΕΡΑ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1796796"/>
            <a:ext cx="365760" cy="219456"/>
          </a:xfrm>
          <a:prstGeom prst="rightArrow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645920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EEEAF6"/>
          </a:solidFill>
          <a:ln w="12700">
            <a:solidFill>
              <a:srgbClr val="EEEA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645920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Θέσεις 5,25″ για DVD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1645920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περισσότερες νέες θήκες δεν έχουν· οπτικοί οδηγοί εξωτερικοί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258568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409444"/>
            <a:ext cx="365760" cy="219456"/>
          </a:xfrm>
          <a:prstGeom prst="rightArrow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2258568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EEEAF6"/>
          </a:solidFill>
          <a:ln w="12700">
            <a:solidFill>
              <a:srgbClr val="EEEA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258568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Πολλές θέσεις για δίσκους 3,5″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2258568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M.2 πάνω στη μητρική· λίγες θέσεις δίσκων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871216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3022092"/>
            <a:ext cx="365760" cy="219456"/>
          </a:xfrm>
          <a:prstGeom prst="rightArrow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2871216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EEEAF6"/>
          </a:solidFill>
          <a:ln w="12700">
            <a:solidFill>
              <a:srgbClr val="EEEA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2871216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2.0 / 3.0 στην πρόσοψη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983480" y="2871216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3.2 και θύρα USB‑C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483864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3634740"/>
            <a:ext cx="365760" cy="219456"/>
          </a:xfrm>
          <a:prstGeom prst="rightArrow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483864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EEEAF6"/>
          </a:solidFill>
          <a:ln w="12700">
            <a:solidFill>
              <a:srgbClr val="EEEA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483864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Tower για servers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983480" y="3483864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servers μπαίνουν κυρίως σε rack (1U, 2U…)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4096512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0" y="4247388"/>
            <a:ext cx="365760" cy="219456"/>
          </a:xfrm>
          <a:prstGeom prst="rightArrow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4096512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EEEAF6"/>
          </a:solidFill>
          <a:ln w="12700">
            <a:solidFill>
              <a:srgbClr val="EEEA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4096512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Μεταλλικά πλαϊνά με βίδες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983480" y="4096512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Γυάλινα πλαϊνά, κάλυμμα τροφοδοτικού, κάρτες γραφικών &gt; 30 εκ.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2.3 · Κουτιά και θήκες επιτραπέζιων υπολογιστών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E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Ώρα για το φύλλο εργασίας 3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Ανοίξτε: Κεφ2_Ώρα3_Φύλλο_Εργασίας.docx και Κεφ2_Ώρα3_Εφαρμογή_Θήκες.html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731520" cy="73152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Ξεκινάω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51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Τύποι θηκών στην εφαρμογή, εικόνες, Σωστό/Λάθος.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691640"/>
            <a:ext cx="731520" cy="731520"/>
          </a:xfrm>
          <a:prstGeom prst="ellipse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Προχωράω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651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Προδιαγραφές θήκης από e-shop, θήκη για 4 ρόλους.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91640"/>
            <a:ext cx="731520" cy="731520"/>
          </a:xfrm>
          <a:prstGeom prst="ellipse">
            <a:avLst/>
          </a:prstGeom>
          <a:solidFill>
            <a:srgbClr val="D8483B"/>
          </a:solidFill>
          <a:ln w="12700">
            <a:solidFill>
              <a:srgbClr val="D848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Πρόκληση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651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«Χωράει;» έλεγχος, όγκος σε λίτρα, ροή αέρα.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D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Τελειώσατε το Α; Συνεχίστε στο Β. Δεν χρειάζεται να τελειώσουν όλοι τα πάντα.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2.3 · Κουτιά και θήκες επιτραπέζιων υπολογιστών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Ανακεφαλαίωση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394460"/>
            <a:ext cx="228600" cy="228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2801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θήκη είναι ο σκελετός του υπολογιστή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1938528"/>
            <a:ext cx="457200" cy="45720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052828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193852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/ Mid / Mini Tower, HTPC, Desktop, Bench: ανάλογα με ρόλο και χώρο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548640" y="2596896"/>
            <a:ext cx="457200" cy="45720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2711196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88720" y="259689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Ελέγχουμε μητρική, θέσεις, μέγιστη κάρτα γραφικών και ψύκτρα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48640" y="347472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5C4491"/>
          </a:solidFill>
          <a:ln w="12700">
            <a:solidFill>
              <a:srgbClr val="5C449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77240" y="35204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Ερώτηση εξόδου: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Ποια θήκη θα διαλέγατε για τον υπολογιστή του σπιτιού σας και γιατί;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Ώρα 3 – Κουτιά και θήκες επιτραπέζιων υπολογιστών</dc:title>
  <dc:subject>PptxGenJS Presentation</dc:subject>
  <dc:creator>PptxGenJS</dc:creator>
  <cp:lastModifiedBy>PptxGenJS</cp:lastModifiedBy>
  <cp:revision>1</cp:revision>
  <dcterms:created xsi:type="dcterms:W3CDTF">2026-09-16T20:32:04Z</dcterms:created>
  <dcterms:modified xsi:type="dcterms:W3CDTF">2026-09-16T20:32:04Z</dcterms:modified>
</cp:coreProperties>
</file>