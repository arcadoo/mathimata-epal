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ενότητα είναι μεγάλη (σελ. 79–126). Σε μία ώρα κρατάμε τα βασικά· προχωρήστε γρήγορα στις διαφάνειες.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Επιλογή από τους 23 στόχους του βιβλίου.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βιβλίο αναφέρει και «mini ATX 150 × 150» – δεν αντιστοιχεί σε διαδεδομένο πρότυπο, γι’ αυτό δεν μπήκε στον πίνακα.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γίνεται, γυρίστε έναν υπολογιστή του εργαστηρίου και δείξτε τις θύρες.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Νόμος του Moore: τα τρανζίστορ διπλασιάζονταν περίπου κάθε δύο χρόνια (σήμερα ο ρυθμός έχει επιβραδυνθεί).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Ένα λάθος στη βάση μπορεί να προκαλέσει ανεπανόρθωτη βλάβη.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Προσοχή: στον πίνακα του βιβλίου το DDR2-667 γράφεται PC2-4300· το σωστό είναι PC2-5300 (667 ×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AGP, PCI και northbridge/southbridge είναι πια ιστορικά (βλ. διαφάνεια «βιβλίο και σήμερα»).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καλώδια ήχου της θήκης μπαίνουν στο Front Panel Audio, οι θύρες USB της θήκης σε κεφαλή USB (συνήθως 2 θύρες ανά κεφαλή).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Στο Setup: Main (ώρα, δίσκοι), Hardware Monitor (θερμοκρασίες, στροφές, τάσεις), Boot (σειρά εκκίνησης), Security (κωδικοί), Exit. Στο εργαστήριο: πλοήγηση ΧΩΡΙΣ αποθήκευση αλλαγών.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δεν υπάρχουν ακίδες ούτε κουμπί: βγάζουμε την μπαταρία για 30 δευτ.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6η ΔΙΔΑΚΤΙΚΗ ΩΡΑ · §2.6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μητρική πλακέτα: επεξεργαστής, μνήμη, BIOS/UEFI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3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72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 ο επεξεργαστής είναι ο «εγκέφαλος» του υπολογιστή, τι είναι η μητρική πλακέτα;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«νευρικό σύστημα»: πάνω της μπαίνουν όλα τα εξαρτήματα και συνδέονται τα περιφερειακά. Οι προδιαγραφές της καθορίζουν ποιον επεξεργαστή, ποια μνήμη και ποιες κάρτες μπορούμε να βάλουμε.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85216" cy="585216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35024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αναγνωρίζετε τύπους, μέρη και θύρες της μητρικής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883664"/>
            <a:ext cx="585216" cy="585216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0299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883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περιγράφετε βάσεις και χαρακτηριστικά επεξεργαστών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2578608"/>
            <a:ext cx="585216" cy="585216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72491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57860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διαβάζετε ονομασίες μνήμης RAM και να τη βάζετε σωστά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3273552"/>
            <a:ext cx="585216" cy="585216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1985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27355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συνδέετε τα καλώδια πρόσοψης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3968496"/>
            <a:ext cx="585216" cy="585216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11480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00200" y="396849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εξηγείτε BIOS, UEFI, POST και BIOS Reset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Μεγέθη μητρικής (form factor)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Πρότυπο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Διαστάσεις (χιλ.)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Πού ταιριάζει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 × 244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Mid, Mini Tower – το πιο συνηθισμένο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 ATX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 × 244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Όρθιες θήκες, μικρότερα συστήματα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ITX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 × 170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Μικρές θήκες, HTPC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 ITX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× 120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Ειδικές κατασκευές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ITX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Ειδικές κατασκευές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6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πρότυπο ορίζει μέγεθος, οπές στήριξης, πλαίσιο θυρών (I/O shield) και θέσεις καρτών – όχι τις θέσεις των υποδοχών ρεύματος, δίσκων και πρόσοψης.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Τα μέρη της μητρικής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9844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424178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επεξεργαστή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socket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55748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29844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206" y="142417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41548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Υποδοχές μνήμης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665476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slots (DIMM)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54296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64024" y="129844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54" y="142417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0096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Υποδοχές επέκτασης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PCIe, PCI, AGP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52844" y="118872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62572" y="129844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302" y="1424178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8644" y="128016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Πίσω θύρες I/O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62572" y="187452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δίκτυο, εικόνα, ήχος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6928" y="305866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58" y="318439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Θύρες SATA / IDE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66928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δίσκους και οπτικούς οδηγούς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55748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665476" y="305866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1206" y="3184398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241548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Ακίδες πρόσοψης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665476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panel connectors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54296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764024" y="305866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754" y="3184398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40096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Κεφαλές ήχου και USB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764024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τις θύρες της θήκης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752844" y="2948940"/>
            <a:ext cx="1933956" cy="1623060"/>
          </a:xfrm>
          <a:prstGeom prst="roundRect">
            <a:avLst>
              <a:gd name="adj" fmla="val 5634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862572" y="3058668"/>
            <a:ext cx="502920" cy="5029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8302" y="3184398"/>
            <a:ext cx="251460" cy="2514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438644" y="3040380"/>
            <a:ext cx="1156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Chipset, BIOS, ρεύμα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862572" y="3634740"/>
            <a:ext cx="17145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Ολοκληρωμένα κυκλώματα και σύνδεσμοι τροφοδοσίας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45" name="Text 3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Θύρες στο πίσω μέρος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Θύρα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συνδέουμε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Θύρα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συνδέουμε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(μπλε = 3.0)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Περιφερειακά, δίσκους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Εικόνα και ήχος (ψηφιακά)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 RJ45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Δίκτυο 10 / 100 / 1000 / 10000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DVI (-I, -D, -A)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Εικόνα ψηφιακή ή/και αναλογική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PS/2 (μωβ / πράσινη)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Πληκτρολόγιο / ποντίκι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VGA (D-sub, 15 ακίδες)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Αναλογική εικόνα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Ήχος: ροζ / πράσινο / μπλε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Μικρόφωνο / ηχεία / line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S/P DIF (RCA, Toslink)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Ψηφιακός ήχος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RP-SMA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Κεραία Wi‑Fi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eSATA / FireWire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Εξωτερικοί δίσκοι, κάμερες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DB9 / DB25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Παλιές σειριακές / παράλληλες συσκευές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διάταξη δεν είναι τυποποιημένη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Επεξεργαστής: βάση και χαρακτηριστικά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E5F2EA"/>
          </a:solidFill>
          <a:ln w="19050">
            <a:solidFill>
              <a:srgbClr val="E5F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(CPU socket)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και AMD: οι μεγαλύτεροι κατασκευαστές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βάση δέχεται ΜΟΝΟ συμβατούς επεξεργαστές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LGA: οι ακίδες είναι στη βάση (Intel)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PGA: οι ακίδες είναι στον επεξεργαστή (AMD στο βιβλίο)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Παραδείγματα βιβλίου: LGA1150, LGA1155, AM3+, FM2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E5F2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Χαρακτηριστικά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Συχνότητα ρολογιού (π.χ. 3 GHz = 3 δισ. κύκλοι/δευτ.)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L1 / L2 / L3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Πυρήνες και πολυνηματική τεχνολογία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(32 bit, έως 4 GB μνήμη) ή x64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Εικονικοποίηση · ενσωματωμένα γραφικά · κατανάλωση (W)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Τοποθέτηση επεξεργαστή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Ελέγχουμε ότι η βάση του επεξεργαστή ταιριάζει με της μητρικής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0688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6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5201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Αφαιρούμε το προστατευτικό κάλυμμα της βάσης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27076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70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589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Ανοίγουμε τον μοχλό και ανασηκώνουμε το μεταλλικό πλαίσιο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7977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Ευθυγραμμίζουμε το τρίγωνο του επεξεργαστή με την ένδειξη της βάσης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39852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98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4365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Τον αφήνουμε να «κάτσει» – χωρίς καμία δύναμη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96240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62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0753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Κλείνουμε και ασφαλίζουμε τον μοχλό · μετά η ψύξη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κάθεται σωστά;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Λάθος προσανατολισμός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Στραβωμένη ακίδα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Ξένο σώμα στη βάση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όλα τα βήματα: προφύλαξη από στατικό ηλεκτρισμό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Μνήμη RAM (DDR SDRAM DIMM)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E5F2EA"/>
          </a:solidFill>
          <a:ln w="19050">
            <a:solidFill>
              <a:srgbClr val="E5F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διαβάζουμε το όνομα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DDRx-yyyy: yyyy = συχνότητα σε MHz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PCx-yyyyy: ρυθμός μεταφοράς σε MB/s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PC-Rating = συχνότητα × 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DDR3-1600 = PC3-12800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ECC: βρίσκει και διορθώνει λάθη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latency (CL): καθυστέρηση σε κύκλους ρολογιού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E5F2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Γενιές (επαφές / τάση)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DDR: 184 / 2,5 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DDR2: 240 / 1,8 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DDR3: 240 / 1,5 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DDR4: 288 / 1,2 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(Σήμερα και DDR5: 288 / 1,1 V)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channel: ίδια αρθρώματα στο σωστό ζεύγος υποδοχών – βλ. εγχειρίδιο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Τοποθέτηση μνήμης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Ελέγχουμε συμβατότητα (εγχειρίδιο ή CPU-Z)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64792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Ανοίγουμε τα δύο άγκιστρα της υποδοχής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41448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Γυρίζουμε το άρθρωμα ώστε η εγκοπή να ταιριάζει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ευθυγραμμίζουμε με την υποδοχή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9476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Πιέζουμε κάθετα μέχρι το «κλικ» – κλείνουν τα άγκιστρα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Συμβουλή του βιβλίου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4 υποδοχές: καλύτερα 2 × 2 GB παρά 4 × 1 GB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Έτσι μένει χώρος για αναβάθμιση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Αφαίρεση: πιέζουμε τα άγκιστρα προς τα έξω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Chipset και υποδοχές επέκτασης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3731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1615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Chipset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16152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Καθορίζει επεξεργαστή, μνήμη, κάρτες και περιφερειακά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94360" cy="59436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25171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16152" y="2057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16152" y="2359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Μνήμη και γραφικά, κοντά στον επεξεργαστή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1661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6152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Southbridge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16152" y="32735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Περιφερειακά και κάρτες επέκτασης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663440" y="1188720"/>
            <a:ext cx="594360" cy="59436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133731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2239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22392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Μόνο για γραφικά · x8 έως 2133 MB/s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2103120"/>
            <a:ext cx="594360" cy="59436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22517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22392" y="2057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22392" y="2359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Παράλληλος, διαμοιραζόμενος · έως 266 MB/s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3017520"/>
            <a:ext cx="594360" cy="59436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030" y="316611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22392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x1 / x4 / x8 / x16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2392" y="32735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Σειριακός, ανεξάρτητες λωρίδες · x16 για γραφικά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6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κάρτα PCIe x1 μπαίνει και σε μεγαλύτερη υποδοχή (x8, x16). Οι εκδόσεις PCIe είναι συμβατές προς τα πίσω.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Καλώδια πρόσοψης (front panel)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Ακίδες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κάνει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Πολικότητα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PWR SW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Εκκίνηση · πατημένο &gt; 4 δευτ. = κλείσιμο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Δεν έχει σημασία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SW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Επανεκκίνηση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Δεν έχει σημασία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Λυχνία λειτουργίας (αναβοσβήνει σε αναμονή)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Έχει: + χρωματιστό, − άσπρο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Αναβοσβήνει σε ανάγνωση / εγγραφή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Έχει: + / 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Ήχοι (beep) του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Κόκκινο +, μαύρο 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2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6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δεν ανάβει; Γυρίζουμε ανάποδα τον σύνδεσμο – δεν χαλάει τίποτα. Εκκίνηση χωρίς καλώδια: ενώνουμε για μια στιγμή τις 2 ακίδες PWR SW με ίσιο κατσαβίδι.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 και UEFI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E5F2EA"/>
          </a:solidFill>
          <a:ln w="19050">
            <a:solidFill>
              <a:srgbClr val="E5F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σε chip EEPROM της μητρικής (αναβάθμιση = flashing)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CMOS: κρατά τις ρυθμίσεις με μπαταρία (CR2032)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αυτοέλεγχος υλικού σε κάθε εκκίνηση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με Del, F2 ή F1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(ενδεικτικά): 1 σύντομος = εντάξει · συνεχόμενος = μνήμη · 1 μακρύς + 2 σύντομοι = κάρτα γραφικών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E5F2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UEFI – η εξέλιξη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Εκκίνηση από δίσκους μεγαλύτερους από 2,2 TB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32/64 bit, πρόσβαση σε όλη τη μνήμη (το BIOS: 16 bit, 1 MB)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Γρηγορότερη εκκίνηση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Καλύτερη προστασία από bootkits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Φιλικό περιβάλλον, με ποντίκι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 Reset (Clear CMOS)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Σβήνουμε τον υπολογιστή και βγάζουμε το καλώδιο ρεύματος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64792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Αφαιρούμε την μπαταρία (πιέζοντας το έλασμα)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41448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CLR CMOS από 1-2 σε 2-3 για 10 δευτ. και πίσω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18104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Ξαναβάζουμε την μπαταρία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384048" cy="38404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9476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Συνδέουμε το ρεύμα και ανοίγουμε τον υπολογιστή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12422A"/>
          </a:solidFill>
          <a:ln w="12700">
            <a:solidFill>
              <a:srgbClr val="1242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Πότε χρειάζεται;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γίνεται POST μετά από αλλαγή υλικού ή ρυθμίσεων (π.χ. overclocking)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Ξεχάσαμε τον κωδικό του BIOS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Ακολουθούμε πάντα το εγχειρίδιο της μητρικής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Μπαταρία CMOS: αλλαγή κάθε 3–4 χρόνια ή όταν χάνεται η ώρα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LGA1150, AM3+ · «AMD = PGA»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LGA1700 / LGA1851 · AMD AM5 (κι αυτή LGA)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Μνήμες DDR3 / DDR4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DDR5 στα νέα συστήματα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AGP, PCI, northbridge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(έως 5.0), ένα chipset, δίσκοι M.2 NVMe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VGA, DVI, PS/2, σειριακή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USB‑C, USB4 / Thunderbolt, DisplayPort, HDMI 2.1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με μπλε μενού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UEFI με γραφικά· τα Windows 11 θέλουν UEFI, Secure Boot, TPM 2.0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4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6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Κεφ2_Ώρα6_Φύλλο_Εργασίας.docx και Κεφ2_Ώρα6_Εφαρμογή_Μητρική.html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ανήκει κάθε θύρα; Τα στοιχεία του υπολογιστή σου (msinfo32).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Ονομασίες RAM, σωστή σειρά CPU και RAM, εγχειρίδιο μητρικής.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 BIOS/POST, Clear CMOS, μελέτη αναβάθμισης.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24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2.6 · Η μητρική πλακέτα: επεξεργαστής, μνήμη, BIOS/UEFI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4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Μητρική: ATX 305 × 244, micro ATX 244 × 244 χιλ.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η βάση πρέπει να ταιριάζει · RAM: DDRx-yyyy = PCx-(yyyy × 8)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E8B64C"/>
          </a:solidFill>
          <a:ln w="12700">
            <a:solidFill>
              <a:srgbClr val="E8B64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BIOS/UEFI: POST, Setup, Clear CMOS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θα ελέγχατε πρώτα πριν αγοράσετε νέα μνήμη RAM για τον υπολογιστή σας;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6 – Η μητρική πλακέτα: επεξεργαστής, μνήμη, BIOS/UEFI</dc:title>
  <dc:subject>PptxGenJS Presentation</dc:subject>
  <dc:creator>PptxGenJS</dc:creator>
  <cp:lastModifiedBy>PptxGenJS</cp:lastModifiedBy>
  <cp:revision>1</cp:revision>
  <dcterms:created xsi:type="dcterms:W3CDTF">2026-09-16T20:32:04Z</dcterms:created>
  <dcterms:modified xsi:type="dcterms:W3CDTF">2026-09-16T20:32:04Z</dcterms:modified>
</cp:coreProperties>
</file>