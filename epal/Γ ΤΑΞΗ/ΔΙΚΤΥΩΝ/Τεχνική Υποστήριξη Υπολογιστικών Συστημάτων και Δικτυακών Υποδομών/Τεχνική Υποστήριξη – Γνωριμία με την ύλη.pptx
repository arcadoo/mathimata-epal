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34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Καλωσόρισμα. Ρωτήστε: ποιος έχει φτιάξει ποτέ υπολογιστή φίλου ή συγγενή; Ποιος έχει πει «κάνε επανεκκίνηση»; Αυτό είναι ήδη τεχνική υποστήριξη. Σήμερα βλέπουμε τι θα μάθουμε όλη τη χρονιά.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Διαβάστε τα «τηλεφωνήματα» με ύφος πελάτη. Ρωτήστε: ποιο θα ελέγχατε πρώτο; Κάθε κάρτα αντιστοιχεί σε ένα κεφάλαιο του βιβλίου – έτσι είναι δομημένη όλη η ύλη.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 χάρτης όλης της χρονιάς. Τονίστε ότι είναι «μαθημα εργαστηριακό»: σε κάθε κεφάλαιο θα λύνουμε πραγματικά σενάρια βλαβών.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Κεφ. 1: τρόποι υποστήριξης (επιτόπια, τηλεφωνική, απομακρυσμένη), μεθοδολογία, συμβόλαια και χρόνοι απόκρισης. Δραστηριότητα βιβλίου: σύνδεση με TeamViewer σε άλλον υπολογιστή του εργαστηρίου. Πείτε: ο καλός τεχνικός ακολουθεί διαδικασία, δεν «σκαλίζει».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Κεφ. 2: γενικά, προβλήματα συσκευών (τροφοδοσία, μητρική, CPU, μνήμη, δίσκοι, περιφερειακά), προβλήματα servers σε Windows Server / Ubuntu Server, σενάρια συντήρησης. Αν υπάρχει παλιό τροφοδοτικό ή μητρική στο εργαστήριο, δείξτε το. Ιδέα: όλοι τρέχουν Speccy/HWiNFO και συγκρίνουν τα PC τους.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Κεφ. 3: αναβάθμιση BIOS, προβλήματα εκκίνησης Λ.Σ., βελτιστοποίηση, προβλήματα εφαρμογών, υποστήριξη σε εφαρμογές γραφείου, antivirus, πολιτικές ασφαλείας, τείχος προστασίας, αντίγραφα ασφαλείας, επαναφορά συστήματος, ανάκτηση δεδομένων, απομακρυσμένη παρακολούθηση. Ερώτηση: αν σας κλέψουν σήμερα το κινητό, τι χάνετε για πάντα; Εκεί «πιάνει» ο κανόνας 3-2-1 (ransomware = ο λόγος που υπάρχει).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Κεφ. 4: προβλήματα δικτυακών υποδομών, επικοινωνία σε επίπεδο IP, DHCP, DNS (η μεγαλύτερη ενότητα), προβλήματα από λογισμικό ασφαλείας, κακόβουλο λογισμικό, δικτυακοί πόροι. Ζωντανά: ανοίξτε cmd και τρέξτε ipconfig και ping μπροστά τους. Η «σκάλα» διαβάζεται από κάτω προς τα πάνω.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Κεφ. 5: υποστήριξη εξυπηρετητών, κονσόλα διαχείρισης, επόπτης συμβάντων σε Windows, διαχείριση DHCP servers, print servers, mail servers. Σύνδεση με το σχολείο: ποιος μοιράζει IP στο εργαστήριό μας; Ποιος server εξυπηρετεί τους εκτυπωτές;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Σύνδεση με την αγορά εργασίας: οι ρόλοι IT support είναι από τους πιο διαθέσιμους για αποφοίτους ΕΠΑΛ. Αναφέρετε ότι υπάρχουν και διεθνείς πιστοποιήσεις (π.χ. CompTIA A+) για όποιον θέλει να το πάει παραπέρα.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Μικρή δραστηριότητα 5 λεπτών για κλείσιμο. Απάντηση: ναι, όλα τα PC του ίδιου δικτύου έχουν τον ίδιο router ως πύλη – αυτό θα το δούμε αναλυτικά στο Κεφ. 4 (IP, DHCP). Γεφυρώνει με την επόμενη ώρα.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188720" cy="11887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" y="1132027"/>
            <a:ext cx="570586" cy="5705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Γ΄ ΕΠΑ.Λ. · ΤΟΜΕΑΣ ΠΛΗΡΟΦΟΡΙΚΗΣ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10515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Τεχνική Υποστήριξη Υπολογιστικών Συστημάτων &amp; Δικτυακών Υποδομών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Ή αλλιώς: πώς γίνεσαι αυτός που φωνάζουν όταν «κάτι δεν δουλεύει».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557784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577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 </a:t>
            </a: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μάθημα_1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ΜΙΑ ΜΕΡΑ ΣΤΟ HELP DESK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Τα 4 τηλεφωνήματα κάθε μέρας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7" y="2374697"/>
            <a:ext cx="416966" cy="4169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20574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«Πάτησα το κουμπί και δεν ανοίγει τίποτα!»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 · Υλικό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48840"/>
            <a:ext cx="868680" cy="868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097" y="237469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35240" y="20574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«Βγάζει παράθυρα μόνο του και σέρνεται»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63524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3 · Λογισμικό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480560"/>
            <a:ext cx="868680" cy="8686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537" y="470641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11680" y="43891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«Δεν έχω ίντερνετ – αλλά το Wi-Fi δείχνει συνδεδεμένο»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2011680" y="5532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4 · Δίκτυα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72200" y="411480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480560"/>
            <a:ext cx="868680" cy="8686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097" y="470641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35240" y="43891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«Κανείς στο γραφείο δεν μπορεί να τυπώσει»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635240" y="5532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5 · Servers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ΧΑΡΤΗΣ ΤΗΣ ΧΡΟΝΙΑΣ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κεφάλαια, από το καλώδιο ως τον server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874520" y="2788920"/>
            <a:ext cx="143560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1188720" cy="11887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747" y="2503627"/>
            <a:ext cx="570586" cy="5705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77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Τρόποι &amp; μεθοδολογία υποστήριξης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133088" y="2788920"/>
            <a:ext cx="143560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127248" y="2194560"/>
            <a:ext cx="1188720" cy="118872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315" y="2503627"/>
            <a:ext cx="570586" cy="5705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07208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715768" y="3977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Προβλήματα υλικού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6391656" y="2788920"/>
            <a:ext cx="143560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385816" y="2194560"/>
            <a:ext cx="1188720" cy="11887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4883" y="2503627"/>
            <a:ext cx="570586" cy="5705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65776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3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974336" y="3977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Λογισμικό &amp; δεδομένα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8650224" y="2788920"/>
            <a:ext cx="143560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644384" y="2194560"/>
            <a:ext cx="1188720" cy="118872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3451" y="2503627"/>
            <a:ext cx="570586" cy="57058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24344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4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232904" y="3977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Υποστήριξη δικτύων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9902952" y="2194560"/>
            <a:ext cx="1188720" cy="11887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2019" y="2503627"/>
            <a:ext cx="570586" cy="57058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582912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5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9491472" y="3977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Διαχείριση servers</a:t>
            </a:r>
            <a:endParaRPr lang="en-US" sz="1700" dirty="0"/>
          </a:p>
        </p:txBody>
      </p:sp>
      <p:sp>
        <p:nvSpPr>
          <p:cNvPr id="28" name="Shape 21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2296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λογική: 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πρώτα μαθαίνουμε να σκεφτόμαστε σαν τεχνικοί, μετά πάμε προς τα πάνω – λογισμικό, δίκτυο, servers.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Σκέψου σαν τεχνικός – μην μαντεύεις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68680" cy="8686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7" y="196321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737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Απομακρυσμένη υποστήριξη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Φτιάχνεις υπολογιστή σε άλλη πόλη με TeamViewer / AnyDesk – ο χρήστης σου λέει μόνο ένα ID.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868680" cy="8686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7" y="342625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3200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Μεθοδολογία &amp; διαγράμματα ροής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3611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Βήμα-βήμα έλεγχος: «Ανάβει η οθόνη; → Ναι / Όχι». Λιγότερη τύχη, περισσότερη λογική.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4663440"/>
            <a:ext cx="868680" cy="8686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7" y="488929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663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Συμβόλαια υποστήριξης (SLA)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645920" y="5074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πελάτης πληρώνει για απόκριση σε 4, 12, 24 ή 48 ώρες. Ο χρόνος είναι χρήμα.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406640" y="1645920"/>
            <a:ext cx="448056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768096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Π.χ. «Μαύρη οθόνη»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092440" y="2286000"/>
            <a:ext cx="3108960" cy="594360"/>
          </a:xfrm>
          <a:prstGeom prst="roundRect">
            <a:avLst>
              <a:gd name="adj" fmla="val 15385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092440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Ανάβει το LED της οθόνης;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9646920" y="2880360"/>
            <a:ext cx="0" cy="4114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8092440" y="3291840"/>
            <a:ext cx="3108960" cy="594360"/>
          </a:xfrm>
          <a:prstGeom prst="roundRect">
            <a:avLst>
              <a:gd name="adj" fmla="val 15385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092440" y="3291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Είναι σωστό το καλώδιο/είσοδος;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9646920" y="3886200"/>
            <a:ext cx="0" cy="4114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8092440" y="4297680"/>
            <a:ext cx="3108960" cy="59436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092440" y="4297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Δοκιμή με άλλη οθόνη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9646920" y="4892040"/>
            <a:ext cx="0" cy="4114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8092440" y="5303520"/>
            <a:ext cx="3108960" cy="594360"/>
          </a:xfrm>
          <a:prstGeom prst="roundRect">
            <a:avLst>
              <a:gd name="adj" fmla="val 1538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09244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Έλεγχος κάρτας γραφικών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2 · ΥΛΙΚΟ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«Δεν ανοίγει!» – η ιατροδικαστική του PC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ένα πολύμετρο ελέγχεις το τροφοδοτικό: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3.3V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καλώδιο πορτοκαλί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23160" y="219456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2286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5V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καλώδιο κόκκινο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19456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2286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12V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καλώδιο κίτρινο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22452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114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Φουσκωμένοι πυκνωτές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στη μητρική = </a:t>
            </a:r>
            <a:r>
              <a:rPr lang="el-GR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σίγουρη ζημιά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86460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754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Μνήμες RAM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δοκιμή μία-μία σε κάθε υποδοχή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550468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5394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Λυγισμένα pins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στον επεξεργαστή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75120" y="1691640"/>
            <a:ext cx="4937760" cy="4434840"/>
          </a:xfrm>
          <a:prstGeom prst="roundRect">
            <a:avLst>
              <a:gd name="adj" fmla="val 309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5160" y="1965960"/>
            <a:ext cx="822960" cy="8229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130" y="2179930"/>
            <a:ext cx="395021" cy="395021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001000" y="2011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«ακτινογραφικό» μας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01752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HWiNFO / Speccy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έχει μέσα, θερμοκρασίες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(PassMark)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πού «κολλάει» το σύστημα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Bootable USB εργαλείων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διάσωση όταν τα Windows δεν ξεκινούν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3 · ΛΟΓΙΣΜΙΚΟ &amp; ΔΕΔΟΜΕΝΑ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πιο πολύτιμο κομμάτι: τα αρχεία σου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154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1899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Εκκίνηση &amp; BIOS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Όταν τα Windows «κολλάνε» στο λογότυπο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86200" y="1737360"/>
            <a:ext cx="3154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2011680"/>
            <a:ext cx="685800" cy="6858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828" y="21899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6052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Βελτιστοποίηση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16052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Αργό σύστημα, εφαρμογές που κρασάρουν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3154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06240"/>
            <a:ext cx="685800" cy="6858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" y="43845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Κακόβουλο λογισμικό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349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Antivirus, πολιτικές ασφαλείας, firewall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886200" y="3931920"/>
            <a:ext cx="3154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160520" y="4206240"/>
            <a:ext cx="685800" cy="6858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828" y="43845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16052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Επαναφορά &amp; ανάκτηση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160520" y="5349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Restore, ανάκτηση σβησμένων αρχείων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406640" y="1737360"/>
            <a:ext cx="4206240" cy="4206240"/>
          </a:xfrm>
          <a:prstGeom prst="roundRect">
            <a:avLst>
              <a:gd name="adj" fmla="val 3261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72668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κανόνας 3-2-1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7726680" y="25603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27" name="Text 21"/>
          <p:cNvSpPr txBox="1"/>
          <p:nvPr/>
        </p:nvSpPr>
        <p:spPr>
          <a:xfrm>
            <a:off x="8641080" y="2560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αντίγραφα των δεδομένων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7726680" y="3611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29" name="Text 23"/>
          <p:cNvSpPr txBox="1"/>
          <p:nvPr/>
        </p:nvSpPr>
        <p:spPr>
          <a:xfrm>
            <a:off x="8641080" y="3611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διαφορετικά μέσα (δίσκος, USB…)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7726680" y="4663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31" name="Text 25"/>
          <p:cNvSpPr txBox="1"/>
          <p:nvPr/>
        </p:nvSpPr>
        <p:spPr>
          <a:xfrm>
            <a:off x="8641080" y="4663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εκτός σπιτιού / στο cloud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4 · ΔΙΚΤΥΑ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«Δεν έχω ίντερνετ» – ανεβαίνουμε τη σκάλα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5029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Καλώδιο / Wi-Fi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5029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Είναι φυσικά συνδεδεμένο;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51560" y="406908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4069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IP (DHCP)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4069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Πήρε σωστή διεύθυνση;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54480" y="310896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334155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83080" y="3108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Router / Gateway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Φτάνω ως τον router;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57400" y="214884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475569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2148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148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Μεταφράζονται τα ονόματα;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737360"/>
            <a:ext cx="4663440" cy="4206240"/>
          </a:xfrm>
          <a:prstGeom prst="roundRect">
            <a:avLst>
              <a:gd name="adj" fmla="val 2609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20116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 </a:t>
            </a: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ipconfig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ποια IP έχω;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 </a:t>
            </a: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8.8.8.8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υπάρχει σύνδεση;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 </a:t>
            </a: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tracert google.com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από πού περνάω;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 </a:t>
            </a: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nslookup ebooks.edu.gr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δουλεύει το DNS;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5 · SERVERS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Πίσω από κάθε γραφείο κρύβεται ένας server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103120"/>
            <a:ext cx="914400" cy="9144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23408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200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Κονσόλα διαχείρισης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840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«πιλοτήριο» του λειτουργικού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88920" y="182880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55848" y="2103120"/>
            <a:ext cx="914400" cy="9144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23408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26080" y="3200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Viewer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26080" y="3840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«μαύρο κουτί»: τι έγινε και πότε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0" y="182880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596128" y="2103120"/>
            <a:ext cx="914400" cy="9144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23408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66360" y="3200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server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166360" y="3840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Μοιράζει IP σε όλους αυτόματα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269480" y="182880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36408" y="2103120"/>
            <a:ext cx="914400" cy="9144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2" y="234086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06640" y="3200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server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06640" y="3840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Ένας εκτυπωτής, 30 χρήστες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509760" y="182880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76688" y="2103120"/>
            <a:ext cx="914400" cy="9144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2340864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46920" y="3200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server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9646920" y="3840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δεν έφτασε το email;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22960" y="5120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Κόλπο επαγγελματία: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πριν αλλάξεις οτιδήποτε, άνοιξε το Event Viewer – συνήθως το πρόβλημα έχει ήδη καταγραφεί εκεί.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ΚΕΡΔΙΖΕΤΕ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Δεξιότητες που ζητάει η αγορά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914400" cy="9144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0208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013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/ IT Support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2219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πιο συχνή πρώτη δουλειά στην πληροφορική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914400" cy="9144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43814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32186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Τεχνικός Η/Υ &amp; δικτύων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393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Καταστήματα, συνεργεία, εταιρείες, σχολεία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4617720"/>
            <a:ext cx="914400" cy="9144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85546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46360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691640" y="5056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επόμενο σκαλοπάτι – servers &amp; ασφάλεια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949440" y="1783080"/>
            <a:ext cx="4663440" cy="4160520"/>
          </a:xfrm>
          <a:prstGeom prst="roundRect">
            <a:avLst>
              <a:gd name="adj" fmla="val 329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269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εργαστήριο θα…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7269480" y="260604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συνδεθούμε απομακρυσμένα σε άλλο PC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«ακτινογραφήσουμε» τα PC μας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κυνηγήσουμε προβλήματα δικτύου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στήσουμε backup &amp; επαναφορά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λύσουμε σενάρια βλαβών «σαν πελάτες»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810158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83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Πρώτη αποστολή – τώρα!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2834640"/>
            <a:ext cx="6583680" cy="2377440"/>
          </a:xfrm>
          <a:prstGeom prst="roundRect">
            <a:avLst>
              <a:gd name="adj" fmla="val 461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3017520"/>
            <a:ext cx="6126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</a:t>
            </a:r>
            <a:r>
              <a:rPr lang="en-US" sz="17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 + R → γράψτε </a:t>
            </a: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C:\&gt; </a:t>
            </a: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ipconfig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</a:t>
            </a:r>
            <a:r>
              <a:rPr lang="en-US" sz="17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Βρείτε: IPv4 &amp; Default Gateway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C:\&gt; </a:t>
            </a: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&lt;το gateway&gt;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98080" y="2834640"/>
            <a:ext cx="4114800" cy="2377440"/>
          </a:xfrm>
          <a:prstGeom prst="roundRect">
            <a:avLst>
              <a:gd name="adj" fmla="val 4615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Ερώτηση για όλους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47472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Έχουν όλοι οι υπολογιστές του εργαστηρίου το ίδιο gateway; Γιατί;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Ό,τι δεν δουλεύει, το λύνουμε μαζί. Καλή χρονιά!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1178</Words>
  <Application>Microsoft Office PowerPoint</Application>
  <PresentationFormat>Ευρεία οθόνη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Τεχνική Υποστήριξη – Γνωριμία με την ύλη</dc:title>
  <dc:subject>PptxGenJS Presentation</dc:subject>
  <dc:creator>PptxGenJS</dc:creator>
  <cp:lastModifiedBy>Χρήστος Ηλιόπουλος</cp:lastModifiedBy>
  <cp:revision>2</cp:revision>
  <dcterms:created xsi:type="dcterms:W3CDTF">2026-09-21T15:00:33Z</dcterms:created>
  <dcterms:modified xsi:type="dcterms:W3CDTF">2026-09-21T15:25:18Z</dcterms:modified>
</cp:coreProperties>
</file>