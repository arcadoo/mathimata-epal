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Αφόρμηση: «Ο τεχνικός ήξερε να το φτιάξει, αλλά ο πελάτης δεν τον ξαναπήρε ποτέ. Γιατί;»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Σελ. 9: κανόνες επαγγελματικής συμπεριφοράς. Ζητήστε από την τάξη ένα παράδειγμα για κάθε «ΟΧΙ» από δική τους εμπειρία ως πελάτες.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Σελ. 10: αριθμημένα βήματα, ονόματα κουμπιών σε «εισαγωγικά», χωρίς τεχνικούς όρους, σύντομες παράγραφοι, έλεγχος ορθογραφίας. Στο Επίπεδο 2 του ΦΕ3 θα ξαναγράψουν ένα τέτοιο «κακό» 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Σελ. 9–10. Ζητήστε από έναν μαθητή να «παίξει» τον πελάτη με ένα απλό πρόβλημα και εφαρμόστε ζωντανά τις τρεις φράσεις.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Σελ. 10–11: online οδηγίες, FAQ, blog/forum. Βασικός κανόνας του βιβλίου: φερόμαστε στους πελάτες όπως θα θέλαμε να μας φερθούν σε κάτι που δεν ξέρουμε.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Δείξτε στον προβολέα την πρώτη ερώτηση της Κλήσης 1 για να καταλάβουν πώς δουλεύει ο προσομοιωτής. Ανοίγει με διπλό κλικ, δεν χρειάζεται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Συζήτηση 5΄. Κρατήστε τους βαθμούς του προσομοιωτή ως ένδειξη για τον προφορικό βαθμό.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1188720" cy="11887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707" y="1132027"/>
            <a:ext cx="570586" cy="57058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1 · ΩΡΑ 3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Επικοινωνία με τον πελάτη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Μισή δουλειά είναι το πρόβλημα. Η άλλη μισή είναι ο άνθρωπος.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Τεχνική Υποστήριξη Υπολογιστικών Συστημάτων &amp; Δικτυακών Υποδομών · Βιβλίο σελ. 9–11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ΚΑΝΟΝΕΣ · ΣΕΛ. 9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Τι κάνει ένας επαγγελματίας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ΝΑΙ ✔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060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Μιλάω απλά, χωρίς ορολογία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Ακούω χωρίς να διακόπτω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Είμαι στην ώρα μου ή ενημερώνω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Κάνω ανοιχτές ερωτήσεις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Ελέγχω αργότερα ότι όλα πάνε καλά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874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ΟΧΙ ✘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6060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Διαφωνώ ή γίνομαι αμυντικός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Υποβαθμίζω το πρόβλημα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Κρίνω ή κατηγορώ τον πελάτη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Μιλάω στο κινητό την ώρα της εξυπηρέτησης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Υπόσχομαι κάτι που δεν ξέρω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ΓΡΑΠΤΗ ΥΠΟΣΤΗΡΙΞΗ · ΣΕΛ. 10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 ίδιο email, δύο εκδοχές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440680" cy="54864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Έτσι όχι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688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«Κάνε clear cache στον browser και restart. Αν δεν παίζει, reinstall. Θα έπρεπε να το ξέρεις.»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406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691640"/>
            <a:ext cx="5440680" cy="54864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691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Έτσι ναι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46888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Καλησπέρα κυρία Μαρία,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να λύσουμε το πρόβλημα: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Κλείστε το Chrome.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Ανοίξτε το ξανά.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Πατήστε «Ctrl + Shift + Delete» και μετά «Διαγραφή δεδομένων».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 χρειαστείτε κάτι, είμαι εδώ.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ΦΡΑΣΕΙΣ ΠΟΥ ΛΥΝΟΥΝ ΠΡΟΒΛΗΜΑΤΑ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Τρεις φράσεις που θα λέτε κάθε μέρα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583680" cy="1188720"/>
          </a:xfrm>
          <a:prstGeom prst="roundRect">
            <a:avLst>
              <a:gd name="adj" fmla="val 11538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«Αν κατάλαβα σωστά…»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406640" y="16916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Επαναλαμβάνω το πρόβλημα με δικά μου λόγια για να επιβεβαιώσω.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6583680" cy="1188720"/>
          </a:xfrm>
          <a:prstGeom prst="roundRect">
            <a:avLst>
              <a:gd name="adj" fmla="val 11538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1546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«Τι ακριβώς γράφει η οθόνη;»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31546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Ζητάω το μήνυμα λάθους ή ένα στιγμιότυπο οθόνης.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6583680" cy="1188720"/>
          </a:xfrm>
          <a:prstGeom prst="roundRect">
            <a:avLst>
              <a:gd name="adj" fmla="val 11538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6177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«Θα σας πάρω αύριο να δούμε ότι όλα πάνε καλά.»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46177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Παρακολουθώ μετά τη λύση. Ο πελάτης το θυμάται.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ΣΕΛ. 10–11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Υποστήριξη και όταν δεν είσαι εκεί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24328" cy="3291840"/>
          </a:xfrm>
          <a:prstGeom prst="roundRect">
            <a:avLst>
              <a:gd name="adj" fmla="val 4181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011680"/>
            <a:ext cx="868680" cy="8686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177" y="2237537"/>
            <a:ext cx="416966" cy="4169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06324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2 φορές τη μέρα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749040"/>
            <a:ext cx="2258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πελάτης περιμένει απάντηση την ίδια εργάσιμη.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55848" y="1737360"/>
            <a:ext cx="2624328" cy="3291840"/>
          </a:xfrm>
          <a:prstGeom prst="roundRect">
            <a:avLst>
              <a:gd name="adj" fmla="val 4181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24528" y="2011680"/>
            <a:ext cx="868680" cy="8686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385" y="223753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38728" y="306324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38728" y="3749040"/>
            <a:ext cx="2258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Λίστα με συχνές ερωτήσεις που ενημερώνεται.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163056" y="1737360"/>
            <a:ext cx="2624328" cy="3291840"/>
          </a:xfrm>
          <a:prstGeom prst="roundRect">
            <a:avLst>
              <a:gd name="adj" fmla="val 4181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31736" y="2011680"/>
            <a:ext cx="868680" cy="8686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593" y="223753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45936" y="306324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/ blog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345936" y="3749040"/>
            <a:ext cx="2258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πελάτες βοηθούν ο ένας τον άλλον.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970264" y="1737360"/>
            <a:ext cx="2624328" cy="3291840"/>
          </a:xfrm>
          <a:prstGeom prst="roundRect">
            <a:avLst>
              <a:gd name="adj" fmla="val 4181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838944" y="2011680"/>
            <a:ext cx="868680" cy="8686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4801" y="2237537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53144" y="306324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Στιγμιότυπα &amp; βίντεο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9153144" y="3749040"/>
            <a:ext cx="2258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Μια εικόνα αξίζει όσο δέκα οδηγίες.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Στόχος: να «εκπαιδεύσουμε» σιγά-σιγά τον χρήστη να λύνει μόνος του τα απλά προβλήματα.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ΕΡΓΑΣΤΗΡΙΟ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Φύλλο Εργασίας 3: διαλέγεις τον ρυθμό σου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28800"/>
            <a:ext cx="685800" cy="68580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0071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013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Επίπεδο 1 · Ξεκινάω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194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όλους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3464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Προσομοιωτής: Κλήσεις 1 και 2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Σωστό ή Λάθος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297680" y="1691640"/>
            <a:ext cx="35661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169164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26280" y="1828800"/>
            <a:ext cx="685800" cy="68580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588" y="200710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49240" y="18013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Επίπεδο 2 · Προχωράω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5349240" y="2194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όταν τελειώσεις το 1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0" y="283464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Κλήση 3: ο θυμωμένος πελάτης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Ξαναγράφω ένα «κακό» email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8046720" y="1691640"/>
            <a:ext cx="35661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46720" y="169164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75320" y="1828800"/>
            <a:ext cx="685800" cy="68580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00710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98280" y="18013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Επίπεδο 3 · Πρόκληση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9098280" y="2194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όσους θέλουν παραπάνω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321040" y="283464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Ανοιχτές ερωτήσεις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Φτιάχνω μικρό FAQ με στιγμιότυπα</a:t>
            </a:r>
            <a:endParaRPr lang="en-US" sz="1700" dirty="0"/>
          </a:p>
        </p:txBody>
      </p:sp>
      <p:sp>
        <p:nvSpPr>
          <p:cNvPr id="25" name="Shape 20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22960" y="5394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Αρχεία: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ΦΕ3 (Word)  +  πρόγραμμα prosomoiotis_klisis.html   ·   Αποθήκευση: Ctrl + S → ΦΕ3_Επώνυμο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" y="901598"/>
            <a:ext cx="482803" cy="482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ΚΛΕΙΣΙΜΟ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3172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Ποια απάντηση του προσομοιωτή σάς φάνηκε πιο «αληθινή»; Την έχετε ακούσει ποτέ ως πελάτες;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8463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Την επόμενη φορά: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Μεθοδολογία: πώς βρίσκουμε τη βλάβη χωρίς να μαντεύουμε (διαγράμματα ροής).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Κεφ. 1 · Ώρα 3</dc:title>
  <dc:subject>PptxGenJS Presentation</dc:subject>
  <dc:creator>PptxGenJS</dc:creator>
  <cp:lastModifiedBy>PptxGenJS</cp:lastModifiedBy>
  <cp:revision>1</cp:revision>
  <dcterms:created xsi:type="dcterms:W3CDTF">2026-09-21T15:16:48Z</dcterms:created>
  <dcterms:modified xsi:type="dcterms:W3CDTF">2026-09-21T15:16:48Z</dcterms:modified>
</cp:coreProperties>
</file>