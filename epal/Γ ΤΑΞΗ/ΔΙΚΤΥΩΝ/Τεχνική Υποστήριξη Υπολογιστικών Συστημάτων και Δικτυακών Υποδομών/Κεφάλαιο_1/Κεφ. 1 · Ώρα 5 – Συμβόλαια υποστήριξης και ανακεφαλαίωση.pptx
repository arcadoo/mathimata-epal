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Arial"/>
              </a:defRPr>
            </a:pPr>
            <a:r>
              <a:rPr sz="1400" b="0" i="0" u="none" strike="noStrike">
                <a:solidFill>
                  <a:srgbClr val="1E293B"/>
                </a:solidFill>
                <a:latin typeface="Arial"/>
              </a:rPr>
              <a:t>Γραφείο με 6 PC, 1 server, 2 εκτυπωτές, 1 router</a:t>
            </a:r>
          </a:p>
        </c:rich>
      </c:tx>
      <c:layout/>
      <c:overlay val="0"/>
    </c:title>
    <c:autoTitleDeleted val="0"/>
    <c:plotArea>
      <c:layout/>
      <c:barChart>
        <c:barDir val="col"/>
        <c:grouping val="clustered"/>
        <c:varyColors val="0"/>
        <c:ser>
          <c:idx val="0"/>
          <c:order val="0"/>
          <c:tx>
            <c:strRef>
              <c:f>Sheet1!$B$1</c:f>
              <c:strCache>
                <c:ptCount val="1"/>
                <c:pt idx="0">
                  <c:v>€ / μήνα</c:v>
                </c:pt>
              </c:strCache>
            </c:strRef>
          </c:tx>
          <c:spPr>
            <a:solidFill>
              <a:srgbClr val="16A34A"/>
            </a:solidFill>
            <a:effectLst/>
          </c:spPr>
          <c:invertIfNegative val="0"/>
          <c:dLbls>
            <c:numFmt formatCode="0 €"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48 ώρες</c:v>
                  </c:pt>
                  <c:pt idx="1">
                    <c:v>24 ώρες</c:v>
                  </c:pt>
                  <c:pt idx="2">
                    <c:v>12 ώρες</c:v>
                  </c:pt>
                  <c:pt idx="3">
                    <c:v>4 ώρες</c:v>
                  </c:pt>
                </c:lvl>
              </c:multiLvlStrCache>
            </c:multiLvlStrRef>
          </c:cat>
          <c:val>
            <c:numRef>
              <c:f>Sheet1!$B$2:$B$5</c:f>
              <c:numCache>
                <c:formatCode>General</c:formatCode>
                <c:ptCount val="4"/>
                <c:pt idx="0">
                  <c:v>130</c:v>
                </c:pt>
                <c:pt idx="1">
                  <c:v>156</c:v>
                </c:pt>
                <c:pt idx="2">
                  <c:v>195</c:v>
                </c:pt>
                <c:pt idx="3">
                  <c:v>260</c:v>
                </c:pt>
              </c:numCache>
            </c:numRef>
          </c:val>
        </c:ser>
        <c:dLbls>
          <c:numFmt formatCode="0 €"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Αφόρμηση: «Ένα φαρμακείο χωρίς υπολογιστή για μία ημέρα: τι χάνει;»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Σελ. 15: οι εξειδικευμένες εταιρείες πουλούν συμβόλαια ως εναλλακτική λύση αντί για χωριστό τμήμα πληροφορικής. Το συμβόλαιο πρέπει να ταιριάζει στις ανάγκες του χρήστη, που συχνά δεν τις ξέρει: θέλει συζήτηση.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Σελ. 15–16: χρόνος απόκρισης εντός 4, 12, 24 ή 48 ωρών, κλιμακωτές εκπτώσεις έως 30%, κάλυψη Σαββατοκύριακα αν προβλέπεται. Τα παραδείγματα πελατών είναι ενδεικτικά. Ρωτήστε αν συμφωνούν.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Σελ. 15–16: πλήρης λίστα στο βιβλίο (και πρόσβαση στο κινητό του υπευθύνου για επείγοντα, νέες συνδέσεις στο δίκτυο, ασφάλεια δεδομένων).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Σελ. 16: η τιμή εξαρτάται από τον χρόνο ανταπόκρισης, το πλήθος των συσκευών, την πολυπλοκότητα του λογισμικού (backup, CRM, λογιστικό) και τις επιπλέον υπηρεσίες. Κάποιες εταιρείες χρεώνουν με βάση τις ώρες που αναμένεται να χρειαστούν. Το γράφημα είναι το ίδιο παράδειγμα με το Επίπεδο 2 του ΦΕ5 (12 € ανά PC, 40 € server, 5 € εκτυπωτής, 8 € router, συντελεστές 1 · 1,2 · 1,5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Γρήγορη προφορική επανάληψη: ένας μαθητής ανά κάρτα λέει μία πρόταση. Μετά ΦΕ5 και στα τελευταία 10 λεπτά το κουίζ.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Τα τελευταία 10 λεπτά όλοι σταματούν και κάνουν το κουίζ (16 ερωτήσεις), ό,τι επίπεδο κι αν έχουν φτάσει. Κρατήστε τα σκορ για την αξιολόγηση του κεφαλαίου.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Δραστηριότητα 4 του βιβλίου (περιγραφή θέσης εργασίας τεχνικού) συνδέεται με το 3.2 του ΦΕ5.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822960"/>
            <a:ext cx="1188720" cy="1188720"/>
          </a:xfrm>
          <a:prstGeom prst="ellipse">
            <a:avLst/>
          </a:prstGeom>
          <a:solidFill>
            <a:srgbClr val="22C55E"/>
          </a:solidFill>
          <a:ln w="12700">
            <a:solidFill>
              <a:srgbClr val="22C55E"/>
            </a:solidFill>
            <a:prstDash val="solid"/>
          </a:ln>
        </p:spPr>
      </p:sp>
      <p:pic>
        <p:nvPicPr>
          <p:cNvPr id="3" name="Image 0" descr="preencoded.png">    </p:cNvPr>
          <p:cNvPicPr>
            <a:picLocks noChangeAspect="1"/>
          </p:cNvPicPr>
          <p:nvPr/>
        </p:nvPicPr>
        <p:blipFill>
          <a:blip r:embed="rId1"/>
          <a:stretch>
            <a:fillRect/>
          </a:stretch>
        </p:blipFill>
        <p:spPr>
          <a:xfrm>
            <a:off x="857707" y="1132027"/>
            <a:ext cx="570586" cy="570586"/>
          </a:xfrm>
          <a:prstGeom prst="rect">
            <a:avLst/>
          </a:prstGeom>
        </p:spPr>
      </p:pic>
      <p:sp>
        <p:nvSpPr>
          <p:cNvPr id="4" name="Text 1"/>
          <p:cNvSpPr txBox="1"/>
          <p:nvPr/>
        </p:nvSpPr>
        <p:spPr>
          <a:xfrm>
            <a:off x="548640" y="2331720"/>
            <a:ext cx="9144000" cy="365760"/>
          </a:xfrm>
          <a:prstGeom prst="rect">
            <a:avLst/>
          </a:prstGeom>
          <a:noFill/>
          <a:ln/>
        </p:spPr>
        <p:txBody>
          <a:bodyPr wrap="square" lIns="0" tIns="0" rIns="0" bIns="0" rtlCol="0" anchor="ctr"/>
          <a:lstStyle/>
          <a:p>
            <a:pPr indent="0" marL="0">
              <a:buNone/>
            </a:pPr>
            <a:r>
              <a:rPr lang="en-US" sz="1400" b="1" spc="300" kern="0" dirty="0">
                <a:solidFill>
                  <a:srgbClr val="22C55E"/>
                </a:solidFill>
                <a:latin typeface="Calibri" pitchFamily="34" charset="0"/>
                <a:ea typeface="Calibri" pitchFamily="34" charset="-122"/>
                <a:cs typeface="Calibri" pitchFamily="34" charset="-120"/>
              </a:rPr>
              <a:t>ΚΕΦΑΛΑΙΟ 1 · ΩΡΑ 5</a:t>
            </a:r>
            <a:endParaRPr lang="en-US" sz="1400" dirty="0"/>
          </a:p>
        </p:txBody>
      </p:sp>
      <p:sp>
        <p:nvSpPr>
          <p:cNvPr id="5" name="Text 2"/>
          <p:cNvSpPr txBox="1"/>
          <p:nvPr/>
        </p:nvSpPr>
        <p:spPr>
          <a:xfrm>
            <a:off x="548640" y="2697480"/>
            <a:ext cx="107899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Συμβόλαια υποστήριξης και ανακεφαλαίωση</a:t>
            </a:r>
            <a:endParaRPr lang="en-US" sz="4000" dirty="0"/>
          </a:p>
        </p:txBody>
      </p:sp>
      <p:sp>
        <p:nvSpPr>
          <p:cNvPr id="6" name="Text 3"/>
          <p:cNvSpPr txBox="1"/>
          <p:nvPr/>
        </p:nvSpPr>
        <p:spPr>
          <a:xfrm>
            <a:off x="548640" y="4297680"/>
            <a:ext cx="10515600" cy="548640"/>
          </a:xfrm>
          <a:prstGeom prst="rect">
            <a:avLst/>
          </a:prstGeom>
          <a:noFill/>
          <a:ln/>
        </p:spPr>
        <p:txBody>
          <a:bodyPr wrap="square" lIns="0" tIns="0" rIns="0" bIns="0" rtlCol="0" anchor="ctr"/>
          <a:lstStyle/>
          <a:p>
            <a:pPr indent="0" marL="0">
              <a:buNone/>
            </a:pPr>
            <a:r>
              <a:rPr lang="en-US" sz="2000" i="1" dirty="0">
                <a:solidFill>
                  <a:srgbClr val="CBD5E1"/>
                </a:solidFill>
                <a:latin typeface="Calibri" pitchFamily="34" charset="0"/>
                <a:ea typeface="Calibri" pitchFamily="34" charset="-122"/>
                <a:cs typeface="Calibri" pitchFamily="34" charset="-120"/>
              </a:rPr>
              <a:t>Πόσο κοστίζει να μη σταματήσει ποτέ η δουλειά;</a:t>
            </a:r>
            <a:endParaRPr lang="en-US" sz="2000" dirty="0"/>
          </a:p>
        </p:txBody>
      </p:sp>
      <p:sp>
        <p:nvSpPr>
          <p:cNvPr id="7" name="Text 4"/>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Τεχνική Υποστήριξη Υπολογιστικών Συστημάτων &amp; Δικτυακών Υποδομών · Βιβλίο σελ. 15–16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16A34A"/>
                </a:solidFill>
                <a:latin typeface="Calibri" pitchFamily="34" charset="0"/>
                <a:ea typeface="Calibri" pitchFamily="34" charset="-122"/>
                <a:cs typeface="Calibri" pitchFamily="34" charset="-120"/>
              </a:rPr>
              <a:t>ΣΕΛ. 15</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Δικό μου τμήμα πληροφορικής ή συμβόλαιο;</a:t>
            </a:r>
            <a:endParaRPr lang="en-US" sz="3200" dirty="0"/>
          </a:p>
        </p:txBody>
      </p:sp>
      <p:sp>
        <p:nvSpPr>
          <p:cNvPr id="4" name="Shape 2"/>
          <p:cNvSpPr/>
          <p:nvPr/>
        </p:nvSpPr>
        <p:spPr>
          <a:xfrm>
            <a:off x="548640" y="1691640"/>
            <a:ext cx="5440680" cy="4297680"/>
          </a:xfrm>
          <a:prstGeom prst="roundRect">
            <a:avLst>
              <a:gd name="adj" fmla="val 255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1920240"/>
            <a:ext cx="868680" cy="86868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1094537" y="2146097"/>
            <a:ext cx="416966" cy="416966"/>
          </a:xfrm>
          <a:prstGeom prst="rect">
            <a:avLst/>
          </a:prstGeom>
        </p:spPr>
      </p:pic>
      <p:sp>
        <p:nvSpPr>
          <p:cNvPr id="7" name="Text 4"/>
          <p:cNvSpPr txBox="1"/>
          <p:nvPr/>
        </p:nvSpPr>
        <p:spPr>
          <a:xfrm>
            <a:off x="1920240" y="1920240"/>
            <a:ext cx="3840480" cy="8686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Δικός μου τεχνικός</a:t>
            </a:r>
            <a:endParaRPr lang="en-US" sz="2200" dirty="0"/>
          </a:p>
        </p:txBody>
      </p:sp>
      <p:sp>
        <p:nvSpPr>
          <p:cNvPr id="8" name="Text 5"/>
          <p:cNvSpPr txBox="1"/>
          <p:nvPr/>
        </p:nvSpPr>
        <p:spPr>
          <a:xfrm>
            <a:off x="914400" y="3063240"/>
            <a:ext cx="4754880" cy="26517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Μισθός κάθε μήνα, ακόμη κι αν δεν χαλάσει τίποτα</a:t>
            </a:r>
            <a:endParaRPr lang="en-US" sz="2000" dirty="0"/>
          </a:p>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Ένας άνθρωπος: άδειες, ασθένειες</a:t>
            </a:r>
            <a:endParaRPr lang="en-US" sz="2000" dirty="0"/>
          </a:p>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Συμφέρει σε μεγάλες επιχειρήσεις</a:t>
            </a:r>
            <a:endParaRPr lang="en-US" sz="2000" dirty="0"/>
          </a:p>
        </p:txBody>
      </p:sp>
      <p:sp>
        <p:nvSpPr>
          <p:cNvPr id="9" name="Shape 6"/>
          <p:cNvSpPr/>
          <p:nvPr/>
        </p:nvSpPr>
        <p:spPr>
          <a:xfrm>
            <a:off x="6172200" y="1691640"/>
            <a:ext cx="5440680" cy="4297680"/>
          </a:xfrm>
          <a:prstGeom prst="roundRect">
            <a:avLst>
              <a:gd name="adj" fmla="val 255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492240" y="1920240"/>
            <a:ext cx="868680" cy="868680"/>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6718097" y="2146097"/>
            <a:ext cx="416966" cy="416966"/>
          </a:xfrm>
          <a:prstGeom prst="rect">
            <a:avLst/>
          </a:prstGeom>
        </p:spPr>
      </p:pic>
      <p:sp>
        <p:nvSpPr>
          <p:cNvPr id="12" name="Text 8"/>
          <p:cNvSpPr txBox="1"/>
          <p:nvPr/>
        </p:nvSpPr>
        <p:spPr>
          <a:xfrm>
            <a:off x="7543800" y="1920240"/>
            <a:ext cx="3840480" cy="8686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Συμβόλαιο με εταιρεία</a:t>
            </a:r>
            <a:endParaRPr lang="en-US" sz="2200" dirty="0"/>
          </a:p>
        </p:txBody>
      </p:sp>
      <p:sp>
        <p:nvSpPr>
          <p:cNvPr id="13" name="Text 9"/>
          <p:cNvSpPr txBox="1"/>
          <p:nvPr/>
        </p:nvSpPr>
        <p:spPr>
          <a:xfrm>
            <a:off x="6537960" y="3063240"/>
            <a:ext cx="4754880" cy="26517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Σταθερή μηνιαία χρέωση</a:t>
            </a:r>
            <a:endParaRPr lang="en-US" sz="2000" dirty="0"/>
          </a:p>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Ομάδα τεχνικών, εγγυημένος χρόνος</a:t>
            </a:r>
            <a:endParaRPr lang="en-US" sz="2000" dirty="0"/>
          </a:p>
          <a:p>
            <a:pPr marL="342900" indent="-342900">
              <a:spcAft>
                <a:spcPts val="1400"/>
              </a:spcAft>
              <a:buSzPct val="100000"/>
              <a:buChar char="•"/>
            </a:pPr>
            <a:r>
              <a:rPr lang="en-US" sz="2000" dirty="0">
                <a:solidFill>
                  <a:srgbClr val="1E293B"/>
                </a:solidFill>
                <a:latin typeface="Calibri" pitchFamily="34" charset="0"/>
                <a:ea typeface="Calibri" pitchFamily="34" charset="-122"/>
                <a:cs typeface="Calibri" pitchFamily="34" charset="-120"/>
              </a:rPr>
              <a:t>Ιδανικό για μικρές και μεσαίες επιχειρήσεις</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22C55E"/>
                </a:solidFill>
                <a:latin typeface="Calibri" pitchFamily="34" charset="0"/>
                <a:ea typeface="Calibri" pitchFamily="34" charset="-122"/>
                <a:cs typeface="Calibri" pitchFamily="34" charset="-120"/>
              </a:rPr>
              <a:t>ΧΡΟΝΟΣ ΑΝΤΑΠΟΚΡΙΣΗΣ · ΣΕΛ. 15</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Σε πόσες ώρες έρχεται ο τεχνικός;</a:t>
            </a:r>
            <a:endParaRPr lang="en-US" sz="3200" dirty="0"/>
          </a:p>
        </p:txBody>
      </p:sp>
      <p:sp>
        <p:nvSpPr>
          <p:cNvPr id="4" name="Shape 2"/>
          <p:cNvSpPr/>
          <p:nvPr/>
        </p:nvSpPr>
        <p:spPr>
          <a:xfrm>
            <a:off x="548640" y="1737360"/>
            <a:ext cx="2624328" cy="3200400"/>
          </a:xfrm>
          <a:prstGeom prst="roundRect">
            <a:avLst>
              <a:gd name="adj" fmla="val 4181"/>
            </a:avLst>
          </a:prstGeom>
          <a:solidFill>
            <a:srgbClr val="1B2A41"/>
          </a:solidFill>
          <a:ln w="12700">
            <a:solidFill>
              <a:srgbClr val="1B2A41"/>
            </a:solidFill>
            <a:prstDash val="solid"/>
          </a:ln>
        </p:spPr>
      </p:sp>
      <p:sp>
        <p:nvSpPr>
          <p:cNvPr id="5" name="Text 3"/>
          <p:cNvSpPr txBox="1"/>
          <p:nvPr/>
        </p:nvSpPr>
        <p:spPr>
          <a:xfrm>
            <a:off x="548640" y="1920240"/>
            <a:ext cx="2624328" cy="1280160"/>
          </a:xfrm>
          <a:prstGeom prst="rect">
            <a:avLst/>
          </a:prstGeom>
          <a:noFill/>
          <a:ln/>
        </p:spPr>
        <p:txBody>
          <a:bodyPr wrap="square" lIns="0" tIns="0" rIns="0" bIns="0" rtlCol="0" anchor="ctr"/>
          <a:lstStyle/>
          <a:p>
            <a:pPr algn="ctr" indent="0" marL="0">
              <a:buNone/>
            </a:pPr>
            <a:r>
              <a:rPr lang="en-US" sz="7200" b="1" dirty="0">
                <a:solidFill>
                  <a:srgbClr val="EF4444"/>
                </a:solidFill>
                <a:latin typeface="Cambria" pitchFamily="34" charset="0"/>
                <a:ea typeface="Cambria" pitchFamily="34" charset="-122"/>
                <a:cs typeface="Cambria" pitchFamily="34" charset="-120"/>
              </a:rPr>
              <a:t>4</a:t>
            </a:r>
            <a:endParaRPr lang="en-US" sz="7200" dirty="0"/>
          </a:p>
        </p:txBody>
      </p:sp>
      <p:sp>
        <p:nvSpPr>
          <p:cNvPr id="6" name="Text 4"/>
          <p:cNvSpPr txBox="1"/>
          <p:nvPr/>
        </p:nvSpPr>
        <p:spPr>
          <a:xfrm>
            <a:off x="548640" y="3154680"/>
            <a:ext cx="2624328" cy="411480"/>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ώρες</a:t>
            </a:r>
            <a:endParaRPr lang="en-US" sz="1800" dirty="0"/>
          </a:p>
        </p:txBody>
      </p:sp>
      <p:sp>
        <p:nvSpPr>
          <p:cNvPr id="7" name="Text 5"/>
          <p:cNvSpPr txBox="1"/>
          <p:nvPr/>
        </p:nvSpPr>
        <p:spPr>
          <a:xfrm>
            <a:off x="731520" y="3840480"/>
            <a:ext cx="2258568"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Φαρμακείο, ξενοδοχείο</a:t>
            </a:r>
            <a:endParaRPr lang="en-US" sz="1500" dirty="0"/>
          </a:p>
        </p:txBody>
      </p:sp>
      <p:sp>
        <p:nvSpPr>
          <p:cNvPr id="8" name="Shape 6"/>
          <p:cNvSpPr/>
          <p:nvPr/>
        </p:nvSpPr>
        <p:spPr>
          <a:xfrm>
            <a:off x="3355848" y="1737360"/>
            <a:ext cx="2624328" cy="3200400"/>
          </a:xfrm>
          <a:prstGeom prst="roundRect">
            <a:avLst>
              <a:gd name="adj" fmla="val 4181"/>
            </a:avLst>
          </a:prstGeom>
          <a:solidFill>
            <a:srgbClr val="1B2A41"/>
          </a:solidFill>
          <a:ln w="12700">
            <a:solidFill>
              <a:srgbClr val="1B2A41"/>
            </a:solidFill>
            <a:prstDash val="solid"/>
          </a:ln>
        </p:spPr>
      </p:sp>
      <p:sp>
        <p:nvSpPr>
          <p:cNvPr id="9" name="Text 7"/>
          <p:cNvSpPr txBox="1"/>
          <p:nvPr/>
        </p:nvSpPr>
        <p:spPr>
          <a:xfrm>
            <a:off x="3355848" y="1920240"/>
            <a:ext cx="2624328" cy="1280160"/>
          </a:xfrm>
          <a:prstGeom prst="rect">
            <a:avLst/>
          </a:prstGeom>
          <a:noFill/>
          <a:ln/>
        </p:spPr>
        <p:txBody>
          <a:bodyPr wrap="square" lIns="0" tIns="0" rIns="0" bIns="0" rtlCol="0" anchor="ctr"/>
          <a:lstStyle/>
          <a:p>
            <a:pPr algn="ctr" indent="0" marL="0">
              <a:buNone/>
            </a:pPr>
            <a:r>
              <a:rPr lang="en-US" sz="7200" b="1" dirty="0">
                <a:solidFill>
                  <a:srgbClr val="F59E0B"/>
                </a:solidFill>
                <a:latin typeface="Cambria" pitchFamily="34" charset="0"/>
                <a:ea typeface="Cambria" pitchFamily="34" charset="-122"/>
                <a:cs typeface="Cambria" pitchFamily="34" charset="-120"/>
              </a:rPr>
              <a:t>12</a:t>
            </a:r>
            <a:endParaRPr lang="en-US" sz="7200" dirty="0"/>
          </a:p>
        </p:txBody>
      </p:sp>
      <p:sp>
        <p:nvSpPr>
          <p:cNvPr id="10" name="Text 8"/>
          <p:cNvSpPr txBox="1"/>
          <p:nvPr/>
        </p:nvSpPr>
        <p:spPr>
          <a:xfrm>
            <a:off x="3355848" y="3154680"/>
            <a:ext cx="2624328" cy="411480"/>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ώρες</a:t>
            </a:r>
            <a:endParaRPr lang="en-US" sz="1800" dirty="0"/>
          </a:p>
        </p:txBody>
      </p:sp>
      <p:sp>
        <p:nvSpPr>
          <p:cNvPr id="11" name="Text 9"/>
          <p:cNvSpPr txBox="1"/>
          <p:nvPr/>
        </p:nvSpPr>
        <p:spPr>
          <a:xfrm>
            <a:off x="3538728" y="3840480"/>
            <a:ext cx="2258568"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Κατάστημα, ιατρείο</a:t>
            </a:r>
            <a:endParaRPr lang="en-US" sz="1500" dirty="0"/>
          </a:p>
        </p:txBody>
      </p:sp>
      <p:sp>
        <p:nvSpPr>
          <p:cNvPr id="12" name="Shape 10"/>
          <p:cNvSpPr/>
          <p:nvPr/>
        </p:nvSpPr>
        <p:spPr>
          <a:xfrm>
            <a:off x="6163056" y="1737360"/>
            <a:ext cx="2624328" cy="3200400"/>
          </a:xfrm>
          <a:prstGeom prst="roundRect">
            <a:avLst>
              <a:gd name="adj" fmla="val 4181"/>
            </a:avLst>
          </a:prstGeom>
          <a:solidFill>
            <a:srgbClr val="1B2A41"/>
          </a:solidFill>
          <a:ln w="12700">
            <a:solidFill>
              <a:srgbClr val="1B2A41"/>
            </a:solidFill>
            <a:prstDash val="solid"/>
          </a:ln>
        </p:spPr>
      </p:sp>
      <p:sp>
        <p:nvSpPr>
          <p:cNvPr id="13" name="Text 11"/>
          <p:cNvSpPr txBox="1"/>
          <p:nvPr/>
        </p:nvSpPr>
        <p:spPr>
          <a:xfrm>
            <a:off x="6163056" y="1920240"/>
            <a:ext cx="2624328" cy="1280160"/>
          </a:xfrm>
          <a:prstGeom prst="rect">
            <a:avLst/>
          </a:prstGeom>
          <a:noFill/>
          <a:ln/>
        </p:spPr>
        <p:txBody>
          <a:bodyPr wrap="square" lIns="0" tIns="0" rIns="0" bIns="0" rtlCol="0" anchor="ctr"/>
          <a:lstStyle/>
          <a:p>
            <a:pPr algn="ctr" indent="0" marL="0">
              <a:buNone/>
            </a:pPr>
            <a:r>
              <a:rPr lang="en-US" sz="7200" b="1" dirty="0">
                <a:solidFill>
                  <a:srgbClr val="FACC15"/>
                </a:solidFill>
                <a:latin typeface="Cambria" pitchFamily="34" charset="0"/>
                <a:ea typeface="Cambria" pitchFamily="34" charset="-122"/>
                <a:cs typeface="Cambria" pitchFamily="34" charset="-120"/>
              </a:rPr>
              <a:t>24</a:t>
            </a:r>
            <a:endParaRPr lang="en-US" sz="7200" dirty="0"/>
          </a:p>
        </p:txBody>
      </p:sp>
      <p:sp>
        <p:nvSpPr>
          <p:cNvPr id="14" name="Text 12"/>
          <p:cNvSpPr txBox="1"/>
          <p:nvPr/>
        </p:nvSpPr>
        <p:spPr>
          <a:xfrm>
            <a:off x="6163056" y="3154680"/>
            <a:ext cx="2624328" cy="411480"/>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ώρες</a:t>
            </a:r>
            <a:endParaRPr lang="en-US" sz="1800" dirty="0"/>
          </a:p>
        </p:txBody>
      </p:sp>
      <p:sp>
        <p:nvSpPr>
          <p:cNvPr id="15" name="Text 13"/>
          <p:cNvSpPr txBox="1"/>
          <p:nvPr/>
        </p:nvSpPr>
        <p:spPr>
          <a:xfrm>
            <a:off x="6345936" y="3840480"/>
            <a:ext cx="2258568"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Λογιστικό γραφείο</a:t>
            </a:r>
            <a:endParaRPr lang="en-US" sz="1500" dirty="0"/>
          </a:p>
        </p:txBody>
      </p:sp>
      <p:sp>
        <p:nvSpPr>
          <p:cNvPr id="16" name="Shape 14"/>
          <p:cNvSpPr/>
          <p:nvPr/>
        </p:nvSpPr>
        <p:spPr>
          <a:xfrm>
            <a:off x="8970264" y="1737360"/>
            <a:ext cx="2624328" cy="3200400"/>
          </a:xfrm>
          <a:prstGeom prst="roundRect">
            <a:avLst>
              <a:gd name="adj" fmla="val 4181"/>
            </a:avLst>
          </a:prstGeom>
          <a:solidFill>
            <a:srgbClr val="1B2A41"/>
          </a:solidFill>
          <a:ln w="12700">
            <a:solidFill>
              <a:srgbClr val="1B2A41"/>
            </a:solidFill>
            <a:prstDash val="solid"/>
          </a:ln>
        </p:spPr>
      </p:sp>
      <p:sp>
        <p:nvSpPr>
          <p:cNvPr id="17" name="Text 15"/>
          <p:cNvSpPr txBox="1"/>
          <p:nvPr/>
        </p:nvSpPr>
        <p:spPr>
          <a:xfrm>
            <a:off x="8970264" y="1920240"/>
            <a:ext cx="2624328" cy="1280160"/>
          </a:xfrm>
          <a:prstGeom prst="rect">
            <a:avLst/>
          </a:prstGeom>
          <a:noFill/>
          <a:ln/>
        </p:spPr>
        <p:txBody>
          <a:bodyPr wrap="square" lIns="0" tIns="0" rIns="0" bIns="0" rtlCol="0" anchor="ctr"/>
          <a:lstStyle/>
          <a:p>
            <a:pPr algn="ctr" indent="0" marL="0">
              <a:buNone/>
            </a:pPr>
            <a:r>
              <a:rPr lang="en-US" sz="7200" b="1" dirty="0">
                <a:solidFill>
                  <a:srgbClr val="22C55E"/>
                </a:solidFill>
                <a:latin typeface="Cambria" pitchFamily="34" charset="0"/>
                <a:ea typeface="Cambria" pitchFamily="34" charset="-122"/>
                <a:cs typeface="Cambria" pitchFamily="34" charset="-120"/>
              </a:rPr>
              <a:t>48</a:t>
            </a:r>
            <a:endParaRPr lang="en-US" sz="7200" dirty="0"/>
          </a:p>
        </p:txBody>
      </p:sp>
      <p:sp>
        <p:nvSpPr>
          <p:cNvPr id="18" name="Text 16"/>
          <p:cNvSpPr txBox="1"/>
          <p:nvPr/>
        </p:nvSpPr>
        <p:spPr>
          <a:xfrm>
            <a:off x="8970264" y="3154680"/>
            <a:ext cx="2624328" cy="411480"/>
          </a:xfrm>
          <a:prstGeom prst="rect">
            <a:avLst/>
          </a:prstGeom>
          <a:noFill/>
          <a:ln/>
        </p:spPr>
        <p:txBody>
          <a:bodyPr wrap="square" lIns="0" tIns="0" rIns="0" bIns="0"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ώρες</a:t>
            </a:r>
            <a:endParaRPr lang="en-US" sz="1800" dirty="0"/>
          </a:p>
        </p:txBody>
      </p:sp>
      <p:sp>
        <p:nvSpPr>
          <p:cNvPr id="19" name="Text 17"/>
          <p:cNvSpPr txBox="1"/>
          <p:nvPr/>
        </p:nvSpPr>
        <p:spPr>
          <a:xfrm>
            <a:off x="9153144" y="3840480"/>
            <a:ext cx="2258568"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Σύλλογος, μικρό γραφείο</a:t>
            </a:r>
            <a:endParaRPr lang="en-US" sz="1500" dirty="0"/>
          </a:p>
        </p:txBody>
      </p:sp>
      <p:sp>
        <p:nvSpPr>
          <p:cNvPr id="20" name="Text 18"/>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900" i="1" dirty="0">
                <a:solidFill>
                  <a:srgbClr val="CBD5E1"/>
                </a:solidFill>
                <a:latin typeface="Calibri" pitchFamily="34" charset="0"/>
                <a:ea typeface="Calibri" pitchFamily="34" charset="-122"/>
                <a:cs typeface="Calibri" pitchFamily="34" charset="-120"/>
              </a:rPr>
              <a:t>Όσο πιο γρήγορα, τόσο πιο ακριβά. Με συμβόλαιο: έκπτωση έως 30% στις εργασίες.</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16A34A"/>
                </a:solidFill>
                <a:latin typeface="Calibri" pitchFamily="34" charset="0"/>
                <a:ea typeface="Calibri" pitchFamily="34" charset="-122"/>
                <a:cs typeface="Calibri" pitchFamily="34" charset="-120"/>
              </a:rPr>
              <a:t>ΣΕΛ. 16</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Τι περιλαμβάνει συνήθως ένα συμβόλαιο</a:t>
            </a:r>
            <a:endParaRPr lang="en-US" sz="3200" dirty="0"/>
          </a:p>
        </p:txBody>
      </p:sp>
      <p:sp>
        <p:nvSpPr>
          <p:cNvPr id="4" name="Shape 2"/>
          <p:cNvSpPr/>
          <p:nvPr/>
        </p:nvSpPr>
        <p:spPr>
          <a:xfrm>
            <a:off x="548640" y="169164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920240"/>
            <a:ext cx="777240" cy="777240"/>
          </a:xfrm>
          <a:prstGeom prst="ellipse">
            <a:avLst/>
          </a:prstGeom>
          <a:solidFill>
            <a:srgbClr val="0F1B2D"/>
          </a:solidFill>
          <a:ln w="12700">
            <a:solidFill>
              <a:srgbClr val="0F1B2D"/>
            </a:solidFill>
            <a:prstDash val="solid"/>
          </a:ln>
        </p:spPr>
      </p:sp>
      <p:pic>
        <p:nvPicPr>
          <p:cNvPr id="6" name="Image 0" descr="preencoded.png">    </p:cNvPr>
          <p:cNvPicPr>
            <a:picLocks noChangeAspect="1"/>
          </p:cNvPicPr>
          <p:nvPr/>
        </p:nvPicPr>
        <p:blipFill>
          <a:blip r:embed="rId1"/>
          <a:stretch>
            <a:fillRect/>
          </a:stretch>
        </p:blipFill>
        <p:spPr>
          <a:xfrm>
            <a:off x="979322" y="2122322"/>
            <a:ext cx="373075" cy="373075"/>
          </a:xfrm>
          <a:prstGeom prst="rect">
            <a:avLst/>
          </a:prstGeom>
        </p:spPr>
      </p:pic>
      <p:sp>
        <p:nvSpPr>
          <p:cNvPr id="7" name="Text 4"/>
          <p:cNvSpPr txBox="1"/>
          <p:nvPr/>
        </p:nvSpPr>
        <p:spPr>
          <a:xfrm>
            <a:off x="1737360" y="169164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Τηλεφωνική υποστήριξη</a:t>
            </a:r>
            <a:endParaRPr lang="en-US" sz="1600" dirty="0"/>
          </a:p>
        </p:txBody>
      </p:sp>
      <p:sp>
        <p:nvSpPr>
          <p:cNvPr id="8" name="Shape 5"/>
          <p:cNvSpPr/>
          <p:nvPr/>
        </p:nvSpPr>
        <p:spPr>
          <a:xfrm>
            <a:off x="4297680" y="169164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4526280" y="1920240"/>
            <a:ext cx="777240" cy="777240"/>
          </a:xfrm>
          <a:prstGeom prst="ellipse">
            <a:avLst/>
          </a:prstGeom>
          <a:solidFill>
            <a:srgbClr val="0F1B2D"/>
          </a:solidFill>
          <a:ln w="12700">
            <a:solidFill>
              <a:srgbClr val="0F1B2D"/>
            </a:solidFill>
            <a:prstDash val="solid"/>
          </a:ln>
        </p:spPr>
      </p:sp>
      <p:pic>
        <p:nvPicPr>
          <p:cNvPr id="10" name="Image 1" descr="preencoded.png">    </p:cNvPr>
          <p:cNvPicPr>
            <a:picLocks noChangeAspect="1"/>
          </p:cNvPicPr>
          <p:nvPr/>
        </p:nvPicPr>
        <p:blipFill>
          <a:blip r:embed="rId2"/>
          <a:stretch>
            <a:fillRect/>
          </a:stretch>
        </p:blipFill>
        <p:spPr>
          <a:xfrm>
            <a:off x="4728362" y="2122322"/>
            <a:ext cx="373075" cy="373075"/>
          </a:xfrm>
          <a:prstGeom prst="rect">
            <a:avLst/>
          </a:prstGeom>
        </p:spPr>
      </p:pic>
      <p:sp>
        <p:nvSpPr>
          <p:cNvPr id="11" name="Text 7"/>
          <p:cNvSpPr txBox="1"/>
          <p:nvPr/>
        </p:nvSpPr>
        <p:spPr>
          <a:xfrm>
            <a:off x="5486400" y="169164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Απομακρυσμένη υποστήριξη</a:t>
            </a:r>
            <a:endParaRPr lang="en-US" sz="1600" dirty="0"/>
          </a:p>
        </p:txBody>
      </p:sp>
      <p:sp>
        <p:nvSpPr>
          <p:cNvPr id="12" name="Shape 8"/>
          <p:cNvSpPr/>
          <p:nvPr/>
        </p:nvSpPr>
        <p:spPr>
          <a:xfrm>
            <a:off x="8046720" y="169164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8275320" y="1920240"/>
            <a:ext cx="777240" cy="777240"/>
          </a:xfrm>
          <a:prstGeom prst="ellipse">
            <a:avLst/>
          </a:prstGeom>
          <a:solidFill>
            <a:srgbClr val="0F1B2D"/>
          </a:solidFill>
          <a:ln w="12700">
            <a:solidFill>
              <a:srgbClr val="0F1B2D"/>
            </a:solidFill>
            <a:prstDash val="solid"/>
          </a:ln>
        </p:spPr>
      </p:sp>
      <p:pic>
        <p:nvPicPr>
          <p:cNvPr id="14" name="Image 2" descr="preencoded.png">    </p:cNvPr>
          <p:cNvPicPr>
            <a:picLocks noChangeAspect="1"/>
          </p:cNvPicPr>
          <p:nvPr/>
        </p:nvPicPr>
        <p:blipFill>
          <a:blip r:embed="rId3"/>
          <a:stretch>
            <a:fillRect/>
          </a:stretch>
        </p:blipFill>
        <p:spPr>
          <a:xfrm>
            <a:off x="8477402" y="2122322"/>
            <a:ext cx="373075" cy="373075"/>
          </a:xfrm>
          <a:prstGeom prst="rect">
            <a:avLst/>
          </a:prstGeom>
        </p:spPr>
      </p:pic>
      <p:sp>
        <p:nvSpPr>
          <p:cNvPr id="15" name="Text 10"/>
          <p:cNvSpPr txBox="1"/>
          <p:nvPr/>
        </p:nvSpPr>
        <p:spPr>
          <a:xfrm>
            <a:off x="9235440" y="169164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Προληπτική συντήρηση</a:t>
            </a:r>
            <a:endParaRPr lang="en-US" sz="1600" dirty="0"/>
          </a:p>
        </p:txBody>
      </p:sp>
      <p:sp>
        <p:nvSpPr>
          <p:cNvPr id="16" name="Shape 11"/>
          <p:cNvSpPr/>
          <p:nvPr/>
        </p:nvSpPr>
        <p:spPr>
          <a:xfrm>
            <a:off x="548640" y="310896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777240" y="3337560"/>
            <a:ext cx="777240" cy="777240"/>
          </a:xfrm>
          <a:prstGeom prst="ellipse">
            <a:avLst/>
          </a:prstGeom>
          <a:solidFill>
            <a:srgbClr val="0F1B2D"/>
          </a:solidFill>
          <a:ln w="12700">
            <a:solidFill>
              <a:srgbClr val="0F1B2D"/>
            </a:solidFill>
            <a:prstDash val="solid"/>
          </a:ln>
        </p:spPr>
      </p:sp>
      <p:pic>
        <p:nvPicPr>
          <p:cNvPr id="18" name="Image 3" descr="preencoded.png">    </p:cNvPr>
          <p:cNvPicPr>
            <a:picLocks noChangeAspect="1"/>
          </p:cNvPicPr>
          <p:nvPr/>
        </p:nvPicPr>
        <p:blipFill>
          <a:blip r:embed="rId4"/>
          <a:stretch>
            <a:fillRect/>
          </a:stretch>
        </p:blipFill>
        <p:spPr>
          <a:xfrm>
            <a:off x="979322" y="3539642"/>
            <a:ext cx="373075" cy="373075"/>
          </a:xfrm>
          <a:prstGeom prst="rect">
            <a:avLst/>
          </a:prstGeom>
        </p:spPr>
      </p:pic>
      <p:sp>
        <p:nvSpPr>
          <p:cNvPr id="19" name="Text 13"/>
          <p:cNvSpPr txBox="1"/>
          <p:nvPr/>
        </p:nvSpPr>
        <p:spPr>
          <a:xfrm>
            <a:off x="1737360" y="310896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Αφαίρεση ιών &amp; κακόβουλου λογισμικού</a:t>
            </a:r>
            <a:endParaRPr lang="en-US" sz="1600" dirty="0"/>
          </a:p>
        </p:txBody>
      </p:sp>
      <p:sp>
        <p:nvSpPr>
          <p:cNvPr id="20" name="Shape 14"/>
          <p:cNvSpPr/>
          <p:nvPr/>
        </p:nvSpPr>
        <p:spPr>
          <a:xfrm>
            <a:off x="4297680" y="310896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1" name="Shape 15"/>
          <p:cNvSpPr/>
          <p:nvPr/>
        </p:nvSpPr>
        <p:spPr>
          <a:xfrm>
            <a:off x="4526280" y="3337560"/>
            <a:ext cx="777240" cy="777240"/>
          </a:xfrm>
          <a:prstGeom prst="ellipse">
            <a:avLst/>
          </a:prstGeom>
          <a:solidFill>
            <a:srgbClr val="0F1B2D"/>
          </a:solidFill>
          <a:ln w="12700">
            <a:solidFill>
              <a:srgbClr val="0F1B2D"/>
            </a:solidFill>
            <a:prstDash val="solid"/>
          </a:ln>
        </p:spPr>
      </p:sp>
      <p:pic>
        <p:nvPicPr>
          <p:cNvPr id="22" name="Image 4" descr="preencoded.png">    </p:cNvPr>
          <p:cNvPicPr>
            <a:picLocks noChangeAspect="1"/>
          </p:cNvPicPr>
          <p:nvPr/>
        </p:nvPicPr>
        <p:blipFill>
          <a:blip r:embed="rId5"/>
          <a:stretch>
            <a:fillRect/>
          </a:stretch>
        </p:blipFill>
        <p:spPr>
          <a:xfrm>
            <a:off x="4728362" y="3539642"/>
            <a:ext cx="373075" cy="373075"/>
          </a:xfrm>
          <a:prstGeom prst="rect">
            <a:avLst/>
          </a:prstGeom>
        </p:spPr>
      </p:pic>
      <p:sp>
        <p:nvSpPr>
          <p:cNvPr id="23" name="Text 16"/>
          <p:cNvSpPr txBox="1"/>
          <p:nvPr/>
        </p:nvSpPr>
        <p:spPr>
          <a:xfrm>
            <a:off x="5486400" y="310896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Αναβάθμιση λογισμικού &amp; υλικού</a:t>
            </a:r>
            <a:endParaRPr lang="en-US" sz="1600" dirty="0"/>
          </a:p>
        </p:txBody>
      </p:sp>
      <p:sp>
        <p:nvSpPr>
          <p:cNvPr id="24" name="Shape 17"/>
          <p:cNvSpPr/>
          <p:nvPr/>
        </p:nvSpPr>
        <p:spPr>
          <a:xfrm>
            <a:off x="8046720" y="3108960"/>
            <a:ext cx="356616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5" name="Shape 18"/>
          <p:cNvSpPr/>
          <p:nvPr/>
        </p:nvSpPr>
        <p:spPr>
          <a:xfrm>
            <a:off x="8275320" y="3337560"/>
            <a:ext cx="777240" cy="777240"/>
          </a:xfrm>
          <a:prstGeom prst="ellipse">
            <a:avLst/>
          </a:prstGeom>
          <a:solidFill>
            <a:srgbClr val="0F1B2D"/>
          </a:solidFill>
          <a:ln w="12700">
            <a:solidFill>
              <a:srgbClr val="0F1B2D"/>
            </a:solidFill>
            <a:prstDash val="solid"/>
          </a:ln>
        </p:spPr>
      </p:sp>
      <p:pic>
        <p:nvPicPr>
          <p:cNvPr id="26" name="Image 5" descr="preencoded.png">    </p:cNvPr>
          <p:cNvPicPr>
            <a:picLocks noChangeAspect="1"/>
          </p:cNvPicPr>
          <p:nvPr/>
        </p:nvPicPr>
        <p:blipFill>
          <a:blip r:embed="rId6"/>
          <a:stretch>
            <a:fillRect/>
          </a:stretch>
        </p:blipFill>
        <p:spPr>
          <a:xfrm>
            <a:off x="8477402" y="3539642"/>
            <a:ext cx="373075" cy="373075"/>
          </a:xfrm>
          <a:prstGeom prst="rect">
            <a:avLst/>
          </a:prstGeom>
        </p:spPr>
      </p:pic>
      <p:sp>
        <p:nvSpPr>
          <p:cNvPr id="27" name="Text 19"/>
          <p:cNvSpPr txBox="1"/>
          <p:nvPr/>
        </p:nvSpPr>
        <p:spPr>
          <a:xfrm>
            <a:off x="9235440" y="3108960"/>
            <a:ext cx="2240280" cy="12344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Προσωρινή αντικατάσταση συσκευής</a:t>
            </a:r>
            <a:endParaRPr lang="en-US" sz="1600" dirty="0"/>
          </a:p>
        </p:txBody>
      </p:sp>
      <p:sp>
        <p:nvSpPr>
          <p:cNvPr id="28" name="Shape 20"/>
          <p:cNvSpPr/>
          <p:nvPr/>
        </p:nvSpPr>
        <p:spPr>
          <a:xfrm>
            <a:off x="548640" y="4709160"/>
            <a:ext cx="11064240" cy="1188720"/>
          </a:xfrm>
          <a:prstGeom prst="roundRect">
            <a:avLst>
              <a:gd name="adj" fmla="val 9231"/>
            </a:avLst>
          </a:prstGeom>
          <a:solidFill>
            <a:srgbClr val="FEE2E2"/>
          </a:solidFill>
          <a:ln w="12700">
            <a:solidFill>
              <a:srgbClr val="FEE2E2"/>
            </a:solidFill>
            <a:prstDash val="solid"/>
          </a:ln>
        </p:spPr>
      </p:sp>
      <p:sp>
        <p:nvSpPr>
          <p:cNvPr id="29" name="Shape 21"/>
          <p:cNvSpPr/>
          <p:nvPr/>
        </p:nvSpPr>
        <p:spPr>
          <a:xfrm>
            <a:off x="822960" y="4910328"/>
            <a:ext cx="777240" cy="777240"/>
          </a:xfrm>
          <a:prstGeom prst="ellipse">
            <a:avLst/>
          </a:prstGeom>
          <a:solidFill>
            <a:srgbClr val="EF4444"/>
          </a:solidFill>
          <a:ln w="12700">
            <a:solidFill>
              <a:srgbClr val="EF4444"/>
            </a:solidFill>
            <a:prstDash val="solid"/>
          </a:ln>
        </p:spPr>
      </p:sp>
      <p:pic>
        <p:nvPicPr>
          <p:cNvPr id="30" name="Image 6" descr="preencoded.png">    </p:cNvPr>
          <p:cNvPicPr>
            <a:picLocks noChangeAspect="1"/>
          </p:cNvPicPr>
          <p:nvPr/>
        </p:nvPicPr>
        <p:blipFill>
          <a:blip r:embed="rId7"/>
          <a:stretch>
            <a:fillRect/>
          </a:stretch>
        </p:blipFill>
        <p:spPr>
          <a:xfrm>
            <a:off x="1025042" y="5112410"/>
            <a:ext cx="373075" cy="373075"/>
          </a:xfrm>
          <a:prstGeom prst="rect">
            <a:avLst/>
          </a:prstGeom>
        </p:spPr>
      </p:pic>
      <p:sp>
        <p:nvSpPr>
          <p:cNvPr id="31" name="Text 22"/>
          <p:cNvSpPr txBox="1"/>
          <p:nvPr/>
        </p:nvSpPr>
        <p:spPr>
          <a:xfrm>
            <a:off x="1828800" y="4709160"/>
            <a:ext cx="9509760" cy="1188720"/>
          </a:xfrm>
          <a:prstGeom prst="rect">
            <a:avLst/>
          </a:prstGeom>
          <a:noFill/>
          <a:ln/>
        </p:spPr>
        <p:txBody>
          <a:bodyPr wrap="square" lIns="0" tIns="0" rIns="0" bIns="0" rtlCol="0" anchor="ctr"/>
          <a:lstStyle/>
          <a:p>
            <a:pPr indent="0" marL="0">
              <a:buNone/>
            </a:pPr>
            <a:r>
              <a:rPr lang="en-US" sz="1900" b="1" dirty="0">
                <a:solidFill>
                  <a:srgbClr val="991B1B"/>
                </a:solidFill>
                <a:latin typeface="Calibri" pitchFamily="34" charset="0"/>
                <a:ea typeface="Calibri" pitchFamily="34" charset="-122"/>
                <a:cs typeface="Calibri" pitchFamily="34" charset="-120"/>
              </a:rPr>
              <a:t>Συνήθως ΔΕΝ περιλαμβάνει: </a:t>
            </a:r>
            <a:pPr indent="0" marL="0">
              <a:buNone/>
            </a:pPr>
            <a:r>
              <a:rPr lang="en-US" sz="1900" dirty="0">
                <a:solidFill>
                  <a:srgbClr val="1E293B"/>
                </a:solidFill>
                <a:latin typeface="Calibri" pitchFamily="34" charset="0"/>
                <a:ea typeface="Calibri" pitchFamily="34" charset="-122"/>
                <a:cs typeface="Calibri" pitchFamily="34" charset="-120"/>
              </a:rPr>
              <a:t>ανταλλακτικά και λογισμικό που θα χρειαστεί. Αυτά χρεώνονται χωριστά.</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16A34A"/>
                </a:solidFill>
                <a:latin typeface="Calibri" pitchFamily="34" charset="0"/>
                <a:ea typeface="Calibri" pitchFamily="34" charset="-122"/>
                <a:cs typeface="Calibri" pitchFamily="34" charset="-120"/>
              </a:rPr>
              <a:t>ΠΟΣΟ ΚΟΣΤΙΖΕΙ;</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Τι ανεβάζει την τιμή</a:t>
            </a:r>
            <a:endParaRPr lang="en-US" sz="3200" dirty="0"/>
          </a:p>
        </p:txBody>
      </p:sp>
      <p:sp>
        <p:nvSpPr>
          <p:cNvPr id="4" name="Shape 2"/>
          <p:cNvSpPr/>
          <p:nvPr/>
        </p:nvSpPr>
        <p:spPr>
          <a:xfrm>
            <a:off x="548640" y="1691640"/>
            <a:ext cx="777240" cy="777240"/>
          </a:xfrm>
          <a:prstGeom prst="ellipse">
            <a:avLst/>
          </a:prstGeom>
          <a:solidFill>
            <a:srgbClr val="0F1B2D"/>
          </a:solidFill>
          <a:ln w="12700">
            <a:solidFill>
              <a:srgbClr val="0F1B2D"/>
            </a:solidFill>
            <a:prstDash val="solid"/>
          </a:ln>
        </p:spPr>
      </p:sp>
      <p:pic>
        <p:nvPicPr>
          <p:cNvPr id="5" name="Image 0" descr="preencoded.png">    </p:cNvPr>
          <p:cNvPicPr>
            <a:picLocks noChangeAspect="1"/>
          </p:cNvPicPr>
          <p:nvPr/>
        </p:nvPicPr>
        <p:blipFill>
          <a:blip r:embed="rId1"/>
          <a:stretch>
            <a:fillRect/>
          </a:stretch>
        </p:blipFill>
        <p:spPr>
          <a:xfrm>
            <a:off x="750722" y="1893722"/>
            <a:ext cx="373075" cy="373075"/>
          </a:xfrm>
          <a:prstGeom prst="rect">
            <a:avLst/>
          </a:prstGeom>
        </p:spPr>
      </p:pic>
      <p:sp>
        <p:nvSpPr>
          <p:cNvPr id="6" name="Text 3"/>
          <p:cNvSpPr txBox="1"/>
          <p:nvPr/>
        </p:nvSpPr>
        <p:spPr>
          <a:xfrm>
            <a:off x="1508760" y="1691640"/>
            <a:ext cx="3474720" cy="77724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Χρόνος ανταπόκρισης</a:t>
            </a:r>
            <a:endParaRPr lang="en-US" sz="1800" dirty="0"/>
          </a:p>
        </p:txBody>
      </p:sp>
      <p:sp>
        <p:nvSpPr>
          <p:cNvPr id="7" name="Shape 4"/>
          <p:cNvSpPr/>
          <p:nvPr/>
        </p:nvSpPr>
        <p:spPr>
          <a:xfrm>
            <a:off x="548640" y="2770632"/>
            <a:ext cx="777240" cy="777240"/>
          </a:xfrm>
          <a:prstGeom prst="ellipse">
            <a:avLst/>
          </a:prstGeom>
          <a:solidFill>
            <a:srgbClr val="0F1B2D"/>
          </a:solidFill>
          <a:ln w="12700">
            <a:solidFill>
              <a:srgbClr val="0F1B2D"/>
            </a:solidFill>
            <a:prstDash val="solid"/>
          </a:ln>
        </p:spPr>
      </p:sp>
      <p:pic>
        <p:nvPicPr>
          <p:cNvPr id="8" name="Image 1" descr="preencoded.png">    </p:cNvPr>
          <p:cNvPicPr>
            <a:picLocks noChangeAspect="1"/>
          </p:cNvPicPr>
          <p:nvPr/>
        </p:nvPicPr>
        <p:blipFill>
          <a:blip r:embed="rId2"/>
          <a:stretch>
            <a:fillRect/>
          </a:stretch>
        </p:blipFill>
        <p:spPr>
          <a:xfrm>
            <a:off x="750722" y="2972714"/>
            <a:ext cx="373075" cy="373075"/>
          </a:xfrm>
          <a:prstGeom prst="rect">
            <a:avLst/>
          </a:prstGeom>
        </p:spPr>
      </p:pic>
      <p:sp>
        <p:nvSpPr>
          <p:cNvPr id="9" name="Text 5"/>
          <p:cNvSpPr txBox="1"/>
          <p:nvPr/>
        </p:nvSpPr>
        <p:spPr>
          <a:xfrm>
            <a:off x="1508760" y="2770632"/>
            <a:ext cx="3474720" cy="77724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Πλήθος συσκευών</a:t>
            </a:r>
            <a:endParaRPr lang="en-US" sz="1800" dirty="0"/>
          </a:p>
        </p:txBody>
      </p:sp>
      <p:sp>
        <p:nvSpPr>
          <p:cNvPr id="10" name="Shape 6"/>
          <p:cNvSpPr/>
          <p:nvPr/>
        </p:nvSpPr>
        <p:spPr>
          <a:xfrm>
            <a:off x="548640" y="3849624"/>
            <a:ext cx="777240" cy="777240"/>
          </a:xfrm>
          <a:prstGeom prst="ellipse">
            <a:avLst/>
          </a:prstGeom>
          <a:solidFill>
            <a:srgbClr val="0F1B2D"/>
          </a:solidFill>
          <a:ln w="12700">
            <a:solidFill>
              <a:srgbClr val="0F1B2D"/>
            </a:solidFill>
            <a:prstDash val="solid"/>
          </a:ln>
        </p:spPr>
      </p:sp>
      <p:pic>
        <p:nvPicPr>
          <p:cNvPr id="11" name="Image 2" descr="preencoded.png">    </p:cNvPr>
          <p:cNvPicPr>
            <a:picLocks noChangeAspect="1"/>
          </p:cNvPicPr>
          <p:nvPr/>
        </p:nvPicPr>
        <p:blipFill>
          <a:blip r:embed="rId3"/>
          <a:stretch>
            <a:fillRect/>
          </a:stretch>
        </p:blipFill>
        <p:spPr>
          <a:xfrm>
            <a:off x="750722" y="4051706"/>
            <a:ext cx="373075" cy="373075"/>
          </a:xfrm>
          <a:prstGeom prst="rect">
            <a:avLst/>
          </a:prstGeom>
        </p:spPr>
      </p:pic>
      <p:sp>
        <p:nvSpPr>
          <p:cNvPr id="12" name="Text 7"/>
          <p:cNvSpPr txBox="1"/>
          <p:nvPr/>
        </p:nvSpPr>
        <p:spPr>
          <a:xfrm>
            <a:off x="1508760" y="3849624"/>
            <a:ext cx="3474720" cy="77724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Πολύπλοκο λογισμικό</a:t>
            </a:r>
            <a:endParaRPr lang="en-US" sz="1800" dirty="0"/>
          </a:p>
        </p:txBody>
      </p:sp>
      <p:sp>
        <p:nvSpPr>
          <p:cNvPr id="13" name="Shape 8"/>
          <p:cNvSpPr/>
          <p:nvPr/>
        </p:nvSpPr>
        <p:spPr>
          <a:xfrm>
            <a:off x="548640" y="4928616"/>
            <a:ext cx="777240" cy="777240"/>
          </a:xfrm>
          <a:prstGeom prst="ellipse">
            <a:avLst/>
          </a:prstGeom>
          <a:solidFill>
            <a:srgbClr val="0F1B2D"/>
          </a:solidFill>
          <a:ln w="12700">
            <a:solidFill>
              <a:srgbClr val="0F1B2D"/>
            </a:solidFill>
            <a:prstDash val="solid"/>
          </a:ln>
        </p:spPr>
      </p:sp>
      <p:pic>
        <p:nvPicPr>
          <p:cNvPr id="14" name="Image 3" descr="preencoded.png">    </p:cNvPr>
          <p:cNvPicPr>
            <a:picLocks noChangeAspect="1"/>
          </p:cNvPicPr>
          <p:nvPr/>
        </p:nvPicPr>
        <p:blipFill>
          <a:blip r:embed="rId4"/>
          <a:stretch>
            <a:fillRect/>
          </a:stretch>
        </p:blipFill>
        <p:spPr>
          <a:xfrm>
            <a:off x="750722" y="5130698"/>
            <a:ext cx="373075" cy="373075"/>
          </a:xfrm>
          <a:prstGeom prst="rect">
            <a:avLst/>
          </a:prstGeom>
        </p:spPr>
      </p:pic>
      <p:sp>
        <p:nvSpPr>
          <p:cNvPr id="15" name="Text 9"/>
          <p:cNvSpPr txBox="1"/>
          <p:nvPr/>
        </p:nvSpPr>
        <p:spPr>
          <a:xfrm>
            <a:off x="1508760" y="4928616"/>
            <a:ext cx="3474720" cy="77724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Επιπλέον υπηρεσίες</a:t>
            </a:r>
            <a:endParaRPr lang="en-US" sz="1800" dirty="0"/>
          </a:p>
        </p:txBody>
      </p:sp>
      <p:graphicFrame>
        <p:nvGraphicFramePr>
          <p:cNvPr id="16" name="Chart 0" descr=""/>
          <p:cNvGraphicFramePr/>
          <p:nvPr/>
        </p:nvGraphicFramePr>
        <p:xfrm>
          <a:off x="5303520" y="1554480"/>
          <a:ext cx="6309360" cy="3931920"/>
        </p:xfrm>
        <a:graphic xmlns:a="http://schemas.openxmlformats.org/drawingml/2006/main">
          <a:graphicData uri="http://schemas.openxmlformats.org/drawingml/2006/chart">
            <c:chart xmlns:c="http://schemas.openxmlformats.org/drawingml/2006/chart" r:id="rId5"/>
          </a:graphicData>
        </a:graphic>
      </p:graphicFrame>
      <p:sp>
        <p:nvSpPr>
          <p:cNvPr id="17" name="Text 10"/>
          <p:cNvSpPr txBox="1"/>
          <p:nvPr/>
        </p:nvSpPr>
        <p:spPr>
          <a:xfrm>
            <a:off x="5303520" y="5577840"/>
            <a:ext cx="630936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Ενδεικτικές τιμές για άσκηση, όχι τιμές αγοράς.</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16A34A"/>
                </a:solidFill>
                <a:latin typeface="Calibri" pitchFamily="34" charset="0"/>
                <a:ea typeface="Calibri" pitchFamily="34" charset="-122"/>
                <a:cs typeface="Calibri" pitchFamily="34" charset="-120"/>
              </a:rPr>
              <a:t>ΑΝΑΚΕΦΑΛΑΙΩΣΗ ΚΕΦΑΛΑΙΟΥ 1</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Τι μάθαμε σε 5 ώρες</a:t>
            </a:r>
            <a:endParaRPr lang="en-US" sz="3200" dirty="0"/>
          </a:p>
        </p:txBody>
      </p:sp>
      <p:sp>
        <p:nvSpPr>
          <p:cNvPr id="4" name="Shape 2"/>
          <p:cNvSpPr/>
          <p:nvPr/>
        </p:nvSpPr>
        <p:spPr>
          <a:xfrm>
            <a:off x="548640" y="1737360"/>
            <a:ext cx="2057400" cy="393192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1115568" y="2011680"/>
            <a:ext cx="914400" cy="914400"/>
          </a:xfrm>
          <a:prstGeom prst="ellipse">
            <a:avLst/>
          </a:prstGeom>
          <a:solidFill>
            <a:srgbClr val="0F1B2D"/>
          </a:solidFill>
          <a:ln w="12700">
            <a:solidFill>
              <a:srgbClr val="0F1B2D"/>
            </a:solidFill>
            <a:prstDash val="solid"/>
          </a:ln>
        </p:spPr>
      </p:sp>
      <p:pic>
        <p:nvPicPr>
          <p:cNvPr id="6" name="Image 0" descr="preencoded.png">    </p:cNvPr>
          <p:cNvPicPr>
            <a:picLocks noChangeAspect="1"/>
          </p:cNvPicPr>
          <p:nvPr/>
        </p:nvPicPr>
        <p:blipFill>
          <a:blip r:embed="rId1"/>
          <a:stretch>
            <a:fillRect/>
          </a:stretch>
        </p:blipFill>
        <p:spPr>
          <a:xfrm>
            <a:off x="1353312" y="2249424"/>
            <a:ext cx="438912" cy="438912"/>
          </a:xfrm>
          <a:prstGeom prst="rect">
            <a:avLst/>
          </a:prstGeom>
        </p:spPr>
      </p:pic>
      <p:sp>
        <p:nvSpPr>
          <p:cNvPr id="7" name="Text 4"/>
          <p:cNvSpPr txBox="1"/>
          <p:nvPr/>
        </p:nvSpPr>
        <p:spPr>
          <a:xfrm>
            <a:off x="658368" y="3108960"/>
            <a:ext cx="1828800" cy="73152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Υπολογιστικό σύστημα</a:t>
            </a:r>
            <a:endParaRPr lang="en-US" sz="1600" dirty="0"/>
          </a:p>
        </p:txBody>
      </p:sp>
      <p:sp>
        <p:nvSpPr>
          <p:cNvPr id="8" name="Text 5"/>
          <p:cNvSpPr txBox="1"/>
          <p:nvPr/>
        </p:nvSpPr>
        <p:spPr>
          <a:xfrm>
            <a:off x="685800" y="3886200"/>
            <a:ext cx="1783080" cy="1554480"/>
          </a:xfrm>
          <a:prstGeom prst="rect">
            <a:avLst/>
          </a:prstGeom>
          <a:noFill/>
          <a:ln/>
        </p:spPr>
        <p:txBody>
          <a:bodyPr wrap="square" lIns="0" tIns="0" rIns="0" bIns="0"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Υλικό + λογισμικό. Βρίσκω τα στοιχεία κάθε PC.</a:t>
            </a:r>
            <a:endParaRPr lang="en-US" sz="1400" dirty="0"/>
          </a:p>
        </p:txBody>
      </p:sp>
      <p:sp>
        <p:nvSpPr>
          <p:cNvPr id="9" name="Shape 6"/>
          <p:cNvSpPr/>
          <p:nvPr/>
        </p:nvSpPr>
        <p:spPr>
          <a:xfrm>
            <a:off x="2788920" y="1737360"/>
            <a:ext cx="2057400" cy="393192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355848" y="2011680"/>
            <a:ext cx="914400" cy="914400"/>
          </a:xfrm>
          <a:prstGeom prst="ellipse">
            <a:avLst/>
          </a:prstGeom>
          <a:solidFill>
            <a:srgbClr val="0F1B2D"/>
          </a:solidFill>
          <a:ln w="12700">
            <a:solidFill>
              <a:srgbClr val="0F1B2D"/>
            </a:solidFill>
            <a:prstDash val="solid"/>
          </a:ln>
        </p:spPr>
      </p:sp>
      <p:pic>
        <p:nvPicPr>
          <p:cNvPr id="11" name="Image 1" descr="preencoded.png">    </p:cNvPr>
          <p:cNvPicPr>
            <a:picLocks noChangeAspect="1"/>
          </p:cNvPicPr>
          <p:nvPr/>
        </p:nvPicPr>
        <p:blipFill>
          <a:blip r:embed="rId2"/>
          <a:stretch>
            <a:fillRect/>
          </a:stretch>
        </p:blipFill>
        <p:spPr>
          <a:xfrm>
            <a:off x="3593592" y="2249424"/>
            <a:ext cx="438912" cy="438912"/>
          </a:xfrm>
          <a:prstGeom prst="rect">
            <a:avLst/>
          </a:prstGeom>
        </p:spPr>
      </p:pic>
      <p:sp>
        <p:nvSpPr>
          <p:cNvPr id="12" name="Text 8"/>
          <p:cNvSpPr txBox="1"/>
          <p:nvPr/>
        </p:nvSpPr>
        <p:spPr>
          <a:xfrm>
            <a:off x="2898648" y="3108960"/>
            <a:ext cx="1828800" cy="73152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Τρόποι υποστήριξης</a:t>
            </a:r>
            <a:endParaRPr lang="en-US" sz="1600" dirty="0"/>
          </a:p>
        </p:txBody>
      </p:sp>
      <p:sp>
        <p:nvSpPr>
          <p:cNvPr id="13" name="Text 9"/>
          <p:cNvSpPr txBox="1"/>
          <p:nvPr/>
        </p:nvSpPr>
        <p:spPr>
          <a:xfrm>
            <a:off x="2926080" y="3886200"/>
            <a:ext cx="1783080" cy="1554480"/>
          </a:xfrm>
          <a:prstGeom prst="rect">
            <a:avLst/>
          </a:prstGeom>
          <a:noFill/>
          <a:ln/>
        </p:spPr>
        <p:txBody>
          <a:bodyPr wrap="square" lIns="0" tIns="0" rIns="0" bIns="0"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Απομακρυσμένα, επιτόπια, στο εργαστήριο. 5 βήματα.</a:t>
            </a:r>
            <a:endParaRPr lang="en-US" sz="1400" dirty="0"/>
          </a:p>
        </p:txBody>
      </p:sp>
      <p:sp>
        <p:nvSpPr>
          <p:cNvPr id="14" name="Shape 10"/>
          <p:cNvSpPr/>
          <p:nvPr/>
        </p:nvSpPr>
        <p:spPr>
          <a:xfrm>
            <a:off x="5029200" y="1737360"/>
            <a:ext cx="2057400" cy="393192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5596128" y="2011680"/>
            <a:ext cx="914400" cy="914400"/>
          </a:xfrm>
          <a:prstGeom prst="ellipse">
            <a:avLst/>
          </a:prstGeom>
          <a:solidFill>
            <a:srgbClr val="0F1B2D"/>
          </a:solidFill>
          <a:ln w="12700">
            <a:solidFill>
              <a:srgbClr val="0F1B2D"/>
            </a:solidFill>
            <a:prstDash val="solid"/>
          </a:ln>
        </p:spPr>
      </p:sp>
      <p:pic>
        <p:nvPicPr>
          <p:cNvPr id="16" name="Image 2" descr="preencoded.png">    </p:cNvPr>
          <p:cNvPicPr>
            <a:picLocks noChangeAspect="1"/>
          </p:cNvPicPr>
          <p:nvPr/>
        </p:nvPicPr>
        <p:blipFill>
          <a:blip r:embed="rId3"/>
          <a:stretch>
            <a:fillRect/>
          </a:stretch>
        </p:blipFill>
        <p:spPr>
          <a:xfrm>
            <a:off x="5833872" y="2249424"/>
            <a:ext cx="438912" cy="438912"/>
          </a:xfrm>
          <a:prstGeom prst="rect">
            <a:avLst/>
          </a:prstGeom>
        </p:spPr>
      </p:pic>
      <p:sp>
        <p:nvSpPr>
          <p:cNvPr id="17" name="Text 12"/>
          <p:cNvSpPr txBox="1"/>
          <p:nvPr/>
        </p:nvSpPr>
        <p:spPr>
          <a:xfrm>
            <a:off x="5138928" y="3108960"/>
            <a:ext cx="1828800" cy="73152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Επικοινωνία</a:t>
            </a:r>
            <a:endParaRPr lang="en-US" sz="1600" dirty="0"/>
          </a:p>
        </p:txBody>
      </p:sp>
      <p:sp>
        <p:nvSpPr>
          <p:cNvPr id="18" name="Text 13"/>
          <p:cNvSpPr txBox="1"/>
          <p:nvPr/>
        </p:nvSpPr>
        <p:spPr>
          <a:xfrm>
            <a:off x="5166360" y="3886200"/>
            <a:ext cx="1783080" cy="1554480"/>
          </a:xfrm>
          <a:prstGeom prst="rect">
            <a:avLst/>
          </a:prstGeom>
          <a:noFill/>
          <a:ln/>
        </p:spPr>
        <p:txBody>
          <a:bodyPr wrap="square" lIns="0" tIns="0" rIns="0" bIns="0"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Απλά λόγια, «αν κατάλαβα σωστά», παρακολούθηση.</a:t>
            </a:r>
            <a:endParaRPr lang="en-US" sz="1400" dirty="0"/>
          </a:p>
        </p:txBody>
      </p:sp>
      <p:sp>
        <p:nvSpPr>
          <p:cNvPr id="19" name="Shape 14"/>
          <p:cNvSpPr/>
          <p:nvPr/>
        </p:nvSpPr>
        <p:spPr>
          <a:xfrm>
            <a:off x="7269480" y="1737360"/>
            <a:ext cx="2057400" cy="393192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7836408" y="2011680"/>
            <a:ext cx="914400" cy="914400"/>
          </a:xfrm>
          <a:prstGeom prst="ellipse">
            <a:avLst/>
          </a:prstGeom>
          <a:solidFill>
            <a:srgbClr val="0F1B2D"/>
          </a:solidFill>
          <a:ln w="12700">
            <a:solidFill>
              <a:srgbClr val="0F1B2D"/>
            </a:solidFill>
            <a:prstDash val="solid"/>
          </a:ln>
        </p:spPr>
      </p:sp>
      <p:pic>
        <p:nvPicPr>
          <p:cNvPr id="21" name="Image 3" descr="preencoded.png">    </p:cNvPr>
          <p:cNvPicPr>
            <a:picLocks noChangeAspect="1"/>
          </p:cNvPicPr>
          <p:nvPr/>
        </p:nvPicPr>
        <p:blipFill>
          <a:blip r:embed="rId4"/>
          <a:stretch>
            <a:fillRect/>
          </a:stretch>
        </p:blipFill>
        <p:spPr>
          <a:xfrm>
            <a:off x="8074152" y="2249424"/>
            <a:ext cx="438912" cy="438912"/>
          </a:xfrm>
          <a:prstGeom prst="rect">
            <a:avLst/>
          </a:prstGeom>
        </p:spPr>
      </p:pic>
      <p:sp>
        <p:nvSpPr>
          <p:cNvPr id="22" name="Text 16"/>
          <p:cNvSpPr txBox="1"/>
          <p:nvPr/>
        </p:nvSpPr>
        <p:spPr>
          <a:xfrm>
            <a:off x="7379208" y="3108960"/>
            <a:ext cx="1828800" cy="73152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Μεθοδολογία</a:t>
            </a:r>
            <a:endParaRPr lang="en-US" sz="1600" dirty="0"/>
          </a:p>
        </p:txBody>
      </p:sp>
      <p:sp>
        <p:nvSpPr>
          <p:cNvPr id="23" name="Text 17"/>
          <p:cNvSpPr txBox="1"/>
          <p:nvPr/>
        </p:nvSpPr>
        <p:spPr>
          <a:xfrm>
            <a:off x="7406640" y="3886200"/>
            <a:ext cx="1783080" cy="1554480"/>
          </a:xfrm>
          <a:prstGeom prst="rect">
            <a:avLst/>
          </a:prstGeom>
          <a:noFill/>
          <a:ln/>
        </p:spPr>
        <p:txBody>
          <a:bodyPr wrap="square" lIns="0" tIns="0" rIns="0" bIns="0"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Διαγράμματα ροής: ελέγχω, δεν μαντεύω.</a:t>
            </a:r>
            <a:endParaRPr lang="en-US" sz="1400" dirty="0"/>
          </a:p>
        </p:txBody>
      </p:sp>
      <p:sp>
        <p:nvSpPr>
          <p:cNvPr id="24" name="Shape 18"/>
          <p:cNvSpPr/>
          <p:nvPr/>
        </p:nvSpPr>
        <p:spPr>
          <a:xfrm>
            <a:off x="9509760" y="1737360"/>
            <a:ext cx="2057400" cy="393192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10076688" y="2011680"/>
            <a:ext cx="914400" cy="914400"/>
          </a:xfrm>
          <a:prstGeom prst="ellipse">
            <a:avLst/>
          </a:prstGeom>
          <a:solidFill>
            <a:srgbClr val="0F1B2D"/>
          </a:solidFill>
          <a:ln w="12700">
            <a:solidFill>
              <a:srgbClr val="0F1B2D"/>
            </a:solidFill>
            <a:prstDash val="solid"/>
          </a:ln>
        </p:spPr>
      </p:sp>
      <p:pic>
        <p:nvPicPr>
          <p:cNvPr id="26" name="Image 4" descr="preencoded.png">    </p:cNvPr>
          <p:cNvPicPr>
            <a:picLocks noChangeAspect="1"/>
          </p:cNvPicPr>
          <p:nvPr/>
        </p:nvPicPr>
        <p:blipFill>
          <a:blip r:embed="rId5"/>
          <a:stretch>
            <a:fillRect/>
          </a:stretch>
        </p:blipFill>
        <p:spPr>
          <a:xfrm>
            <a:off x="10314432" y="2249424"/>
            <a:ext cx="438912" cy="438912"/>
          </a:xfrm>
          <a:prstGeom prst="rect">
            <a:avLst/>
          </a:prstGeom>
        </p:spPr>
      </p:pic>
      <p:sp>
        <p:nvSpPr>
          <p:cNvPr id="27" name="Text 20"/>
          <p:cNvSpPr txBox="1"/>
          <p:nvPr/>
        </p:nvSpPr>
        <p:spPr>
          <a:xfrm>
            <a:off x="9619488" y="3108960"/>
            <a:ext cx="1828800" cy="73152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Συμβόλαια</a:t>
            </a:r>
            <a:endParaRPr lang="en-US" sz="1600" dirty="0"/>
          </a:p>
        </p:txBody>
      </p:sp>
      <p:sp>
        <p:nvSpPr>
          <p:cNvPr id="28" name="Text 21"/>
          <p:cNvSpPr txBox="1"/>
          <p:nvPr/>
        </p:nvSpPr>
        <p:spPr>
          <a:xfrm>
            <a:off x="9646920" y="3886200"/>
            <a:ext cx="1783080" cy="1554480"/>
          </a:xfrm>
          <a:prstGeom prst="rect">
            <a:avLst/>
          </a:prstGeom>
          <a:noFill/>
          <a:ln/>
        </p:spPr>
        <p:txBody>
          <a:bodyPr wrap="square" lIns="0" tIns="0" rIns="0" bIns="0"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Χρόνος ανταπόκρισης, τι περιλαμβάνουν, τιμή.</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300" kern="0" dirty="0">
                <a:solidFill>
                  <a:srgbClr val="16A34A"/>
                </a:solidFill>
                <a:latin typeface="Calibri" pitchFamily="34" charset="0"/>
                <a:ea typeface="Calibri" pitchFamily="34" charset="-122"/>
                <a:cs typeface="Calibri" pitchFamily="34" charset="-120"/>
              </a:rPr>
              <a:t>ΣΤΟ ΕΡΓΑΣΤΗΡΙΟ</a:t>
            </a:r>
            <a:endParaRPr lang="en-US" sz="1300" dirty="0"/>
          </a:p>
        </p:txBody>
      </p:sp>
      <p:sp>
        <p:nvSpPr>
          <p:cNvPr id="3" name="Text 1"/>
          <p:cNvSpPr txBox="1"/>
          <p:nvPr/>
        </p:nvSpPr>
        <p:spPr>
          <a:xfrm>
            <a:off x="548640" y="685800"/>
            <a:ext cx="11064240" cy="73152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Φύλλο Εργασίας 5: διαλέγεις τον ρυθμό σου</a:t>
            </a:r>
            <a:endParaRPr lang="en-US" sz="3200" dirty="0"/>
          </a:p>
        </p:txBody>
      </p:sp>
      <p:sp>
        <p:nvSpPr>
          <p:cNvPr id="4" name="Shape 2"/>
          <p:cNvSpPr/>
          <p:nvPr/>
        </p:nvSpPr>
        <p:spPr>
          <a:xfrm>
            <a:off x="548640" y="1691640"/>
            <a:ext cx="3566160" cy="3429000"/>
          </a:xfrm>
          <a:prstGeom prst="roundRect">
            <a:avLst>
              <a:gd name="adj" fmla="val 3200"/>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548640" y="1691640"/>
            <a:ext cx="3566160" cy="960120"/>
          </a:xfrm>
          <a:prstGeom prst="roundRect">
            <a:avLst>
              <a:gd name="adj" fmla="val 11429"/>
            </a:avLst>
          </a:prstGeom>
          <a:solidFill>
            <a:srgbClr val="DCFCE7"/>
          </a:solidFill>
          <a:ln w="12700">
            <a:solidFill>
              <a:srgbClr val="DCFCE7"/>
            </a:solidFill>
            <a:prstDash val="solid"/>
          </a:ln>
        </p:spPr>
      </p:sp>
      <p:sp>
        <p:nvSpPr>
          <p:cNvPr id="6" name="Shape 4"/>
          <p:cNvSpPr/>
          <p:nvPr/>
        </p:nvSpPr>
        <p:spPr>
          <a:xfrm>
            <a:off x="777240" y="1828800"/>
            <a:ext cx="685800" cy="685800"/>
          </a:xfrm>
          <a:prstGeom prst="ellipse">
            <a:avLst/>
          </a:prstGeom>
          <a:solidFill>
            <a:srgbClr val="166534"/>
          </a:solidFill>
          <a:ln w="12700">
            <a:solidFill>
              <a:srgbClr val="166534"/>
            </a:solidFill>
            <a:prstDash val="solid"/>
          </a:ln>
        </p:spPr>
      </p:sp>
      <p:pic>
        <p:nvPicPr>
          <p:cNvPr id="7" name="Image 0" descr="preencoded.png">    </p:cNvPr>
          <p:cNvPicPr>
            <a:picLocks noChangeAspect="1"/>
          </p:cNvPicPr>
          <p:nvPr/>
        </p:nvPicPr>
        <p:blipFill>
          <a:blip r:embed="rId1"/>
          <a:stretch>
            <a:fillRect/>
          </a:stretch>
        </p:blipFill>
        <p:spPr>
          <a:xfrm>
            <a:off x="955548" y="2007108"/>
            <a:ext cx="329184" cy="329184"/>
          </a:xfrm>
          <a:prstGeom prst="rect">
            <a:avLst/>
          </a:prstGeom>
        </p:spPr>
      </p:pic>
      <p:sp>
        <p:nvSpPr>
          <p:cNvPr id="8" name="Text 5"/>
          <p:cNvSpPr txBox="1"/>
          <p:nvPr/>
        </p:nvSpPr>
        <p:spPr>
          <a:xfrm>
            <a:off x="1600200" y="1801368"/>
            <a:ext cx="2423160" cy="411480"/>
          </a:xfrm>
          <a:prstGeom prst="rect">
            <a:avLst/>
          </a:prstGeom>
          <a:noFill/>
          <a:ln/>
        </p:spPr>
        <p:txBody>
          <a:bodyPr wrap="square" lIns="0" tIns="0" rIns="0" bIns="0" rtlCol="0" anchor="ctr"/>
          <a:lstStyle/>
          <a:p>
            <a:pPr indent="0" marL="0">
              <a:buNone/>
            </a:pPr>
            <a:r>
              <a:rPr lang="en-US" sz="1700" b="1" dirty="0">
                <a:solidFill>
                  <a:srgbClr val="166534"/>
                </a:solidFill>
                <a:latin typeface="Calibri" pitchFamily="34" charset="0"/>
                <a:ea typeface="Calibri" pitchFamily="34" charset="-122"/>
                <a:cs typeface="Calibri" pitchFamily="34" charset="-120"/>
              </a:rPr>
              <a:t>Επίπεδο 1 · Ξεκινάω</a:t>
            </a:r>
            <a:endParaRPr lang="en-US" sz="1700" dirty="0"/>
          </a:p>
        </p:txBody>
      </p:sp>
      <p:sp>
        <p:nvSpPr>
          <p:cNvPr id="9" name="Text 6"/>
          <p:cNvSpPr txBox="1"/>
          <p:nvPr/>
        </p:nvSpPr>
        <p:spPr>
          <a:xfrm>
            <a:off x="1600200" y="2194560"/>
            <a:ext cx="2423160" cy="320040"/>
          </a:xfrm>
          <a:prstGeom prst="rect">
            <a:avLst/>
          </a:prstGeom>
          <a:noFill/>
          <a:ln/>
        </p:spPr>
        <p:txBody>
          <a:bodyPr wrap="square" lIns="0" tIns="0" rIns="0" bIns="0" rtlCol="0" anchor="ctr"/>
          <a:lstStyle/>
          <a:p>
            <a:pPr indent="0" marL="0">
              <a:buNone/>
            </a:pPr>
            <a:r>
              <a:rPr lang="en-US" sz="1200" i="1" dirty="0">
                <a:solidFill>
                  <a:srgbClr val="166534"/>
                </a:solidFill>
                <a:latin typeface="Calibri" pitchFamily="34" charset="0"/>
                <a:ea typeface="Calibri" pitchFamily="34" charset="-122"/>
                <a:cs typeface="Calibri" pitchFamily="34" charset="-120"/>
              </a:rPr>
              <a:t>για όλους</a:t>
            </a:r>
            <a:endParaRPr lang="en-US" sz="1200" dirty="0"/>
          </a:p>
        </p:txBody>
      </p:sp>
      <p:sp>
        <p:nvSpPr>
          <p:cNvPr id="10" name="Text 7"/>
          <p:cNvSpPr txBox="1"/>
          <p:nvPr/>
        </p:nvSpPr>
        <p:spPr>
          <a:xfrm>
            <a:off x="822960" y="283464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Ποιος χρόνος ταιριάζει σε κάθε πελάτη;</a:t>
            </a:r>
            <a:endParaRPr lang="en-US" sz="1700" dirty="0"/>
          </a:p>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Βρίσκω πραγματική προσφορά στο Internet</a:t>
            </a:r>
            <a:endParaRPr lang="en-US" sz="1700" dirty="0"/>
          </a:p>
        </p:txBody>
      </p:sp>
      <p:sp>
        <p:nvSpPr>
          <p:cNvPr id="11" name="Shape 8"/>
          <p:cNvSpPr/>
          <p:nvPr/>
        </p:nvSpPr>
        <p:spPr>
          <a:xfrm>
            <a:off x="4297680" y="1691640"/>
            <a:ext cx="3566160" cy="3429000"/>
          </a:xfrm>
          <a:prstGeom prst="roundRect">
            <a:avLst>
              <a:gd name="adj" fmla="val 3200"/>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297680" y="1691640"/>
            <a:ext cx="3566160" cy="960120"/>
          </a:xfrm>
          <a:prstGeom prst="roundRect">
            <a:avLst>
              <a:gd name="adj" fmla="val 11429"/>
            </a:avLst>
          </a:prstGeom>
          <a:solidFill>
            <a:srgbClr val="FEF3C7"/>
          </a:solidFill>
          <a:ln w="12700">
            <a:solidFill>
              <a:srgbClr val="FEF3C7"/>
            </a:solidFill>
            <a:prstDash val="solid"/>
          </a:ln>
        </p:spPr>
      </p:sp>
      <p:sp>
        <p:nvSpPr>
          <p:cNvPr id="13" name="Shape 10"/>
          <p:cNvSpPr/>
          <p:nvPr/>
        </p:nvSpPr>
        <p:spPr>
          <a:xfrm>
            <a:off x="4526280" y="1828800"/>
            <a:ext cx="685800" cy="685800"/>
          </a:xfrm>
          <a:prstGeom prst="ellipse">
            <a:avLst/>
          </a:prstGeom>
          <a:solidFill>
            <a:srgbClr val="92400E"/>
          </a:solidFill>
          <a:ln w="12700">
            <a:solidFill>
              <a:srgbClr val="92400E"/>
            </a:solidFill>
            <a:prstDash val="solid"/>
          </a:ln>
        </p:spPr>
      </p:sp>
      <p:pic>
        <p:nvPicPr>
          <p:cNvPr id="14" name="Image 1" descr="preencoded.png">    </p:cNvPr>
          <p:cNvPicPr>
            <a:picLocks noChangeAspect="1"/>
          </p:cNvPicPr>
          <p:nvPr/>
        </p:nvPicPr>
        <p:blipFill>
          <a:blip r:embed="rId2"/>
          <a:stretch>
            <a:fillRect/>
          </a:stretch>
        </p:blipFill>
        <p:spPr>
          <a:xfrm>
            <a:off x="4704588" y="2007108"/>
            <a:ext cx="329184" cy="329184"/>
          </a:xfrm>
          <a:prstGeom prst="rect">
            <a:avLst/>
          </a:prstGeom>
        </p:spPr>
      </p:pic>
      <p:sp>
        <p:nvSpPr>
          <p:cNvPr id="15" name="Text 11"/>
          <p:cNvSpPr txBox="1"/>
          <p:nvPr/>
        </p:nvSpPr>
        <p:spPr>
          <a:xfrm>
            <a:off x="5349240" y="1801368"/>
            <a:ext cx="2423160" cy="411480"/>
          </a:xfrm>
          <a:prstGeom prst="rect">
            <a:avLst/>
          </a:prstGeom>
          <a:noFill/>
          <a:ln/>
        </p:spPr>
        <p:txBody>
          <a:bodyPr wrap="square" lIns="0" tIns="0" rIns="0" bIns="0" rtlCol="0" anchor="ctr"/>
          <a:lstStyle/>
          <a:p>
            <a:pPr indent="0" marL="0">
              <a:buNone/>
            </a:pPr>
            <a:r>
              <a:rPr lang="en-US" sz="1700" b="1" dirty="0">
                <a:solidFill>
                  <a:srgbClr val="92400E"/>
                </a:solidFill>
                <a:latin typeface="Calibri" pitchFamily="34" charset="0"/>
                <a:ea typeface="Calibri" pitchFamily="34" charset="-122"/>
                <a:cs typeface="Calibri" pitchFamily="34" charset="-120"/>
              </a:rPr>
              <a:t>Επίπεδο 2 · Προχωράω</a:t>
            </a:r>
            <a:endParaRPr lang="en-US" sz="1700" dirty="0"/>
          </a:p>
        </p:txBody>
      </p:sp>
      <p:sp>
        <p:nvSpPr>
          <p:cNvPr id="16" name="Text 12"/>
          <p:cNvSpPr txBox="1"/>
          <p:nvPr/>
        </p:nvSpPr>
        <p:spPr>
          <a:xfrm>
            <a:off x="5349240" y="2194560"/>
            <a:ext cx="2423160" cy="320040"/>
          </a:xfrm>
          <a:prstGeom prst="rect">
            <a:avLst/>
          </a:prstGeom>
          <a:noFill/>
          <a:ln/>
        </p:spPr>
        <p:txBody>
          <a:bodyPr wrap="square" lIns="0" tIns="0" rIns="0" bIns="0" rtlCol="0" anchor="ctr"/>
          <a:lstStyle/>
          <a:p>
            <a:pPr indent="0" marL="0">
              <a:buNone/>
            </a:pPr>
            <a:r>
              <a:rPr lang="en-US" sz="1200" i="1" dirty="0">
                <a:solidFill>
                  <a:srgbClr val="92400E"/>
                </a:solidFill>
                <a:latin typeface="Calibri" pitchFamily="34" charset="0"/>
                <a:ea typeface="Calibri" pitchFamily="34" charset="-122"/>
                <a:cs typeface="Calibri" pitchFamily="34" charset="-120"/>
              </a:rPr>
              <a:t>όταν τελειώσεις το 1</a:t>
            </a:r>
            <a:endParaRPr lang="en-US" sz="1200" dirty="0"/>
          </a:p>
        </p:txBody>
      </p:sp>
      <p:sp>
        <p:nvSpPr>
          <p:cNvPr id="17" name="Text 13"/>
          <p:cNvSpPr txBox="1"/>
          <p:nvPr/>
        </p:nvSpPr>
        <p:spPr>
          <a:xfrm>
            <a:off x="4572000" y="283464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Ανεβαίνει ή κατεβαίνει η τιμή;</a:t>
            </a:r>
            <a:endParaRPr lang="en-US" sz="1700" dirty="0"/>
          </a:p>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Υπολογισμός κόστους με Αριθμομηχανή</a:t>
            </a:r>
            <a:endParaRPr lang="en-US" sz="1700" dirty="0"/>
          </a:p>
        </p:txBody>
      </p:sp>
      <p:sp>
        <p:nvSpPr>
          <p:cNvPr id="18" name="Shape 14"/>
          <p:cNvSpPr/>
          <p:nvPr/>
        </p:nvSpPr>
        <p:spPr>
          <a:xfrm>
            <a:off x="8046720" y="1691640"/>
            <a:ext cx="3566160" cy="3429000"/>
          </a:xfrm>
          <a:prstGeom prst="roundRect">
            <a:avLst>
              <a:gd name="adj" fmla="val 3200"/>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8046720" y="1691640"/>
            <a:ext cx="3566160" cy="960120"/>
          </a:xfrm>
          <a:prstGeom prst="roundRect">
            <a:avLst>
              <a:gd name="adj" fmla="val 11429"/>
            </a:avLst>
          </a:prstGeom>
          <a:solidFill>
            <a:srgbClr val="FEE2E2"/>
          </a:solidFill>
          <a:ln w="12700">
            <a:solidFill>
              <a:srgbClr val="FEE2E2"/>
            </a:solidFill>
            <a:prstDash val="solid"/>
          </a:ln>
        </p:spPr>
      </p:sp>
      <p:sp>
        <p:nvSpPr>
          <p:cNvPr id="20" name="Shape 16"/>
          <p:cNvSpPr/>
          <p:nvPr/>
        </p:nvSpPr>
        <p:spPr>
          <a:xfrm>
            <a:off x="8275320" y="1828800"/>
            <a:ext cx="685800" cy="685800"/>
          </a:xfrm>
          <a:prstGeom prst="ellipse">
            <a:avLst/>
          </a:prstGeom>
          <a:solidFill>
            <a:srgbClr val="991B1B"/>
          </a:solidFill>
          <a:ln w="12700">
            <a:solidFill>
              <a:srgbClr val="991B1B"/>
            </a:solidFill>
            <a:prstDash val="solid"/>
          </a:ln>
        </p:spPr>
      </p:sp>
      <p:pic>
        <p:nvPicPr>
          <p:cNvPr id="21" name="Image 2" descr="preencoded.png">    </p:cNvPr>
          <p:cNvPicPr>
            <a:picLocks noChangeAspect="1"/>
          </p:cNvPicPr>
          <p:nvPr/>
        </p:nvPicPr>
        <p:blipFill>
          <a:blip r:embed="rId3"/>
          <a:stretch>
            <a:fillRect/>
          </a:stretch>
        </p:blipFill>
        <p:spPr>
          <a:xfrm>
            <a:off x="8453628" y="2007108"/>
            <a:ext cx="329184" cy="329184"/>
          </a:xfrm>
          <a:prstGeom prst="rect">
            <a:avLst/>
          </a:prstGeom>
        </p:spPr>
      </p:pic>
      <p:sp>
        <p:nvSpPr>
          <p:cNvPr id="22" name="Text 17"/>
          <p:cNvSpPr txBox="1"/>
          <p:nvPr/>
        </p:nvSpPr>
        <p:spPr>
          <a:xfrm>
            <a:off x="9098280" y="1801368"/>
            <a:ext cx="2423160" cy="411480"/>
          </a:xfrm>
          <a:prstGeom prst="rect">
            <a:avLst/>
          </a:prstGeom>
          <a:noFill/>
          <a:ln/>
        </p:spPr>
        <p:txBody>
          <a:bodyPr wrap="square" lIns="0" tIns="0" rIns="0" bIns="0" rtlCol="0" anchor="ctr"/>
          <a:lstStyle/>
          <a:p>
            <a:pPr indent="0" marL="0">
              <a:buNone/>
            </a:pPr>
            <a:r>
              <a:rPr lang="en-US" sz="1700" b="1" dirty="0">
                <a:solidFill>
                  <a:srgbClr val="991B1B"/>
                </a:solidFill>
                <a:latin typeface="Calibri" pitchFamily="34" charset="0"/>
                <a:ea typeface="Calibri" pitchFamily="34" charset="-122"/>
                <a:cs typeface="Calibri" pitchFamily="34" charset="-120"/>
              </a:rPr>
              <a:t>Επίπεδο 3 · Πρόκληση</a:t>
            </a:r>
            <a:endParaRPr lang="en-US" sz="1700" dirty="0"/>
          </a:p>
        </p:txBody>
      </p:sp>
      <p:sp>
        <p:nvSpPr>
          <p:cNvPr id="23" name="Text 18"/>
          <p:cNvSpPr txBox="1"/>
          <p:nvPr/>
        </p:nvSpPr>
        <p:spPr>
          <a:xfrm>
            <a:off x="9098280" y="2194560"/>
            <a:ext cx="2423160" cy="320040"/>
          </a:xfrm>
          <a:prstGeom prst="rect">
            <a:avLst/>
          </a:prstGeom>
          <a:noFill/>
          <a:ln/>
        </p:spPr>
        <p:txBody>
          <a:bodyPr wrap="square" lIns="0" tIns="0" rIns="0" bIns="0" rtlCol="0" anchor="ctr"/>
          <a:lstStyle/>
          <a:p>
            <a:pPr indent="0" marL="0">
              <a:buNone/>
            </a:pPr>
            <a:r>
              <a:rPr lang="en-US" sz="1200" i="1" dirty="0">
                <a:solidFill>
                  <a:srgbClr val="991B1B"/>
                </a:solidFill>
                <a:latin typeface="Calibri" pitchFamily="34" charset="0"/>
                <a:ea typeface="Calibri" pitchFamily="34" charset="-122"/>
                <a:cs typeface="Calibri" pitchFamily="34" charset="-120"/>
              </a:rPr>
              <a:t>για όσους θέλουν παραπάνω</a:t>
            </a:r>
            <a:endParaRPr lang="en-US" sz="1200" dirty="0"/>
          </a:p>
        </p:txBody>
      </p:sp>
      <p:sp>
        <p:nvSpPr>
          <p:cNvPr id="24" name="Text 19"/>
          <p:cNvSpPr txBox="1"/>
          <p:nvPr/>
        </p:nvSpPr>
        <p:spPr>
          <a:xfrm>
            <a:off x="8321040" y="283464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«Υπολογιστής προσφορών» στο Excel</a:t>
            </a:r>
            <a:endParaRPr lang="en-US" sz="1700" dirty="0"/>
          </a:p>
          <a:p>
            <a:pPr marL="342900" indent="-342900">
              <a:spcAft>
                <a:spcPts val="1000"/>
              </a:spcAft>
              <a:buSzPct val="100000"/>
              <a:buChar char="•"/>
            </a:pPr>
            <a:r>
              <a:rPr lang="en-US" sz="1700" dirty="0">
                <a:solidFill>
                  <a:srgbClr val="1E293B"/>
                </a:solidFill>
                <a:latin typeface="Calibri" pitchFamily="34" charset="0"/>
                <a:ea typeface="Calibri" pitchFamily="34" charset="-122"/>
                <a:cs typeface="Calibri" pitchFamily="34" charset="-120"/>
              </a:rPr>
              <a:t>Αγγελίες εργασίας τεχνικού υποστήριξης</a:t>
            </a:r>
            <a:endParaRPr lang="en-US" sz="1700" dirty="0"/>
          </a:p>
        </p:txBody>
      </p:sp>
      <p:sp>
        <p:nvSpPr>
          <p:cNvPr id="25" name="Shape 20"/>
          <p:cNvSpPr/>
          <p:nvPr/>
        </p:nvSpPr>
        <p:spPr>
          <a:xfrm>
            <a:off x="548640" y="5394960"/>
            <a:ext cx="11064240" cy="777240"/>
          </a:xfrm>
          <a:prstGeom prst="roundRect">
            <a:avLst>
              <a:gd name="adj" fmla="val 14118"/>
            </a:avLst>
          </a:prstGeom>
          <a:solidFill>
            <a:srgbClr val="0F1B2D"/>
          </a:solidFill>
          <a:ln w="12700">
            <a:solidFill>
              <a:srgbClr val="0F1B2D"/>
            </a:solidFill>
            <a:prstDash val="solid"/>
          </a:ln>
        </p:spPr>
      </p:sp>
      <p:sp>
        <p:nvSpPr>
          <p:cNvPr id="26" name="Text 21"/>
          <p:cNvSpPr txBox="1"/>
          <p:nvPr/>
        </p:nvSpPr>
        <p:spPr>
          <a:xfrm>
            <a:off x="822960" y="5394960"/>
            <a:ext cx="10607040" cy="777240"/>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Αρχεία: </a:t>
            </a:r>
            <a:pPr indent="0" marL="0">
              <a:buNone/>
            </a:pPr>
            <a:r>
              <a:rPr lang="en-US" sz="1600" dirty="0">
                <a:solidFill>
                  <a:srgbClr val="FFFFFF"/>
                </a:solidFill>
                <a:latin typeface="Calibri" pitchFamily="34" charset="0"/>
                <a:ea typeface="Calibri" pitchFamily="34" charset="-122"/>
                <a:cs typeface="Calibri" pitchFamily="34" charset="-120"/>
              </a:rPr>
              <a:t>ΦΕ5 (Word)  +  πρόγραμμα quiz_kef1.html   ·   Αποθήκευση: Ctrl + S → ΦΕ5_Επώνυμο</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640080"/>
            <a:ext cx="1005840" cy="1005840"/>
          </a:xfrm>
          <a:prstGeom prst="ellipse">
            <a:avLst/>
          </a:prstGeom>
          <a:solidFill>
            <a:srgbClr val="F59E0B"/>
          </a:solidFill>
          <a:ln w="12700">
            <a:solidFill>
              <a:srgbClr val="F59E0B"/>
            </a:solidFill>
            <a:prstDash val="solid"/>
          </a:ln>
        </p:spPr>
      </p:sp>
      <p:pic>
        <p:nvPicPr>
          <p:cNvPr id="3" name="Image 0" descr="preencoded.png">    </p:cNvPr>
          <p:cNvPicPr>
            <a:picLocks noChangeAspect="1"/>
          </p:cNvPicPr>
          <p:nvPr/>
        </p:nvPicPr>
        <p:blipFill>
          <a:blip r:embed="rId1"/>
          <a:stretch>
            <a:fillRect/>
          </a:stretch>
        </p:blipFill>
        <p:spPr>
          <a:xfrm>
            <a:off x="810158" y="901598"/>
            <a:ext cx="482803" cy="482803"/>
          </a:xfrm>
          <a:prstGeom prst="rect">
            <a:avLst/>
          </a:prstGeom>
        </p:spPr>
      </p:pic>
      <p:sp>
        <p:nvSpPr>
          <p:cNvPr id="4" name="Text 1"/>
          <p:cNvSpPr txBox="1"/>
          <p:nvPr/>
        </p:nvSpPr>
        <p:spPr>
          <a:xfrm>
            <a:off x="548640" y="1920240"/>
            <a:ext cx="91440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Calibri" pitchFamily="34" charset="0"/>
                <a:ea typeface="Calibri" pitchFamily="34" charset="-122"/>
                <a:cs typeface="Calibri" pitchFamily="34" charset="-120"/>
              </a:rPr>
              <a:t>ΚΛΕΙΣΙΜΟ</a:t>
            </a:r>
            <a:endParaRPr lang="en-US" sz="1400" dirty="0"/>
          </a:p>
        </p:txBody>
      </p:sp>
      <p:sp>
        <p:nvSpPr>
          <p:cNvPr id="5" name="Text 2"/>
          <p:cNvSpPr txBox="1"/>
          <p:nvPr/>
        </p:nvSpPr>
        <p:spPr>
          <a:xfrm>
            <a:off x="548640" y="2331720"/>
            <a:ext cx="10972800" cy="17373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Αν ανοίγατε αύριο δική σας εταιρεία τεχνικής υποστήριξης, τι θα περιλάμβανε το πρώτο σας συμβόλαιο;</a:t>
            </a:r>
            <a:endParaRPr lang="en-US" sz="3400" dirty="0"/>
          </a:p>
        </p:txBody>
      </p:sp>
      <p:sp>
        <p:nvSpPr>
          <p:cNvPr id="6" name="Shape 3"/>
          <p:cNvSpPr/>
          <p:nvPr/>
        </p:nvSpPr>
        <p:spPr>
          <a:xfrm>
            <a:off x="548640" y="4846320"/>
            <a:ext cx="11064240" cy="914400"/>
          </a:xfrm>
          <a:prstGeom prst="roundRect">
            <a:avLst>
              <a:gd name="adj" fmla="val 12000"/>
            </a:avLst>
          </a:prstGeom>
          <a:solidFill>
            <a:srgbClr val="1B2A41"/>
          </a:solidFill>
          <a:ln w="12700">
            <a:solidFill>
              <a:srgbClr val="1B2A41"/>
            </a:solidFill>
            <a:prstDash val="solid"/>
          </a:ln>
        </p:spPr>
      </p:sp>
      <p:sp>
        <p:nvSpPr>
          <p:cNvPr id="7" name="Text 4"/>
          <p:cNvSpPr txBox="1"/>
          <p:nvPr/>
        </p:nvSpPr>
        <p:spPr>
          <a:xfrm>
            <a:off x="822960" y="4846320"/>
            <a:ext cx="10607040" cy="914400"/>
          </a:xfrm>
          <a:prstGeom prst="rect">
            <a:avLst/>
          </a:prstGeom>
          <a:noFill/>
          <a:ln/>
        </p:spPr>
        <p:txBody>
          <a:bodyPr wrap="square" lIns="0" tIns="0" rIns="0" bIns="0" rtlCol="0" anchor="ctr"/>
          <a:lstStyle/>
          <a:p>
            <a:pPr indent="0" marL="0">
              <a:buNone/>
            </a:pPr>
            <a:r>
              <a:rPr lang="en-US" sz="1800" b="1" dirty="0">
                <a:solidFill>
                  <a:srgbClr val="22C55E"/>
                </a:solidFill>
                <a:latin typeface="Calibri" pitchFamily="34" charset="0"/>
                <a:ea typeface="Calibri" pitchFamily="34" charset="-122"/>
                <a:cs typeface="Calibri" pitchFamily="34" charset="-120"/>
              </a:rPr>
              <a:t>Την επόμενη φορά: </a:t>
            </a:r>
            <a:pPr indent="0" marL="0">
              <a:buNone/>
            </a:pPr>
            <a:r>
              <a:rPr lang="en-US" sz="1800" dirty="0">
                <a:solidFill>
                  <a:srgbClr val="FFFFFF"/>
                </a:solidFill>
                <a:latin typeface="Calibri" pitchFamily="34" charset="0"/>
                <a:ea typeface="Calibri" pitchFamily="34" charset="-122"/>
                <a:cs typeface="Calibri" pitchFamily="34" charset="-120"/>
              </a:rPr>
              <a:t>Κεφάλαιο 2: Αντιμετώπιση προβλημάτων υλικού: τροφοδοτικό, μητρική, μνήμη, δίσκοι.</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Κεφ. 1 · Ώρα 5</dc:title>
  <dc:subject>PptxGenJS Presentation</dc:subject>
  <dc:creator>PptxGenJS</dc:creator>
  <cp:lastModifiedBy>PptxGenJS</cp:lastModifiedBy>
  <cp:revision>1</cp:revision>
  <dcterms:created xsi:type="dcterms:W3CDTF">2026-09-21T15:16:48Z</dcterms:created>
  <dcterms:modified xsi:type="dcterms:W3CDTF">2026-09-21T15:16:48Z</dcterms:modified>
</cp:coreProperties>
</file>