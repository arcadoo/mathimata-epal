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Αφόρμηση (5΄): Καλωσόρισμα, σύντομη υπενθύμιση του χάρτη της χρονιάς. Στόχοι της ώρας: να περιγράφουν τα μέρη ενός υπολογιστικού συστήματος και να βρίσκουν τα στοιχεία ενός υπολογιστή.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Ρωτήστε την τάξη πριν δείξετε τα εικονίδια (εμφανίστε τα με κλικ αν θέλετε). Συνήθως λένε «ένας, το κινητό». Καταλήγουμε ότι υπολογιστής δεν είναι μόνο το κουτί στο γραφείο.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Διαβάστε τον ορισμό του βιβλίου. Ρωτήστε: ο οδηγός (driver) είναι υλικό ή λογισμικό; Η απάντηση (λογισμικό) οδηγεί στο ότι ο τεχνικός πρέπει να ξέρει και τα δύο.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Σελ. 7: ο όρος καλύπτει υπερυπολογιστή, μικροϋπολογιστή, κεντρικό, οικιακό υπολογιστή και κινητή συσκευή. Ο ARIS είναι ο εθνικός υπερυπολογιστής της ΕΔΥΤΕ (GRNET). Οι μαθητές θα ψάξουν παραδείγματα στο Επίπεδο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Δείξτε ζωντανά στον προβολέα το 1 (Windows + I). Οι αρχάριοι σταματούν εκεί (Επίπεδο 1). Τα 2 και 3 είναι για Επίπεδα 2 και 3. Τονίστε: ο πελάτης στο τηλέφωνο δεν ξέρει τι υπολογιστή έχει, εμείς του λέμε πού να κοιτάξει.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ΦΕ1 (25΄). Όλοι ξεκινούν από το Επίπεδο 1. Γυρίστε στα PC των αρχαρίων τα πρώτα 5 λεπτά. Όποιος τελειώνει νωρίς μπορεί να βοηθήσει τον διπλανό του (πρόταση, όχι υποχρέωση).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Κλείσιμο (5΄): 2–3 μαθητές διαβάζουν τα στοιχεία τους. Συγκρίνετε RAM και επεξεργαστή. Υπενθύμιση αποθήκευσης ΦΕ1.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1188720" cy="118872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707" y="1132027"/>
            <a:ext cx="570586" cy="57058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331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ΚΕΦΑΛΑΙΟ 1 · ΩΡΑ 1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697480"/>
            <a:ext cx="10789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Τι είναι ένα υπολογιστικό σύστημα;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297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Πριν φτιάξεις κάτι, μάθε τι έχεις μπροστά σου.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Τεχνική Υποστήριξη Υπολογιστικών Συστημάτων &amp; Δικτυακών Υποδομών · Βιβλίο σελ. 6–7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ΑΣ ΞΕΚΙΝΗΣΟΥΜΕ ΜΕ ΜΙΑ ΕΡΩΤΗΣΗ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Πόσους υπολογιστές έχετε πάνω σας τώρα;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2011680"/>
            <a:ext cx="1097280" cy="109728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9693" y="2296973"/>
            <a:ext cx="526694" cy="52669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" y="32461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Κινητό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2788920" y="2011680"/>
            <a:ext cx="1097280" cy="109728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4213" y="2296973"/>
            <a:ext cx="526694" cy="52669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468880" y="32461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Smartwatch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4663440" y="2011680"/>
            <a:ext cx="1097280" cy="109728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8733" y="2296973"/>
            <a:ext cx="526694" cy="52669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343400" y="32461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Αυτοκίνητο</a:t>
            </a:r>
            <a:endParaRPr lang="en-US" sz="1700" dirty="0"/>
          </a:p>
        </p:txBody>
      </p:sp>
      <p:sp>
        <p:nvSpPr>
          <p:cNvPr id="13" name="Shape 8"/>
          <p:cNvSpPr/>
          <p:nvPr/>
        </p:nvSpPr>
        <p:spPr>
          <a:xfrm>
            <a:off x="6537960" y="2011680"/>
            <a:ext cx="1097280" cy="109728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3253" y="2296973"/>
            <a:ext cx="526694" cy="52669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217920" y="32461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κάρτας</a:t>
            </a:r>
            <a:endParaRPr lang="en-US" sz="1700" dirty="0"/>
          </a:p>
        </p:txBody>
      </p:sp>
      <p:sp>
        <p:nvSpPr>
          <p:cNvPr id="16" name="Shape 10"/>
          <p:cNvSpPr/>
          <p:nvPr/>
        </p:nvSpPr>
        <p:spPr>
          <a:xfrm>
            <a:off x="8412480" y="2011680"/>
            <a:ext cx="1097280" cy="109728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7773" y="2296973"/>
            <a:ext cx="526694" cy="52669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092440" y="32461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σπιτιού</a:t>
            </a:r>
            <a:endParaRPr lang="en-US" sz="1700" dirty="0"/>
          </a:p>
        </p:txBody>
      </p:sp>
      <p:sp>
        <p:nvSpPr>
          <p:cNvPr id="19" name="Shape 12"/>
          <p:cNvSpPr/>
          <p:nvPr/>
        </p:nvSpPr>
        <p:spPr>
          <a:xfrm>
            <a:off x="10287000" y="2011680"/>
            <a:ext cx="1097280" cy="109728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2293" y="2296973"/>
            <a:ext cx="526694" cy="526694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9966960" y="32461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TV</a:t>
            </a:r>
            <a:endParaRPr lang="en-US" sz="1700" dirty="0"/>
          </a:p>
        </p:txBody>
      </p:sp>
      <p:sp>
        <p:nvSpPr>
          <p:cNvPr id="22" name="Shape 14"/>
          <p:cNvSpPr/>
          <p:nvPr/>
        </p:nvSpPr>
        <p:spPr>
          <a:xfrm>
            <a:off x="548640" y="420624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3" name="Text 15"/>
          <p:cNvSpPr txBox="1"/>
          <p:nvPr/>
        </p:nvSpPr>
        <p:spPr>
          <a:xfrm>
            <a:off x="868680" y="420624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Όλα αυτά είναι υπολογιστικά συστήματα. </a:t>
            </a:r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Έχουν επεξεργαστή, μνήμη και προγράμματα. Και όλα κάποια στιγμή χρειάζονται τεχνική υποστήριξη.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ΟΡΙΣΜΟΣ · ΣΕΛ. 7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Υλικό + λογισμικό = υπολογιστικό σύστημα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143000"/>
          </a:xfrm>
          <a:prstGeom prst="roundRect">
            <a:avLst>
              <a:gd name="adj" fmla="val 9600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64592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«Υπολογιστικό Σύστημα (Υ.Σ.) λέγεται μία πλήρης υπολογιστική συσκευή, σε αυτή συμπεριλαμβάνονται το υλικό και το λογισμικό.»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544068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3291840"/>
            <a:ext cx="822960" cy="82296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930" y="3505810"/>
            <a:ext cx="395021" cy="39502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828800" y="331012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Υλικό (hardware)</a:t>
            </a:r>
            <a:endParaRPr lang="en-US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1828800" y="37216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Ό,τι αγγίζεις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434340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Επεξεργαστής (CPU)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Μνήμη RAM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Δίσκος SSD / HDD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Οθόνη, πληκτρολόγιο, ποντίκι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172200" y="3063240"/>
            <a:ext cx="544068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46520" y="3291840"/>
            <a:ext cx="822960" cy="8229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0490" y="3505810"/>
            <a:ext cx="395021" cy="395021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452360" y="331012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Λογισμικό (software)</a:t>
            </a:r>
            <a:endParaRPr lang="en-US" sz="2100" dirty="0"/>
          </a:p>
        </p:txBody>
      </p:sp>
      <p:sp>
        <p:nvSpPr>
          <p:cNvPr id="16" name="Text 12"/>
          <p:cNvSpPr txBox="1"/>
          <p:nvPr/>
        </p:nvSpPr>
        <p:spPr>
          <a:xfrm>
            <a:off x="7452360" y="37216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Ό,τι «τρέχει»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6537960" y="434340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Λειτουργικό: Windows, macOS, Ubuntu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Εφαρμογές: Word, Chrome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Οδηγοί συσκευών (drivers)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Antivirus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ΑΠΟ ΤΟ ΜΕΓΑΛΟ ΣΤΟ ΜΙΚΡΟ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Οι κατηγορίες υπολογιστικών συστημάτων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057400" cy="32918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011680"/>
            <a:ext cx="960120" cy="9601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6911" y="2261311"/>
            <a:ext cx="460858" cy="46085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58368" y="31546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Υπερυπολογιστής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84048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Πρόγνωση καιρού, έρευνα. Π.χ. ARIS (ΕΔΥΤΕ)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788920" y="1737360"/>
            <a:ext cx="2057400" cy="32918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37560" y="2011680"/>
            <a:ext cx="960120" cy="96012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7191" y="2261311"/>
            <a:ext cx="460858" cy="46085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898648" y="31546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Κεντρικός (mainframe)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2926080" y="384048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Τράπεζες, αεροπορικές κρατήσεις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029200" y="1737360"/>
            <a:ext cx="2057400" cy="32918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577840" y="2011680"/>
            <a:ext cx="960120" cy="96012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7471" y="2261311"/>
            <a:ext cx="460858" cy="46085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138928" y="31546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Οικιακός / προσωπικός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5166360" y="384048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και laptop στο σπίτι και στο γραφείο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7269480" y="1737360"/>
            <a:ext cx="2057400" cy="32918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818120" y="2011680"/>
            <a:ext cx="960120" cy="96012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7751" y="2261311"/>
            <a:ext cx="460858" cy="46085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79208" y="31546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Μικροϋπολογιστής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7406640" y="384048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Μικρές πλακέτες, π.χ. Raspberry Pi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9509760" y="1737360"/>
            <a:ext cx="2057400" cy="32918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058400" y="2011680"/>
            <a:ext cx="960120" cy="96012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8031" y="2261311"/>
            <a:ext cx="460858" cy="46085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619488" y="31546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Κινητή συσκευή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9646920" y="384048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Κινητά, tablet, smartwatch</a:t>
            </a:r>
            <a:endParaRPr lang="en-US" sz="1300" dirty="0"/>
          </a:p>
        </p:txBody>
      </p:sp>
      <p:sp>
        <p:nvSpPr>
          <p:cNvPr id="29" name="Text 22"/>
          <p:cNvSpPr txBox="1"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Όλα έχουν υλικό και λογισμικό. Αλλάζει το μέγεθος και η χρήση.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ΤΑ ΕΡΓΑΛΕΙΑ ΤΟΥ ΤΕΧΝΙΚΟΥ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τρόποι να «ακτινογραφήσεις» ένα PC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80160"/>
          </a:xfrm>
          <a:prstGeom prst="roundRect">
            <a:avLst>
              <a:gd name="adj" fmla="val 8571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731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18745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Εύκολα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2331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Όνομα, επεξεργαστής, RAM, έκδοση Windows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937760" y="1947672"/>
            <a:ext cx="6400800" cy="768096"/>
          </a:xfrm>
          <a:prstGeom prst="roundRect">
            <a:avLst>
              <a:gd name="adj" fmla="val 9524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166360" y="1947672"/>
            <a:ext cx="6035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Windows + I → Σύστημα → Πληροφορίες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3154680"/>
            <a:ext cx="11064240" cy="1280160"/>
          </a:xfrm>
          <a:prstGeom prst="roundRect">
            <a:avLst>
              <a:gd name="adj" fmla="val 8571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154680"/>
            <a:ext cx="731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33375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Αναλυτικά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1645920" y="3794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Κατασκευαστής, μοντέλο, BIOS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937760" y="3410712"/>
            <a:ext cx="6400800" cy="768096"/>
          </a:xfrm>
          <a:prstGeom prst="roundRect">
            <a:avLst>
              <a:gd name="adj" fmla="val 9524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66360" y="3410712"/>
            <a:ext cx="6035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Windows + R → msinfo32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48640" y="4617720"/>
            <a:ext cx="11064240" cy="1280160"/>
          </a:xfrm>
          <a:prstGeom prst="roundRect">
            <a:avLst>
              <a:gd name="adj" fmla="val 8571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617720"/>
            <a:ext cx="731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800" dirty="0"/>
          </a:p>
        </p:txBody>
      </p:sp>
      <p:sp>
        <p:nvSpPr>
          <p:cNvPr id="18" name="Text 16"/>
          <p:cNvSpPr txBox="1"/>
          <p:nvPr/>
        </p:nvSpPr>
        <p:spPr>
          <a:xfrm>
            <a:off x="1645920" y="48006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Σαν επαγγελματίας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1645920" y="5257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Ημερομηνία εγκατάστασης, ενημερώσεις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937760" y="4873752"/>
            <a:ext cx="6400800" cy="768096"/>
          </a:xfrm>
          <a:prstGeom prst="roundRect">
            <a:avLst>
              <a:gd name="adj" fmla="val 9524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166360" y="4873752"/>
            <a:ext cx="6035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 → systeminfo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ΣΤΟ ΕΡΓΑΣΤΗΡΙΟ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Φύλλο Εργασίας 1: διαλέγεις τον ρυθμό σου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3566160" cy="960120"/>
          </a:xfrm>
          <a:prstGeom prst="roundRect">
            <a:avLst>
              <a:gd name="adj" fmla="val 1142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828800"/>
            <a:ext cx="685800" cy="685800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" y="2007108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0136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Επίπεδο 1 · Ξεκινάω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600200" y="21945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για όλους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834640"/>
            <a:ext cx="3108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Βρίσκω τα στοιχεία του PC μου από τις Ρυθμίσεις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Υλικό ή λογισμικό;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4297680" y="1691640"/>
            <a:ext cx="356616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97680" y="1691640"/>
            <a:ext cx="3566160" cy="960120"/>
          </a:xfrm>
          <a:prstGeom prst="roundRect">
            <a:avLst>
              <a:gd name="adj" fmla="val 11429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26280" y="1828800"/>
            <a:ext cx="685800" cy="685800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4588" y="2007108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349240" y="180136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Επίπεδο 2 · Προχωράω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5349240" y="21945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όταν τελειώσεις το 1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4572000" y="2834640"/>
            <a:ext cx="3108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msinfo32 και Διαχείριση εργασιών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Παραδείγματα για κάθε κατηγορία (Google)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Αγγλικά ονόματα εξαρτημάτων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8046720" y="1691640"/>
            <a:ext cx="356616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046720" y="1691640"/>
            <a:ext cx="3566160" cy="960120"/>
          </a:xfrm>
          <a:prstGeom prst="roundRect">
            <a:avLst>
              <a:gd name="adj" fmla="val 11429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275320" y="1828800"/>
            <a:ext cx="685800" cy="685800"/>
          </a:xfrm>
          <a:prstGeom prst="ellipse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3628" y="2007108"/>
            <a:ext cx="329184" cy="329184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098280" y="180136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Επίπεδο 3 · Πρόκληση</a:t>
            </a:r>
            <a:endParaRPr lang="en-US" sz="1700" dirty="0"/>
          </a:p>
        </p:txBody>
      </p:sp>
      <p:sp>
        <p:nvSpPr>
          <p:cNvPr id="23" name="Text 18"/>
          <p:cNvSpPr txBox="1"/>
          <p:nvPr/>
        </p:nvSpPr>
        <p:spPr>
          <a:xfrm>
            <a:off x="9098280" y="21945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για όσους θέλουν παραπάνω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8321040" y="2834640"/>
            <a:ext cx="3108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systeminfo στη γραμμή εντολών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Εντολή PowerShell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Τι θα ρωτούσα έναν πελάτη;</a:t>
            </a:r>
            <a:endParaRPr lang="en-US" sz="1700" dirty="0"/>
          </a:p>
        </p:txBody>
      </p:sp>
      <p:sp>
        <p:nvSpPr>
          <p:cNvPr id="25" name="Shape 20"/>
          <p:cNvSpPr/>
          <p:nvPr/>
        </p:nvSpPr>
        <p:spPr>
          <a:xfrm>
            <a:off x="548640" y="539496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822960" y="539496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Αρχεία: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ΦΕ1 (Word)   ·   Αποθήκευση: Ctrl + S → ΦΕ1_Επώνυμο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005840" cy="10058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158" y="901598"/>
            <a:ext cx="482803" cy="48280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920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ΚΛΕΙΣΙΜΟ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331720"/>
            <a:ext cx="10972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Ποιος υπολογιστής της τάξης είναι ο πιο «δυνατός»; Πώς το αποδεικνύεις;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548640" y="484632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48463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Την επόμενη φορά: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Πώς φτάνει η βοήθεια στον πελάτη: τρόποι υποστήριξης και απομακρυσμένη σύνδεση.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Κεφ. 1 · Ώρα 1</dc:title>
  <dc:subject>PptxGenJS Presentation</dc:subject>
  <dc:creator>PptxGenJS</dc:creator>
  <cp:lastModifiedBy>PptxGenJS</cp:lastModifiedBy>
  <cp:revision>1</cp:revision>
  <dcterms:created xsi:type="dcterms:W3CDTF">2026-09-21T15:16:48Z</dcterms:created>
  <dcterms:modified xsi:type="dcterms:W3CDTF">2026-09-21T15:16:48Z</dcterms:modified>
</cp:coreProperties>
</file>