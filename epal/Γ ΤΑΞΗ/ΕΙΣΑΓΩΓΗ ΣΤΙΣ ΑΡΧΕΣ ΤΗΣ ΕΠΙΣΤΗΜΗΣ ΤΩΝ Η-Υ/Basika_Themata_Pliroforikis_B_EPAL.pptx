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0" y="960120"/>
            <a:ext cx="3291840" cy="411480"/>
          </a:xfrm>
          <a:prstGeom prst="roundRect">
            <a:avLst>
              <a:gd name="adj" fmla="val 44444"/>
            </a:avLst>
          </a:prstGeom>
          <a:solidFill>
            <a:srgbClr val="16223F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926080" y="96012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Β' ΕΠΑ.Λ. • ΤΟΜΕΑΣ ΠΛΗΡΟΦΟΡΙΚΗΣ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14400" y="1554480"/>
            <a:ext cx="7315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Βασικά Θέματα
</a:t>
            </a:r>
            <a:pPr algn="ctr" indent="0" marL="0">
              <a:buNone/>
            </a:pPr>
            <a:r>
              <a:rPr lang="en-US" sz="3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Πληροφορικής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097280" y="315468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Από απλοί χρήστες... δημιουργοί ψηφιακού περιεχομένου και τεχνολογίας!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Εικόνα, Ήχος, 3D Σχεδίαση, Εικονική Πραγματικότητα και Αρχιτεκτονική Υλικού.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828800" y="43434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1ο Μάθημα Γνωριμίας &amp; Παρουσίασης της Ύλης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73152" cy="65836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347472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ΓΕΝΙΚΗ ΕΙΚΟΝΑ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14400" y="566928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Οι 3 Μεγάλοι Πυλώνες του Μαθήματος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475488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Βασικά Θέματα Πληροφορικής | Β' ΕΠΑ.Λ. • Τομέας Πληροφορικής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1234440"/>
            <a:ext cx="2423160" cy="3291840"/>
          </a:xfrm>
          <a:prstGeom prst="roundRect">
            <a:avLst>
              <a:gd name="adj" fmla="val 5660"/>
            </a:avLst>
          </a:prstGeom>
          <a:solidFill>
            <a:srgbClr val="111D38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3716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182880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Ψηφιακός Κόσμος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2148840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Δεδομένα &amp; Κώδικες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2514600"/>
            <a:ext cx="2057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Αναλογικό vs Ψηφιακό σήμα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Δυαδικό σύστημα (Bits &amp; Bytes)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Κωδικοποίηση ASCII &amp; UTF-8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Αλγόριθμοι συμπίεσης δεδομένων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64992" y="1234440"/>
            <a:ext cx="2423160" cy="3291840"/>
          </a:xfrm>
          <a:prstGeom prst="roundRect">
            <a:avLst>
              <a:gd name="adj" fmla="val 5660"/>
            </a:avLst>
          </a:prstGeom>
          <a:solidFill>
            <a:srgbClr val="111D38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47872" y="13716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547872" y="182880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Πολυμέσα &amp; 3D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547872" y="2148840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 Tech &amp; Labs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547872" y="2514600"/>
            <a:ext cx="2057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Επεξεργασία εικόνας (GIMP)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Ψηφιακός ήχος (Audacity)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Video editing &amp; 2D/3D Animation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Εικονική Πραγματικότητα &amp; 3D Print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989320" y="1234440"/>
            <a:ext cx="2423160" cy="3291840"/>
          </a:xfrm>
          <a:prstGeom prst="roundRect">
            <a:avLst>
              <a:gd name="adj" fmla="val 5660"/>
            </a:avLst>
          </a:prstGeom>
          <a:solidFill>
            <a:srgbClr val="111D38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72200" y="13716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172200" y="182880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Υλικό &amp; Κυκλώματα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172200" y="2148840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&amp; Logic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172200" y="2514600"/>
            <a:ext cx="2057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Εξέλιξη υλικού &amp; μικρόκοσμος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Άλγεβρα Boole &amp; λογικές πύλες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Συνδυαστικά λογικά κυκλώματα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Ολοκληρωμένα κυκλώματα (Chips)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73152" cy="65836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347472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ΚΕΦΑΛΑΙΑ 1 &amp;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14400" y="566928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Από τον Αναλογικό στον Ψηφιακό Κόσμο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475488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Βασικά Θέματα Πληροφορικής | Β' ΕΠΑ.Λ. • Τομέας Πληροφορικής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1234440"/>
            <a:ext cx="3657600" cy="3291840"/>
          </a:xfrm>
          <a:prstGeom prst="roundRect">
            <a:avLst>
              <a:gd name="adj" fmla="val 4167"/>
            </a:avLst>
          </a:prstGeom>
          <a:solidFill>
            <a:srgbClr val="111D38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463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Γιατί τα πάντα γίνονται 0 και 1;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1920240"/>
            <a:ext cx="31089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Αναλογικός κόσμος: Συνεχή μεγέθη (π.χ. υδράργυρος στο θερμόμετρο, ήχος φωνής).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Ψηφιακός κόσμος: Διακριτές τιμές, απόλυτη ακρίβεια και εύκολη αποθήκευση.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Δυαδικό μέγεθος (Bit): Η κατάσταση ενός ηλεκτρονικού διακόπτη (ON / OFF).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Από το Bit στο Byte (8 bits), KB, MB, GB, Terabytes.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234440"/>
            <a:ext cx="3657600" cy="3291840"/>
          </a:xfrm>
          <a:prstGeom prst="roundRect">
            <a:avLst>
              <a:gd name="adj" fmla="val 4167"/>
            </a:avLst>
          </a:prstGeom>
          <a:solidFill>
            <a:srgbClr val="111D38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0" y="1463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Δεδομένα vs Πληροφορία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0" y="1920240"/>
            <a:ext cx="31089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Data: Ακατέργαστα γεγονότα και νούμερα χωρίς νόημα (π.χ. '38', '24').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Information: Τα δεδομένα μετά από επεξεργασία (π.χ. 'Πυρετός 38°C', '24 Απουσίες').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Πώς η επεξεργασία δεδομένων μας βοηθά να παίρνουμε σωστές αποφάσεις.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Πρακτική εφαρμογή: Μετατροπή αριθμών ανάμεσα σε Δυαδικό, Δεκαδικό &amp; Δεκαεξαδικό.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73152" cy="65836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347472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ΚΕΦΑΛΑΙΟ 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14400" y="566928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Κείμενο, Χαρακτήρες &amp; Συμπίεση Δεδομένων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475488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Βασικά Θέματα Πληροφορικής | Β' ΕΠΑ.Λ. • Τομέας Πληροφορικής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1234440"/>
            <a:ext cx="3657600" cy="3291840"/>
          </a:xfrm>
          <a:prstGeom prst="roundRect">
            <a:avLst>
              <a:gd name="adj" fmla="val 4167"/>
            </a:avLst>
          </a:prstGeom>
          <a:solidFill>
            <a:srgbClr val="111D38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463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Πώς «διαβάζει» γράμματα ο Η/Υ;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1920240"/>
            <a:ext cx="31089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Κώδικας ASCII: Οι πρώτοι 128 χαρακτήρες (αγγλικό αλφάβητο και σύμβολα).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Γιατί χρειαζόμασταν κάτι καλύτερο; Το πρόβλημα των «αλαμπουρνέζικων» ελληνικών.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Unicode &amp; UTF-8: Το παγκόσμιο πρότυπο που υποστηρίζει όλες τις γλώσσες του πλανήτη συν όλα τα Emojis!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Κάθε φορά που στέλνετε ένα μήνυμα, τρέχει UTF-8.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234440"/>
            <a:ext cx="3657600" cy="3291840"/>
          </a:xfrm>
          <a:prstGeom prst="roundRect">
            <a:avLst>
              <a:gd name="adj" fmla="val 4167"/>
            </a:avLst>
          </a:prstGeom>
          <a:solidFill>
            <a:srgbClr val="111D38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0" y="1463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Συμπίεση: Πώς μικραίνουν τα αρχεία;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0" y="1920240"/>
            <a:ext cx="31089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Γιατί δεν στέλνουμε ασυμπίεστα αρχεία μέσω Internet (οικονομία bandwidth).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Συμπίεση χωρίς απώλειες (Lossless): Αρχεία .ZIP, αλγόριθμοι LZ77 και LZW.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Πώς εντοπίζονται οι επαναλαμβανόμενες ακολουθίες δεδομένων.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Πρακτική άσκηση: Δοκιμή αλγορίθμου συμπίεσης σε πραγματικό κείμενο.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73152" cy="65836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347472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ΚΕΦΑΛΑΙΟ 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14400" y="566928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Αναπαράσταση Εικόνας &amp; Επεξεργασία Γραφικών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475488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Βασικά Θέματα Πληροφορικής | Β' ΕΠΑ.Λ. • Τομέας Πληροφορικής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1234440"/>
            <a:ext cx="3657600" cy="3291840"/>
          </a:xfrm>
          <a:prstGeom prst="roundRect">
            <a:avLst>
              <a:gd name="adj" fmla="val 4167"/>
            </a:avLst>
          </a:prstGeom>
          <a:solidFill>
            <a:srgbClr val="111D38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463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Τι κρύβεται πίσω από μια φωτογραφία;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1920240"/>
            <a:ext cx="31089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Το Pixel (Picture Element): Το μικρότερο δομικό στοιχείο κάθε ψηφιακής εικόνας.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Μοντέλο χρωμάτων RGB: Πώς με Κόκκινο, Πράσινο &amp; Μπλε φτιάχνουμε 16,7 εκατομμύρια χρώματα.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Ανάλυση εικόνας και βάθος χρώματος (Color Depth - 24-bit True Color).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Γιατί κάποιες εικόνες 'πιξελιάζουν' στο ζουμ.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234440"/>
            <a:ext cx="3657600" cy="3291840"/>
          </a:xfrm>
          <a:prstGeom prst="roundRect">
            <a:avLst>
              <a:gd name="adj" fmla="val 4167"/>
            </a:avLst>
          </a:prstGeom>
          <a:solidFill>
            <a:srgbClr val="111D38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0" y="1463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Bitmap vs Vector &amp; OCR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0" y="1920240"/>
            <a:ext cx="31089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Ψηφιογραφικά (Bitmap - JPG/PNG) vs Διανυσματικά γραφικά (Vector - SVG).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Γιατί τα επαγγελματικά λογότυπα σχεδιάζονται υποχρεωτικά ως vector.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Οπτική Αναγνώριση Χαρακτήρων (OCR): Πώς η κάμερα διαβάζει κείμενο από χαρτί σε editable Word.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Εργαστηριακό project: Επεξεργασία εικόνας και μάσκες με το δωρεάν πρόγραμμα GIMP.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73152" cy="65836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347472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ΚΕΦΑΛΑΙΟ 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14400" y="566928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Αναπαράσταση Αναλογικού Σήματος: Ήχος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475488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Βασικά Θέματα Πληροφορικής | Β' ΕΠΑ.Λ. • Τομέας Πληροφορικής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1234440"/>
            <a:ext cx="3657600" cy="3291840"/>
          </a:xfrm>
          <a:prstGeom prst="roundRect">
            <a:avLst>
              <a:gd name="adj" fmla="val 4167"/>
            </a:avLst>
          </a:prstGeom>
          <a:solidFill>
            <a:srgbClr val="111D38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463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Πώς ο ήχος γίνεται ψηφιακό αρχείο;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1920240"/>
            <a:ext cx="31089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Το αναλογικό κύμα της φωνής και των μουσικών οργάνων.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Δειγματοληψία (Sampling): Πόσες φορές το δευτερόλεπτο «φωτογραφίζουμε» το κύμα (π.χ. 44.100 Hz στα CD).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Κβάντιση &amp; Παλμοκωδική διαμόρφωση (PCM).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Ασυμπίεστος ήχος ποιότητας studio (WAV) vs συμπιεσμένος (MP3).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234440"/>
            <a:ext cx="3657600" cy="3291840"/>
          </a:xfrm>
          <a:prstGeom prst="roundRect">
            <a:avLst>
              <a:gd name="adj" fmla="val 4167"/>
            </a:avLst>
          </a:prstGeom>
          <a:solidFill>
            <a:srgbClr val="111D38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0" y="1463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Εργαστήριο Ήχου με Audacity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0" y="1920240"/>
            <a:ext cx="31089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Ηχογράφηση φωνής με μικρόφωνο στο εργαστήριο.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Αφαίρεση θορύβου παρασκηνίου (Noise reduction) και προσθήκη εφέ (fade in/out, echo).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Μίξη πολλαπλών καναλιών (μουσική υπόκρουση + φωνή για podcast/ραδιόφωνο).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Σύνθεση μουσικού κειμένου &amp; MIDI αρχεία.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73152" cy="65836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347472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ΚΕΦΑΛΑΙΑ 6 &amp; 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14400" y="566928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2Δ/3Δ Animation &amp; Ψηφιακό Βίντεο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475488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Βασικά Θέματα Πληροφορικής | Β' ΕΠΑ.Λ. • Τομέας Πληροφορικής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1234440"/>
            <a:ext cx="3657600" cy="3291840"/>
          </a:xfrm>
          <a:prstGeom prst="roundRect">
            <a:avLst>
              <a:gd name="adj" fmla="val 4167"/>
            </a:avLst>
          </a:prstGeom>
          <a:solidFill>
            <a:srgbClr val="111D38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463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Κινούμενο Σχέδιο (2D &amp; 3D)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1920240"/>
            <a:ext cx="31089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Η ψευδαίσθηση της κίνησης: Καρέ-καρέ (Frames per second - FPS).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Γιατί στα games κυνηγάμε τα 60+ FPS;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2D Animation με εργαλεία όπως το Scratch και το Animaker.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3D Σχεδίαση: Εισαγωγή σε άξονες X, Y, Z και βασικά στερεά στο Tinkercad.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234440"/>
            <a:ext cx="3657600" cy="3291840"/>
          </a:xfrm>
          <a:prstGeom prst="roundRect">
            <a:avLst>
              <a:gd name="adj" fmla="val 4167"/>
            </a:avLst>
          </a:prstGeom>
          <a:solidFill>
            <a:srgbClr val="111D38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0" y="1463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Ψηφιακό Βίντεο &amp; Μοντάζ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0" y="1920240"/>
            <a:ext cx="31089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Τι είναι οι αλγόριθμοι συμπίεσης βίντεο (Codecs - MP4, H.264, H.265);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Αναλύσεις οθόνης: Από το 720p στο 1080p Full HD και 4K Ultra HD.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Εργαστήριο Μοντάζ με το OpenShot: Κόψιμο σκηνών, transitions, τίτλοι τέλους.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Εξαγωγή τελικού βίντεο για YouTube και social media.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73152" cy="65836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347472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ΚΕΦΑΛΑΙΑ 8 &amp; 9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14400" y="566928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Εικονική Πραγματικότητα &amp; 3D Εκτύπωση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475488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Βασικά Θέματα Πληροφορικής | Β' ΕΠΑ.Λ. • Τομέας Πληροφορικής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1234440"/>
            <a:ext cx="3657600" cy="3291840"/>
          </a:xfrm>
          <a:prstGeom prst="roundRect">
            <a:avLst>
              <a:gd name="adj" fmla="val 4167"/>
            </a:avLst>
          </a:prstGeom>
          <a:solidFill>
            <a:srgbClr val="111D38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463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 vs AR: Ο κόσμος του αύριο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1920240"/>
            <a:ext cx="31089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Virtual Reality (VR): Πλήρης βύθιση σε έναν εξ ολοκλήρου ψηφιακό κόσμο (Headsets, Oculus, HTC).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Augmented Reality (AR): Ψηφιακά γραφικά πάνω στον πραγματικό κόσμο (Pokémon GO, φίλτρα Instagram, Google Lens).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Multi-user εικονικά περιβάλλοντα (π.χ. Artsteps) &amp; εκπαιδευτικές εφαρμογές.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234440"/>
            <a:ext cx="3657600" cy="3291840"/>
          </a:xfrm>
          <a:prstGeom prst="roundRect">
            <a:avLst>
              <a:gd name="adj" fmla="val 4167"/>
            </a:avLst>
          </a:prstGeom>
          <a:solidFill>
            <a:srgbClr val="111D38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0" y="1463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Τρισδιάστατη Εκτύπωση &amp; Σάρωση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0" y="1920240"/>
            <a:ext cx="31089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3D Scanning: Πώς μια κάμερα διαβάζει τις διαστάσεις ενός φυσικού αντικειμένου και το μετατρέπει σε 3D αρχείο.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3D Printing (Προσθετική κατασκευή): Πώς λιωμένο πλαστικό (PLA/ABS) χτίζει στρώμα-στρώμα αντικείμενα.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Σχεδίαση στο Tinkercad και προετοιμασία αρχείου STL για εκτύπωση!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73152" cy="65836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347472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ΚΕΦΑΛΑΙΑ 10, 11 &amp; 12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14400" y="566928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Υλικό Υπολογιστών, Boole &amp; Λογικές Πύλες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475488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Βασικά Θέματα Πληροφορικής | Β' ΕΠΑ.Λ. • Τομέας Πληροφορικής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1234440"/>
            <a:ext cx="3657600" cy="3291840"/>
          </a:xfrm>
          <a:prstGeom prst="roundRect">
            <a:avLst>
              <a:gd name="adj" fmla="val 4167"/>
            </a:avLst>
          </a:prstGeom>
          <a:solidFill>
            <a:srgbClr val="111D38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463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Από τον Μακρόκοσμο στον Μικρόκοσμο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1920240"/>
            <a:ext cx="31089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Η εξέλιξη: Από τις λυχνίες κενού στα τρανζίστορ και στα τσιπ νανομέτρων.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Αρχιτεκτονική Von Neumann: Επεξεργαστής (CPU), Μνήμη και Δίαυλοι (Buses).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Πώς δισεκατομμύρια μικροσκοπικοί διακόπτες συνεργάζονται για να τρέξουν τα πάντα.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234440"/>
            <a:ext cx="3657600" cy="3291840"/>
          </a:xfrm>
          <a:prstGeom prst="roundRect">
            <a:avLst>
              <a:gd name="adj" fmla="val 4167"/>
            </a:avLst>
          </a:prstGeom>
          <a:solidFill>
            <a:srgbClr val="111D38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0" y="1463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Άλγεβρα Boole &amp; Λογικές Πύλες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0" y="1920240"/>
            <a:ext cx="31089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Βασικές Λογικές Πύλες: AND (ΚΑΙ), OR (Η), NOT (ΟΧΙ).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Πίνακες Αληθείας (Truth Tables): Πότε το αποτέλεσμα είναι 1 (TRUE) και πότε 0 (FALSE);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Συνδυαστικά κυκλώματα και μνήμες (Flip-Flops).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Εργαστηριακό Simulator: Σύνδεση πυλών και διακοπτών σε online εξομοιωτή.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73152" cy="65836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347472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ΟΔΙΚΟΣ ΧΑΡΤΗΣ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14400" y="566928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Πώς θα δουλέψουμε φέτος στο Εργαστήριο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475488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Βασικά Θέματα Πληροφορικής | Β' ΕΠΑ.Λ. • Τομέας Πληροφορικής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1280160"/>
            <a:ext cx="1783080" cy="2377440"/>
          </a:xfrm>
          <a:prstGeom prst="roundRect">
            <a:avLst>
              <a:gd name="adj" fmla="val 7692"/>
            </a:avLst>
          </a:prstGeom>
          <a:solidFill>
            <a:srgbClr val="111D38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41732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ΦΑΣΗ 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1737360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Ψηφιακός Κόσμος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2103120"/>
            <a:ext cx="1508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Bits, Bytes, κώδικες UTF-8 και αλγόριθμοι συμπίεσης.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97480" y="1280160"/>
            <a:ext cx="1783080" cy="2377440"/>
          </a:xfrm>
          <a:prstGeom prst="roundRect">
            <a:avLst>
              <a:gd name="adj" fmla="val 7692"/>
            </a:avLst>
          </a:prstGeom>
          <a:solidFill>
            <a:srgbClr val="111D38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34640" y="141732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ΦΑΣΗ 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834640" y="1737360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Ήχος &amp; Εικόνα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834640" y="2103120"/>
            <a:ext cx="1508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Επεξεργασία στο GIMP, ηχογράφηση &amp; εφέ στο Audacity.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1280160"/>
            <a:ext cx="1783080" cy="2377440"/>
          </a:xfrm>
          <a:prstGeom prst="roundRect">
            <a:avLst>
              <a:gd name="adj" fmla="val 7692"/>
            </a:avLst>
          </a:prstGeom>
          <a:solidFill>
            <a:srgbClr val="111D38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141732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ΦΑΣΗ 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00600" y="1737360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3D, VR &amp; Video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00600" y="2103120"/>
            <a:ext cx="1508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Μοντάζ στο OpenShot, 3D CAD στο Tinkercad &amp; VR apps.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629400" y="1280160"/>
            <a:ext cx="1783080" cy="2377440"/>
          </a:xfrm>
          <a:prstGeom prst="roundRect">
            <a:avLst>
              <a:gd name="adj" fmla="val 7692"/>
            </a:avLst>
          </a:prstGeom>
          <a:solidFill>
            <a:srgbClr val="111D38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66560" y="141732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ΦΑΣΗ 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766560" y="1737360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Υλικό &amp; Κυκλώματα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766560" y="2103120"/>
            <a:ext cx="1508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Simulators λογικών πυλών, άλγεβρα Boole &amp; hardware.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31520" y="3840480"/>
            <a:ext cx="7680960" cy="777240"/>
          </a:xfrm>
          <a:prstGeom prst="roundRect">
            <a:avLst>
              <a:gd name="adj" fmla="val 17647"/>
            </a:avLst>
          </a:prstGeom>
          <a:solidFill>
            <a:srgbClr val="16223F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388620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Στόχος μας φέτος: Λιγότερη θεωρία στα χαρτιά, περισσότερη δημιουργία στον υπολογιστή!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Ανοίγουμε συστήματα και ξεκινάμε!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Β' ΕΠΑ.Λ. - Τομέας Πληροφορικής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Βασικά Θέματα Πληροφορικής - Β ΕΠΑΛ</dc:title>
  <dc:subject>PptxGenJS Presentation</dc:subject>
  <dc:creator>Καθηγητής Πληροφορικής ΕΠΑ.Λ.</dc:creator>
  <cp:lastModifiedBy>Καθηγητής Πληροφορικής ΕΠΑ.Λ.</cp:lastModifiedBy>
  <cp:revision>1</cp:revision>
  <dcterms:created xsi:type="dcterms:W3CDTF">2026-09-15T13:30:41Z</dcterms:created>
  <dcterms:modified xsi:type="dcterms:W3CDTF">2026-09-15T13:30:41Z</dcterms:modified>
</cp:coreProperties>
</file>