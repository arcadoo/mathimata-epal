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Μην πεις ακόμα ότι είναι ελεύθερο λογισμικό — άσ' το για τη διαφάνεια 7. Εδώ αρκεί η έκπληξη ότι υπάρχει εναλλακτική για το καθένα.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Κράτα κρυμμένες τις απαντήσεις (πάτα Β για μαύρη οθόνη), ρώτα, μετά δείξε. Επιβράβευσε και τη μισή απάντηση.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Ρώτα ποιον browser χρησιμοποιούν και γιατί. Είναι η πιο εύκολη ερώτηση της βραδιάς και μιλάνε όλοι.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Πες ότι το LibreOffice ανοίγει και σώζει αρχεία Word και Excel — είναι η πιο πρακτική πληροφορία της βραδιάς για κάποιον που δεν θέλει να πληρώνει συνδρομή.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Η διαφορά bitmap και vector (εικόνα 2.5 του βιβλίου) συνδέεται με το κεφάλαιο 4 — ανάφερέ το σύντομα αν το θυμούνται από το Γυμνάσιο.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Η αρίθμηση ξεκινάει από το 0 — είναι αστείο των προγραμματιστών και αξίζει να το πεις. Οι τέσσερις ελευθερίες είναι αυτολεξεί από το βιβλίο.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Η πιο συχνή παρανόηση. Δώσε το παράδειγμα: το Linux είναι ελεύθερο, αλλά εταιρείες πουλάνε υποστήριξη γι' αυτό και βγάζουν δισεκατομμύρια.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Το 480/500 είναι στοιχείο του βιβλίου. Αν έχεις χρόνο, δείξε ζωντανά το ellak.gr στον προβολέα πριν πιάσουν το φύλλο.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Το χαρτάκι εξόδου εδώ έχει και πρακτικό αντίκρισμα: πολλοί ενήλικες πληρώνουν συνδρομές που δεν χρειάζονται. Είναι από τα λίγα μαθήματα που τους γλιτώνουν χρήματα.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ΚΕΦΑΛΑΙΟ 2   ·   2η ΑΠΟ 2 ΔΙΔΑΚΤΙΚΕΣ ΩΡΕΣ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9144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Κατηγορίες εφαρμογών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ελεύθερο λογισμικό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Ποιο εργαλείο για ποια δουλειά —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γιατί υπάρχει δωρεάν εναλλακτική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σχεδόν καθετί που πληρώνετε.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Α΄ Εσπερινού ΕΠΑ.Λ.  ·  Εφαρμογές Πληροφορικής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40680" y="146304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0136" y="166420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33872" y="166420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07608" y="166420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41848" y="1938528"/>
            <a:ext cx="2816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5C6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Πληρώνεις        Δωρεάν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5C6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      --------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 Office     →  LibreOffice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Photoshop     →  GIMP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CorelDraw     →  Inkscape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Premiere      →  Kdenlive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Πριν προχωρήσουμε: θυμάστε;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Τρεις ερωτήσεις από την προηγούμενη ώρα. Απαντάμε προφορικά, χωρίς άγχος.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92440" cy="822960"/>
          </a:xfrm>
          <a:prstGeom prst="roundRect">
            <a:avLst>
              <a:gd name="adj" fmla="val 888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73352"/>
            <a:ext cx="402336" cy="40233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55448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Ποιο κομμάτι του ΛΣ κάνει όλη τη δουλειά;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6537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πυρήνας (kernel)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92440" cy="822960"/>
          </a:xfrm>
          <a:prstGeom prst="roundRect">
            <a:avLst>
              <a:gd name="adj" fmla="val 888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33472"/>
            <a:ext cx="402336" cy="40233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51460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είναι ο φλοιός και ποιες δύο μορφές έχει;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254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διεπαφή με τον χρήστη: γραφικό περιβάλλον ή γραμμή εντολών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8092440" cy="822960"/>
          </a:xfrm>
          <a:prstGeom prst="roundRect">
            <a:avLst>
              <a:gd name="adj" fmla="val 888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93592"/>
            <a:ext cx="402336" cy="40233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593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47472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το ίδιο πρόγραμμα τρέχει σε διαφορετικούς υπολογιστές;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7856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μιλάει με το ΛΣ, όχι κατευθείαν με το υλικό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  ·  ΕΥΡΕΙΑΣ ΧΡΗΣΗΣ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τέσσερα που έχει σχεδόν κάθε υπολογιστής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84632" y="1481328"/>
            <a:ext cx="1874520" cy="1965960"/>
          </a:xfrm>
          <a:prstGeom prst="roundRect">
            <a:avLst>
              <a:gd name="adj" fmla="val 390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6642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Φυλλομετρητής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21284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browser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505456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να βλέπετε ιστοσελίδες. Chrome, Firefox, Edge.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87752" y="1481328"/>
            <a:ext cx="1874520" cy="1965960"/>
          </a:xfrm>
          <a:prstGeom prst="roundRect">
            <a:avLst>
              <a:gd name="adj" fmla="val 390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70632" y="16642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Αναπαραγωγή μέσων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70632" y="221284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 player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2505456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μουσική, βίντεο και ό,τι κατεβάζετε.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90872" y="1481328"/>
            <a:ext cx="1874520" cy="1965960"/>
          </a:xfrm>
          <a:prstGeom prst="roundRect">
            <a:avLst>
              <a:gd name="adj" fmla="val 390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73752" y="16642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 γραφείου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73752" y="221284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 suite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873752" y="2505456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Κείμενο, υπολογισμοί, παρουσιάσεις.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93992" y="1481328"/>
            <a:ext cx="1874520" cy="1965960"/>
          </a:xfrm>
          <a:prstGeom prst="roundRect">
            <a:avLst>
              <a:gd name="adj" fmla="val 390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76872" y="16642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Προστασία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76872" y="221284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antivirus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976872" y="2505456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το κακόβουλο λογισμικό — το κεφάλαιο 16.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" y="3611880"/>
            <a:ext cx="8174736" cy="960120"/>
          </a:xfrm>
          <a:prstGeom prst="roundRect">
            <a:avLst>
              <a:gd name="adj" fmla="val 7619"/>
            </a:avLst>
          </a:prstGeom>
          <a:solidFill>
            <a:srgbClr val="E8F6FD"/>
          </a:solidFill>
          <a:ln w="12700">
            <a:solidFill>
              <a:srgbClr val="E8F6F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730752"/>
            <a:ext cx="7772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μετά αρχίζουν οι ειδικές κατηγορίες.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βιβλίο ξεχωρίζει πέντε: εφαρμογές γραφείου, επεξεργασία εικόνας και βίντεο, πολυμέσα, επιτραπέζια τυπογραφία, και σχεδίαση με υποβοήθηση υπολογιστή. Τις βλέπουμε αμέσως.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7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  ·  ΕΦΑΡΜΟΓΕΣ ΓΡΑΦΕΙΟΥ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Πέντε εργαλεία σε ένα πακέτο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809244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444752"/>
            <a:ext cx="347472" cy="347472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389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Επεξεργαστής κειμένου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3898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Σύνθεση, διόρθωση, μορφοποίηση και εκτύπωση εγγράφων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809244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1975104"/>
            <a:ext cx="347472" cy="347472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1920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Υπολογιστικό φύλλο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19202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Αριθμοί σε πίνακες, αυτόματοι υπολογισμοί, γραφήματα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450592"/>
            <a:ext cx="809244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2505456"/>
            <a:ext cx="347472" cy="347472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2450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Παρουσιάσεις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24505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Διαφάνειες — όπως αυτή που βλέπετε τώρα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980944"/>
            <a:ext cx="809244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3035808"/>
            <a:ext cx="347472" cy="347472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07008" y="29809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Βάσεις δεδομένων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29809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Οργάνωση και διαχείριση μεγάλου όγκου πληροφορίας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511296"/>
            <a:ext cx="809244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3566160"/>
            <a:ext cx="347472" cy="347472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207008" y="35112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Ταχυδρομείο και ημερολόγιο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114800" y="351129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Μηνύματα, επαφές, ραντεβού, υποχρεώσεις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4114800"/>
            <a:ext cx="8092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Επειδή σχεδόν όλοι τα χρειάζονται μαζί, πωλούνται ως πακέτο:  </a:t>
            </a:r>
            <a:pPr indent="0" marL="0">
              <a:buNone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Office ή LibreOffice.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  ·  ΕΙΔΙΚΕΣ ΚΑΤΗΓΟΡΙΕΣ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κάθε δουλειά, το εργαλείο της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545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Επεξεργασία εικόνας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83794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Διόρθωση χρωμάτων, αφαίρεση αντικειμένων, φίλτρα, σύνθεση.  Photoshop · GIMP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0328" y="1545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Διανυσματικό σχέδιο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910328" y="183794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Λογότυπα και σχέδια που μεγαλώνουν χωρίς να χαλάνε.  CorelDraw · Inkscape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825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Μοντάζ βίντεο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311810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Κόψιμο, διορθώσεις, μεταβάσεις.  Premiere Pro · Kdenlive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269748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10328" y="2825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Πολυμέσα, τυπογραφία, CAD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910328" y="311810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 με ήχο και κίνηση · βιβλία και περιοδικά (Scribus) · σχέδια μηχανικού (AutoCAD)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8092440" cy="658368"/>
          </a:xfrm>
          <a:prstGeom prst="roundRect">
            <a:avLst>
              <a:gd name="adj" fmla="val 11111"/>
            </a:avLst>
          </a:prstGeom>
          <a:solidFill>
            <a:srgbClr val="F1EDFE"/>
          </a:solidFill>
          <a:ln w="12700">
            <a:solidFill>
              <a:srgbClr val="F1EDF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096512"/>
            <a:ext cx="7690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5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Δίπλα σε κάθε ακριβό πρόγραμμα υπάρχει ένα δωρεάν.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είναι πάντα ισοδύναμα — αλλά για τις περισσότερες δουλειές είναι υπεραρκετά. Γιατί; Το βλέπουμε τώρα.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  ·  ΕΛΕΥΘΕΡΟ ΛΟΓΙΣΜΙΚΟ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229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Τέσσερις ελευθερίες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84632" y="155448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19072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12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Χρήση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54203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το τρέχεις για οποιονδήποτε σκοπό, χωρίς να λογοδοτείς σε κανέναν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87752" y="155448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719072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8892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212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Μελέτη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254203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δεις πώς είναι φτιαγμένο και να το αλλάξεις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90872" y="155448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1719072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212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Αντιγραφή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254203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δώσεις αντίγραφα σε όποιον θέλεις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93992" y="1554480"/>
            <a:ext cx="1874520" cy="1874520"/>
          </a:xfrm>
          <a:prstGeom prst="roundRect">
            <a:avLst>
              <a:gd name="adj" fmla="val 3902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1719072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9516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2212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Βελτίωση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254203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εκδώσεις τη δική σου βελτιωμένη έκδοση για όλους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657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ελευθερίες 1 και 3 χρειάζονται τον πηγαίο κώδικα.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τις τέσσερις μαζί — αλλιώς δεν είναι ελεύθερο. Τις διατύπωσε ο Ρίτσαρντ Στάλμαν, ιδρυτής του Ιδρύματος Ελεύθερου Λογισμικού.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FF8A7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2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  ·  ΜΗΝ ΤΑ ΜΠΕΡΔΕΥΕΤΕ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Τρία πράγματα που μπερδεύονται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84632" y="14630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093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2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ΕΛΕΥΘΕΡΟ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software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49424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Έχετε και τις τέσσερις ελευθερίες. Μπορείτε να το αλλάξετε και να το μοιράσετε. Ζήτημα ελευθερίας, όχι τιμής.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6093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2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ΑΝΟΙΧΤΟΥ ΚΩΔΙΚΑ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874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249424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Βλέπετε τον κώδικα. Δεν σημαίνει αυτόματα ότι μπορείτε να κάνετε ό,τι θέλετε με αυτόν.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07608" y="14630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08776" y="16093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2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ΔΩΡΕΑΝ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208776" y="1874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Freeware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208776" y="2249424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πληρώνετε — αλλά ο δημιουργός κρατάει όλα τα δικαιώματα. Κλειστό και τζάμπα.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" y="3749040"/>
            <a:ext cx="8174736" cy="822960"/>
          </a:xfrm>
          <a:prstGeom prst="roundRect">
            <a:avLst>
              <a:gd name="adj" fmla="val 8889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867912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C2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Ελεύθερο δεν σημαίνει τζάμπα.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Μπορείτε να πουλήσετε ελεύθερο λογισμικό ή υποστήριξη γι' αυτό, ακόμα και πολύ ακριβά. Το βιβλίο δίνει παράδειγμα τον μεταγλωττιστή GNU Ada.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7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  ·  ΠΟΥ ΤΟ ΣΥΝΑΝΤΑΤΕ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χρησιμοποιείτε ήδη — απλώς δεν το ξέρετε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τους 500 ταχύτερους υπερυπολογιστές του κόσμου τρέχουν Linux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1554480"/>
            <a:ext cx="4983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Linux: το πιο σημαντικό δείγμα ΕΛ/ΛΑΚ. Τρέχει και μέσα σε κάθε Android κινητό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LibreOffice: πλήρης σουίτα γραφείου που ανοίγει και σώζει αρχεία του Office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GIMP, Inkscape, Kdenlive, Scribus: τα δωρεάν αντίστοιχα της προηγούμενης διαφάνειας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ellak.gr: ελληνικός κατάλογος με το ελεύθερο αντίστοιχο κάθε εμπορικού προγράμματος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77056"/>
            <a:ext cx="8092440" cy="804672"/>
          </a:xfrm>
          <a:prstGeom prst="roundRect">
            <a:avLst>
              <a:gd name="adj" fmla="val 9091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995928"/>
            <a:ext cx="7690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Μέρος Β θα φτιάξετε τον δικό σας πίνακα: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πληρωμένο πρόγραμμα χρησιμοποιείτε και ποιο ελεύθερο θα μπορούσε να το αντικαταστήσει. Είναι δραστηριότητα του βιβλίου.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ΤΩΡΑ ΣΤΟΝ ΥΠΟΛΟΓΙΣΤΗ ΣΑΣ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9144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Φύλλο Εργασίας 2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83080"/>
            <a:ext cx="402336" cy="40233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Ταξινομώ και ξεχωρίζω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61518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ποια κατηγορία ανήκει το κάθε πρόγραμμα, και τι είναι ελεύθερο, ανοιχτό ή δωρεάν.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1783080"/>
            <a:ext cx="402336" cy="40233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112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Βρίσκω την εναλλακτική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261518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πίνακας του ellak.gr, και πώς κατεβάζουμε λογισμικό με ασφάλεια.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783080"/>
            <a:ext cx="402336" cy="402336"/>
          </a:xfrm>
          <a:prstGeom prst="ellipse">
            <a:avLst/>
          </a:prstGeom>
          <a:solidFill>
            <a:srgbClr val="FF8A7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544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Πρόκληση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61518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Πόσο κοστίζει να εξοπλίσεις ένα γραφείο δέκα θέσεων — με τους δύο τρόπους.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749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Πριν φύγετε: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γράψτε σε ένα χαρτάκι ένα πρόγραμμα που πληρώνετε ή πληρώνει η δουλειά σας — και το ελεύθερο αντίστοιχο που βρήκατε. Θα τα δούμε μαζί την επόμενη φορά.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Λογισμικό — 2η ώρα</dc:title>
  <dc:subject>PptxGenJS Presentation</dc:subject>
  <dc:creator>Chris</dc:creator>
  <cp:lastModifiedBy>Chris</cp:lastModifiedBy>
  <cp:revision>1</cp:revision>
  <dcterms:created xsi:type="dcterms:W3CDTF">2026-09-16T15:17:37Z</dcterms:created>
  <dcterms:modified xsi:type="dcterms:W3CDTF">2026-09-16T15:17:37Z</dcterms:modified>
</cp:coreProperties>
</file>