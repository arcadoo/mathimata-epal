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960120"/>
            <a:ext cx="3108960" cy="411480"/>
          </a:xfrm>
          <a:prstGeom prst="roundRect">
            <a:avLst>
              <a:gd name="adj" fmla="val 44444"/>
            </a:avLst>
          </a:prstGeom>
          <a:solidFill>
            <a:srgbClr val="1622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0" y="960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Α' ΛΥΚΕΙΟΥ • ΕΦΑΡΜΟΓΕΣ ΠΛΗΡΟΦΟΡΙΚΗΣ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
</a:t>
            </a:r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Πληροφορικής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31546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απλοί χρήστες... δημιουργοί και έξυπνοι διαχειριστές της τεχνολογίας!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Προγραμματισμός, Δίκτυα, Web 2.0, Cloud και Ασφάλεια στο Διαδίκτυο.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1ο Μάθημα: Παρουσίαση της Ύλης &amp; Εισαγωγή στο Εργαστήριο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ΓΕΝΙΚΗ ΕΙΚΟΝΑ ΥΛΗΣ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4 Μεγάλοι Πυλώνες του Μαθήματος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Πληροφορικής | Α' Λυκείου • 1ο Μάθημα Γνωριμίας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828800" cy="3291840"/>
          </a:xfrm>
          <a:prstGeom prst="roundRect">
            <a:avLst>
              <a:gd name="adj" fmla="val 7500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Υλικό &amp; Λογισμικό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Ενότητα 1 (Κεφ. 1-4)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Αρχιτεκτονική υπολογιστή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CPU, RAM &amp; σύγχρονες GPUs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Λειτουργικά Συστήματα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Εφαρμογές γραφείου &amp;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1234440"/>
            <a:ext cx="1828800" cy="3291840"/>
          </a:xfrm>
          <a:prstGeom prst="roundRect">
            <a:avLst>
              <a:gd name="adj" fmla="val 7500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3464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Προγραμματισμός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21031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Ενότητα 2 (Κεφ. 5-6)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42316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Αλγοριθμική σκέψη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Διαγράμματα ροής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Οπτικός κώδικας (Scratch)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Δημιουργία mini games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1828800" cy="3291840"/>
          </a:xfrm>
          <a:prstGeom prst="roundRect">
            <a:avLst>
              <a:gd name="adj" fmla="val 7500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060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Δίκτυα &amp; Web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1031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Ενότητα 3 (Κεφ. 7-12)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42316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Πώς λειτουργεί το Internet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Διευθύνσεις IP &amp; Routers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Εξέλιξη του Web 2.0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Σχεδίαση σελίδων με HTML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1234440"/>
            <a:ext cx="1828800" cy="3291840"/>
          </a:xfrm>
          <a:prstGeom prst="roundRect">
            <a:avLst>
              <a:gd name="adj" fmla="val 7500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Ασφάλεια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Ενότητα 4 (Κεφ. 13-16)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242316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Υπηρεσίες Νέφους (Cloud)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Συνεργατικά εργαλεία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Media &amp; Netiquette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Κυβερνοασφάλεια &amp; GDPR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1 • ΚΕΦΑΛΑΙΑ 1 &amp;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Κάτω από το «Καπό» του Υπολογιστή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Πληροφορικής | Α' Λυκείου • 1ο Μάθημα Γνωριμίας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Υλικό Υπολογιστών (Hardware)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Κεντρική Μονάδα Επεξεργασίας (CPU): Ο «εγκέφαλος» και οι πυρήνες.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Μνήμη RAM: Γιατί καθορίζει την ταχύτητα και την απόκριση του PC;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Κάρτες Γραφικών (GPU): Από το σύγχρονο gaming στην εκπαίδευση AI.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Αποθηκευτικά μέσα: Η διαφορά ταχύτητας HDD vs SSD NVMe.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Πρακτική δεξιότητα: Πώς διαβάζουμε προδιαγραφές πριν αγοράσουμε συσκευή.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Λογισμικό &amp; Λειτουργικά Συστήματα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Ο ρόλος του Λειτουργικού Συστήματος ως διαχειριστή πόρων.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Windows, macOS, Linux, Android και iOS: Ομοιότητες και διαφορές.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Λογισμικό Συστήματος vs Λογισμικό Εφαρμογών (Applications).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Ελεύθερο / Ανοικτού Κώδικα Λογισμικό (FOSS) vs Εμπορικό λογισμικό.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Εργαστηριακή πράξη: Διαχείριση αρχείων, δικαιωμάτων &amp; Task Manager.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1 • ΚΕΦΑΛΑΙΑ 3 &amp;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Γραφείου, Δεδομένα &amp; Πολυμέσα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Πληροφορικής | Α' Λυκείου • 1ο Μάθημα Γνωριμίας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Αυτοματισμός Γραφείου σε Pro Επίπεδο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Επεξεργασία κειμένου πέρα από τα απλά: Στυλ, πίνακες περιεχομένων, βιογραφικά.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Υπολογιστικά Φύλλα (Spreadsheets): Συναρτήσεις (SUM, AVERAGE, IF).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Γραφήματα και ανάλυση: Πώς τα νούμερα γίνονται οπτική πληροφορία.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Παρουσιάσεις που δεν κουράζουν: Αρχές οπτικής επικοινωνίας και storytelling.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Ψηφιακά Πολυμέσα στην Πράξη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Ψηφιακή εικόνα: Ανάλυση, pixels, διαστάσεις και σωστά format (JPG, PNG, WebP).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Επεξεργασία ήχου και βίντεο για εκπαιδευτικά projects.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Συμπίεση πολυμεσικών αρχείων για αποστολή μέσω Internet.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Project: Δημιουργία ολοκληρωμένης πολυμεσικής ψηφιακής παρουσίασης.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2 • ΚΕΦΑΛΑΙΑ 5 &amp;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Αλγόριθμοι &amp; Προγραμματισμός με Blocks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Πληροφορικής | Α' Λυκείου • 1ο Μάθημα Γνωριμίας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Αλγοριθμική Σκέψη: Πώς Λύνουμε Προβλήματα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Τι είναι αλγόριθμος; Σαφή, πεπερασμένα βήματα για την επίλυση ενός προβλήματος.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Βασικές αλγοριθμικές δομές: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Ακολουθία (βήμα-προς-βήμα)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Επιλογή (Αν... Τότε... Αλλιώς)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Επανάληψη (Όσο / Για)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Αναπαράσταση με διαγράμματα ροής (flowcharts) πριν γράψουμε κώδικα.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Οπτικός Προγραμματισμός στο Εργαστήριο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Scratch &amp; App Inventor: Προγραμματισμός χωρίς συντακτικά λάθη.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Χρήση μεταβλητών, τελεστών, γεγονότων (events) και μηνυμάτων.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Δημιουργία χαρακτήρων, animations, σκορ και ήχων.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Hands-on project: Σχεδίαση του δικού μας 2D παιχνιδιού ή κουίζ γνώσεων!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3 • ΚΕΦΑΛΑΙΑ 7 &amp;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Δίκτυα Υπολογιστών &amp; Πώς Συνδέεται ο Κόσμος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Πληροφορικής | Α' Λυκείου • 1ο Μάθημα Γνωριμίας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το Σχολικό LAN στο Παγκόσμιο Web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Τοπικά Δίκτυα (LAN) vs Δίκτυα Ευρείας Περιοχής (WAN).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Μέσα μετάδοσης: Καλώδια Ethernet, οπτικές ίνες και ασύρματα δίκτυα (Wi-Fi 6, 5G).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Συσκευές δικτύου: Switched Hubs, Modems και Routers (δρομολογητές).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Πώς ένα μήνυμα διασπάται σε πακέτα δεδομένων και φτάνει στην άλλη άκρη της Γης.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Διευθύνσεις IP &amp; Εργαστήριο Δικτύων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Διεύθυνση IP: Ο «αριθμός τηλεφώνου» κάθε υπολογιστή στο διαδίκτυο.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DNS (Domain Name System): Πώς το 'google.com' μετατρέπεται σε αριθμό IP.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Πρακτική άσκηση: Χρήση των εντολών `ping` και `ipconfig` στο τερματικό.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Διάγνωση: Γιατί δεν έχω internet στο σπίτι και τι ελέγχω πρώτα;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3 • ΚΕΦΑΛΑΙΑ 9, 10 &amp;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Διαδίκτυο, Web 2.0 &amp; Σχεδίαση με HTML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Πληροφορικής | Α' Λυκείου • 1ο Μάθημα Γνωριμίας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Επανάσταση του Web 2.0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1.0 (παθητική ανάγνωση) vs Web 2.0 (ενεργή συμμετοχή και δημιουργία).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Blogs, Wikis, podcasts και διαδικτυακές κοινότητες ανταλλαγής γνώσης.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Διαδικτυακές υπηρεσίες αναζήτησης και πώς αξιολογούμε την εγκυρότητα των πηγών.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Εργαλεία Web 2.0 στην εκπαίδευση και στην καθημερινή ζωή.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Γράφουμε την Πρώτη μας Σελίδα (HTML)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Τι είναι η HTML; Η παγκόσμια γλώσσα σήμανσης για όλες τις ιστοσελίδες.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Βασικά tags: επικεφαλίδες (`&lt;h1&gt;`), παράγραφοι (`&lt;p&gt;`), λίστες (`&lt;ul&gt;`, `&lt;li&gt;`).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Εισαγωγή εικόνων (`&lt;img&gt;`), υπερσυνδέσμων (`&lt;a&gt;`) και βίντεο.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Εργαστήριο: Δημιουργία μίας προσωπικής responsive ιστοσελίδας!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4 • ΚΕΦΑΛΑΙΑ 13 &amp;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Νέφους (Cloud) &amp; Συνεργασία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Πληροφορικής | Α' Λυκείου • 1ο Μάθημα Γνωριμίας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Είναι το Cloud Computing;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Αποθήκευση και εκτέλεση εφαρμογών στο internet αντί για τον σκληρό δίσκο.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Πλεονεκτήματα: Πρόσβαση από παντού, αυτόματο backup, οικονομία πόρων.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Δημοφιλείς πλατφόρμες: Google Drive, Microsoft OneDrive, Dropbox.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Σχολικές υπηρεσίες: Πανελλήνιο Σχολικό Δίκτυο (Myfiles, Grafis).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Συνεργασία από Απόσταση (Collaboration)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Ταυτόχρονη συγγραφή εγγράφων από πολλούς μαθητές μαζί.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Ψηφιακοί συνεργατικοί τοίχοι (Padlet) για οργάνωση ιδεών και εκδηλώσεων.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Εργαλεία εννοιολογικής χαρτογράφησης και brainstorming.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Πρακτική εφαρμογή: Ομαδική εργασία σε πραγματικό χρόνο χωρίς αποστολή αρχείων με email.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4 • ΚΕΦΑΛΑΙΑ 15 &amp;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Ασφάλεια &amp; Προσωπικά Δεδομένα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Πληροφορικής | Α' Λυκείου • 1ο Μάθημα Γνωριμίας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Κοινωνικά Δίκτυα &amp; Ψηφιακό Αποτύπωμα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Πώς λειτουργούν οι αλγόριθμοι προβολής σε TikTok, Instagram &amp; YouTube.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Ψηφιακό αποτύπωμα: Ό,τι ανεβαίνει στο Internet, μένει για πάντα.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Κανόνες καλής συμπεριφοράς (Netiquette) &amp; πρόληψη Cyberbullying.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Πνευματικά δικαιώματα (Copyright vs Creative Commons) &amp; πειρατεία λογισμικού.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Κυβερνοασφάλεια &amp; Ιδιωτικότητα (GDPR)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Απειλές: Κακόβουλο λογισμικό (Malware), Ransomware και Phishing scams.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Κανόνες ασφαλείας: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Ισχυροί κωδικοί και Password Managers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Έλεγχος ταυτότητας δύο παραγόντων (2FA)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Αναγνώριση ύποπτων συνδέσμων και μηνυμάτων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Προστασία προσωπικών δεδομένων και ιδιωτικότητας στο web.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ΟΔΙΚΟΣ ΧΑΡΤΗΣ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θα δουλέψουμε φέτος στο Εργαστήριο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Πληροφορικής | Α' Λυκείου • 1ο Μάθημα Γνωριμίας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ΒΗΜΑ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PC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Εσωτερικό υπολογιστή, προδιαγραφές, εργαλεία γραφείου και δεδομένα.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ΒΗΜΑ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&amp; Games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Αλγοριθμική σκέψη, οπτικός προγραμματισμός και δημιουργία mini games.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ΒΗΜΑ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Δίκτυα &amp; HTML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τρέχει το Internet, διευθύνσεις IP και σχεδίαση ιστοσελίδας με tags.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ΒΗΜΑ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Cyber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Συνεργατικά έγγραφα, Social Media, ασφάλεια κωδικών και ιδιωτικότητα.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7680960" cy="777240"/>
          </a:xfrm>
          <a:prstGeom prst="roundRect">
            <a:avLst>
              <a:gd name="adj" fmla="val 17647"/>
            </a:avLst>
          </a:prstGeom>
          <a:solidFill>
            <a:srgbClr val="16223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886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Στόχος μας φέτος: Λιγότερη αποστήθιση, περισσότερη ουσία, δημιουργία και πράξη!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Ανοίγουμε υπολογιστές και ξεκινάμε!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Α' Λυκείου • Εφαρμογές Πληροφορικής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Εφαρμογές Πληροφορικής - Α Λυκείου</dc:title>
  <dc:subject>PptxGenJS Presentation</dc:subject>
  <dc:creator>Καθηγητής Πληροφορικής</dc:creator>
  <cp:lastModifiedBy>Καθηγητής Πληροφορικής</cp:lastModifiedBy>
  <cp:revision>1</cp:revision>
  <dcterms:created xsi:type="dcterms:W3CDTF">2026-09-15T14:02:24Z</dcterms:created>
  <dcterms:modified xsi:type="dcterms:W3CDTF">2026-09-15T14:02:24Z</dcterms:modified>
</cp:coreProperties>
</file>