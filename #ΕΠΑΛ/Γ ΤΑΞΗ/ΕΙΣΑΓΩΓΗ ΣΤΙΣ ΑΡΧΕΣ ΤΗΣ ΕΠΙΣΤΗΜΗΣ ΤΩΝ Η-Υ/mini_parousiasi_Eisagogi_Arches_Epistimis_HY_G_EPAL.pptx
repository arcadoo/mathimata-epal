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C232D"/>
                </a:solidFill>
                <a:latin typeface="Aptos Display"/>
              </a:defRPr>
            </a:pPr>
            <a:r>
              <a:t>Τι θα κάνουμε φέτος</a:t>
            </a:r>
            <a:br/>
            <a:r>
              <a:t>με τους υπολογιστές;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6572"/>
                </a:solidFill>
                <a:latin typeface="Aptos"/>
              </a:defRPr>
            </a:pPr>
            <a:r>
              <a:t>Δεν θα μάθουμε απλώς «τι είναι» η Πληροφορική.</a:t>
            </a:r>
            <a:br/>
            <a:r>
              <a:t>Θα δούμε πώς φτιάχνουμε, δημοσιεύουμε και συνδέουμε πράγματα.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86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82296" cy="141732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5079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🐍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445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Γράφω πρόγραμμα → λύνω πρόβλημα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86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3886200"/>
            <a:ext cx="82296" cy="141732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05079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🌐 Websites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5445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Δημιουργώ και διαχειρίζομαι περιεχόμενο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886200"/>
            <a:ext cx="82296" cy="141732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05079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📡 Δίκτυα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5445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Καταλαβαίνω πώς επικοινωνούν οι συσκευές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Η ύλη με μια ματιά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Τρία κεφάλαια — τρεις διαφορετικές πλευρές της Πληροφορικής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82296" cy="338328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1 •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3063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• ακολουθία</a:t>
            </a:r>
            <a:br/>
            <a:r>
              <a:t>• επιλογή</a:t>
            </a:r>
            <a:br/>
            <a:r>
              <a:t>• επανάληψη</a:t>
            </a:r>
            <a:br/>
            <a:r>
              <a:t>• συναρτήσεις</a:t>
            </a:r>
            <a:br/>
            <a:r>
              <a:t>• λίστες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82296" cy="338328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2 • CMS / WordPress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04288"/>
            <a:ext cx="3063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• πώς λειτουργεί ένα CMS</a:t>
            </a:r>
            <a:br/>
            <a:r>
              <a:t>• δημιουργία site</a:t>
            </a:r>
            <a:br/>
            <a:r>
              <a:t>• περιεχόμενο &amp; μενού</a:t>
            </a:r>
            <a:br/>
            <a:r>
              <a:t>• plugins &amp; widgets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82296" cy="338328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3 • Δίκτυα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04288"/>
            <a:ext cx="3063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• κινητά &amp; PAN/WPAN</a:t>
            </a:r>
            <a:br/>
            <a:r>
              <a:t>• υπηρεσίες Internet</a:t>
            </a:r>
            <a:br/>
            <a:r>
              <a:t>• cloud &amp; social</a:t>
            </a:r>
            <a:br/>
            <a:r>
              <a:t>• σωστή συμπεριφορά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D"/>
                </a:solidFill>
              </a:defRPr>
            </a:pPr>
            <a:r>
              <a:t>Κοινός στόχος: να καταλαβαίνω τι συμβαίνει «πίσω από την οθόνη».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Κεφάλαιο 1 —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Από μια ιδέα… σε ένα πρόγραμμα που εκτελείται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92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Σχεδίαση και συγγραφή κώδικα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Μεταβλητές, είσοδος και έξοδος δεδομένων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Επιλογές: «αν συμβαίνει αυτό, κάνε εκείνο»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Επαναλήψεις: «κάν’ το ξανά όσο χρειάζεται»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Συναρτήσεις και λίστες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600200"/>
            <a:ext cx="38404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600200"/>
            <a:ext cx="82296" cy="342900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6479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Πρακτικό παράδειγμα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58568"/>
            <a:ext cx="3429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Πρόγραμμα που διαβάζει 10 τιμές και βρίσκει:</a:t>
            </a:r>
            <a:br/>
            <a:br/>
            <a:r>
              <a:t>→ μεγαλύτερη τιμή</a:t>
            </a:r>
            <a:br/>
            <a:r>
              <a:t>→ μικρότερη τιμή</a:t>
            </a:r>
            <a:br/>
            <a:r>
              <a:t>→ μέσο όρο</a:t>
            </a:r>
            <a:br/>
            <a:r>
              <a:t>→ πόσες είναι πάνω από έναν στόχο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Python: το σημαντικό δεν είναι να αποστηθίσεις εντολές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Είναι να μάθεις να σκέφτεσαι ένα πρόβλημα βήμα-βήμα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82296" cy="320040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1. Πρόβλημα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«Θέλω να υπολογίζω την τελική τιμή μετά από έκπτωση.»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82296" cy="320040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105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2. Αλγόριθμος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04288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Ποια δεδομένα έχω;</a:t>
            </a:r>
            <a:br/>
            <a:r>
              <a:t>Τι πρέπει να υπολογίσω;</a:t>
            </a:r>
            <a:br/>
            <a:r>
              <a:t>Ποια βήματα ακολουθώ;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82296" cy="320040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105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3. Κώδικας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04288"/>
            <a:ext cx="2926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Μετατρέπω τα βήματα σε Python και ελέγχω αν το πρόγραμμα δουλεύει.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D"/>
                </a:solidFill>
              </a:defRPr>
            </a:pPr>
            <a:r>
              <a:t>Αυτό είναι δεξιότητα που μεταφέρεται σε πραγματικές εφαρμογές — όχι μόνο σε ασκήσεις.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Κεφάλαιο 2 —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Πώς δημιουργείται ένα website χωρίς να γράψουμε τα πάντα από την αρχή;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CMS = Σύστημα Διαχείρισης Περιεχομένου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WordPress: σελίδες, άρθρα, κατηγορίες, μενού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Θέματα (themes): η εμφάνιση του site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Plugins &amp; widgets: πρόσθετες δυνατότητες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Χρήστες, σχόλια και διαχείριση περιεχομένου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645920"/>
            <a:ext cx="3977639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1645920"/>
            <a:ext cx="82296" cy="333756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810512"/>
            <a:ext cx="3566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Σενάριο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304288"/>
            <a:ext cx="356615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Μια μικρή επιχείρηση θέλει site.</a:t>
            </a:r>
            <a:br/>
            <a:br/>
            <a:r>
              <a:t>Τι χρειάζεται ο ιδιοκτήτης για να αλλάζει μόνος του κείμενα, φωτογραφίες, προϊόντα και ανακοινώσεις;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CMS: από καταναλωτής → δημιουργός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Θα δούμε τι υπάρχει πίσω από μια σελίδα που χρησιμοποιούμε καθημερινά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82296" cy="356616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Περιεχόμενο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Κείμενα</a:t>
            </a:r>
            <a:br/>
            <a:r>
              <a:t>Εικόνες</a:t>
            </a:r>
            <a:br/>
            <a:r>
              <a:t>Άρθρα</a:t>
            </a:r>
            <a:br/>
            <a:r>
              <a:t>Κατηγορίες</a:t>
            </a:r>
            <a:br/>
            <a:r>
              <a:t>Σελίδες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356616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Δομή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585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Μενού</a:t>
            </a:r>
            <a:br/>
            <a:r>
              <a:t>Widgets</a:t>
            </a:r>
            <a:br/>
            <a:r>
              <a:t>Χρήστες</a:t>
            </a:r>
            <a:br/>
            <a:r>
              <a:t>Σχόλια</a:t>
            </a:r>
            <a:br/>
            <a:r>
              <a:t>Ρόλοι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82296" cy="356616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647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Επεκτάσεις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58568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Plugins για:</a:t>
            </a:r>
            <a:br/>
            <a:r>
              <a:t>φόρμες</a:t>
            </a:r>
            <a:br/>
            <a:r>
              <a:t>SEO</a:t>
            </a:r>
            <a:br/>
            <a:r>
              <a:t>ασφάλεια</a:t>
            </a:r>
            <a:br/>
            <a:r>
              <a:t>κρατήσεις</a:t>
            </a:r>
            <a:br/>
            <a:r>
              <a:t>ηλεκτρονικό κατάστημα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D"/>
                </a:solidFill>
              </a:defRPr>
            </a:pPr>
            <a:r>
              <a:t>Μικρή πρόκληση: «Αν είχαμε 1 ώρα, τι website θα φτιάχναμε;»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Κεφάλαιο 3 — Δίκτυα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Το Internet δεν είναι «κάπου στο cloud» — είναι επικοινωνία συσκευών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92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Δίκτυα κινητής τηλεφωνίας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PAN: το προσωπικό μας δίκτυο συσκευών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WPAN: ασύρματη επικοινωνία κοντινών συσκευών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Πώς λειτουργούν υπηρεσίες όπως VoIP, streaming και social media</a:t>
            </a:r>
          </a:p>
          <a:p>
            <a:pPr>
              <a:spcAft>
                <a:spcPts val="1200"/>
              </a:spcAft>
              <a:defRPr sz="1900">
                <a:solidFill>
                  <a:srgbClr val="1C232D"/>
                </a:solidFill>
                <a:latin typeface="Aptos"/>
              </a:defRPr>
            </a:pPr>
            <a:r>
              <a:t>• Cloud / νεφοπληροφορική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00200"/>
            <a:ext cx="3886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600200"/>
            <a:ext cx="82296" cy="342900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76479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Κοίτα γύρω σου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58568"/>
            <a:ext cx="3474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Κινητό + Bluetooth ακουστικά + Wi‑Fi + smartwatch + cloud.</a:t>
            </a:r>
            <a:br/>
            <a:br/>
            <a:r>
              <a:t>Όλα αυτά είναι διαφορετικά κομμάτια ενός τεράστιου δικτύου.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Δίκτυα: εκεί που η θεωρία γίνεται καθημερινότητα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Μερικές ερωτήσεις που θα απαντήσουμε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82296" cy="132588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Γιατί λειτουργεί το Bluetooth όταν δεν έχουμε Internet;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4709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Άλλο το προσωπικό δίκτυο, άλλο η πρόσβαση στο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82296" cy="132588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92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Πού βρίσκονται τα αρχεία μου όταν λέω «είναι στο cloud»;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13048"/>
            <a:ext cx="4709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Σε υπολογιστικά συστήματα κάπου αλλού — και επικοινωνούμε μαζί τους μέσω δικτύων.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82296" cy="132588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Πώς φτάνει ένα video στο κινητό μου;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58568"/>
            <a:ext cx="4709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Πολλά κομμάτια υποδομής συνεργάζονται για να γίνει η μετάδοση.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154680"/>
            <a:ext cx="82296" cy="132588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192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Τι σημαίνει υπεύθυνη συμπεριφορά online;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13048"/>
            <a:ext cx="4709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Επικοινωνία, ιδιωτικότητα, ασφάλεια και σεβασμός.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Στο τέλος του μαθήματος…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Θέλω να μπορείτε να κάνετε πράγματα, όχι απλώς να θυμάστε ορισμούς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82296" cy="3520440"/>
          </a:xfrm>
          <a:prstGeom prst="rect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Να γράφετε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ένα μικρό πρόγραμμα Python που λύνει πραγματικό πρόβλημα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82296" cy="3520440"/>
          </a:xfrm>
          <a:prstGeom prst="rect">
            <a:avLst/>
          </a:prstGeom>
          <a:solidFill>
            <a:srgbClr val="208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Να δημιουργείτε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και να οργανώνετε περιεχόμενο σε ένα website / CMS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82296" cy="3520440"/>
          </a:xfrm>
          <a:prstGeom prst="rect">
            <a:avLst/>
          </a:prstGeom>
          <a:solidFill>
            <a:srgbClr val="96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232D"/>
                </a:solidFill>
                <a:latin typeface="Aptos"/>
              </a:defRPr>
            </a:pPr>
            <a:r>
              <a:t>Να εξηγείτε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12848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B6572"/>
                </a:solidFill>
                <a:latin typeface="Aptos"/>
              </a:defRPr>
            </a:pPr>
            <a:r>
              <a:t>τι συμβαίνει όταν οι συσκευές και οι υπηρεσίες επικοινωνούν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C232D"/>
                </a:solidFill>
              </a:defRPr>
            </a:pPr>
            <a:r>
              <a:t>Και σε κάθε κεφάλαιο θα υπάρχει κάτι που θα δοκιμάζουμε στην πράξη.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Εισαγωγή στις Αρχές της Επιστήμης των Η/Υ • Γ΄ ΕΠΑΛ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C232D"/>
                </a:solidFill>
                <a:latin typeface="Aptos Display"/>
              </a:defRPr>
            </a:pPr>
            <a:r>
              <a:t>Πρώτη ερώτηση για σήμερα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572"/>
                </a:solidFill>
                <a:latin typeface="Aptos"/>
              </a:defRPr>
            </a:pPr>
            <a:r>
              <a:t>Πριν ανοίξουμε βιβλίο ή γράψουμε κώδικα…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C232D"/>
                </a:solidFill>
                <a:latin typeface="Aptos Display"/>
              </a:defRPr>
            </a:pPr>
            <a:r>
              <a:t>«Αν μπορούσατε να φτιάξετε</a:t>
            </a:r>
            <a:br/>
            <a:r>
              <a:t>ένα πρόγραμμα ή ένα website</a:t>
            </a:r>
            <a:br/>
            <a:r>
              <a:t>που θα σας ήταν πραγματικά χρήσιμο, τι θα έκανε;»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05CAA"/>
                </a:solidFill>
                <a:latin typeface="Aptos"/>
              </a:defRPr>
            </a:pPr>
            <a:r>
              <a:t>Αυτό θα είναι το νήμα μας: πρόβλημα → ιδέα → λύση → εφαρμογή.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2"/>
                </a:solidFill>
                <a:latin typeface="Aptos"/>
              </a:defRPr>
            </a:pPr>
            <a:r>
              <a:t>Πηγή ύλης: σχολικό βιβλίο «Εισαγωγή στις Αρχές της Επιστήμης των Η/Υ» • Κεφάλαια 1–3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