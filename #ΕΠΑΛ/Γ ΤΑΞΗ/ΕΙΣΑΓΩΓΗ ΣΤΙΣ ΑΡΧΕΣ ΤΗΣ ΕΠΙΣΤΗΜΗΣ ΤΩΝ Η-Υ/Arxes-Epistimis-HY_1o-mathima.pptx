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Πρώτο μάθημα. Στόχος: να φύγουν με την αίσθηση ότι φέτος θα ΦΤΙΑΞΟΥΝ πράγματα. Το βιβλίο είναι γραμμένο για Python 2.7 — εμείς θα δουλέψουμε σε Python 3, οι διαφορές στην αρχή είναι ελάχιστες (κυρίως το print ως συνάρτηση).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Δείξε το βάρος: Python + WordPress είναι τα 2/3 του βιβλίου — εκεί θα περάσουμε τον περισσότερο χρόνο. Τα υπόλοιπα τρία είναι σύντομα αλλά είναι αυτά που δίνουν νόημα.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Καλό σημείο να τους δείξεις ζωντανά το IDLE και να τρέξεις το πρώτο πρόγραμμα. Το βιβλίο χρησιμοποιεί Python 2.7 (print χωρίς παρενθέσεις) — πες το ρητά και δούλεψε σε Python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Τόνισε ότι όλα τα παραδείγματα είναι καθημερινά προβλήματα — όχι μαθηματικές ασκήσεις. Ρώτησέ τους ποιο θέλουν να λύσουμε πρώτο.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43% είναι το γνωστό μερίδιο αγοράς του WordPress (W3Techs). Καλή στιγμή να τους δείξεις ένα σχολικό site που τρέχει σε WordPress.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Ξεκίνα ρωτώντας τους κυριολεκτικά: πόσες συσκευές τους είναι συνδεδεμένες τώρα; Μέτρησέ τες μαζί τους στον πίνακα.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Λύση: ΚΑΛΗ ΧΡΟΝΙΑ. Άφησέ τους 2-3 λεπτά να το σπάσουν μόνοι τους στο τετράδιο — δούλεψε με το ελληνικό αλφάβητο των 24 γραμμάτων. Στο βιβλίο υπάρχει ως δραστηριότητα (εικ.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Εδώ ανακοίνωσε το ομαδικό project της χρονιάς (π.χ. ο ιστότοπος του κεφ. 2 φτιαγμένος ομαδικά). Ζήτησέ τους να σκεφτούν σε ποιον ρόλο θα ήθελαν να είναι.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Αυτή είναι η διαφάνεια που κρατάνε. Πες τους ότι το «τι θα έχω στα χέρια μου» είναι το μέτρο για να κρίνουν το μάθημα τον Ιούνιο.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Κλείσε εδώ. Αν προλαβαίνεις, πάρε 3-4 απαντήσεις προφορικά επιτόπου — συνήθως βγαίνουν ιδέες που πατάνε ακριβώς πάνω στα κεφ. 1 και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C"/>
        </a:solidFill>
      </p:bgPr>
    </p:bg>
    <p:spTree>
      <p:nvGrpSpPr>
        <p:cNvPr id="1" name=""/>
        <p:cNvGrpSpPr/>
        <p:nvPr/>
      </p:nvGrpSpPr>
      <p:grpSpPr>
        <a:xfrm>
          <a:off x="0" y="0"/>
          <a:ext cx="0" cy="0"/>
          <a:chOff x="0" y="0"/>
          <a:chExt cx="0" cy="0"/>
        </a:xfrm>
      </p:grpSpPr>
      <p:sp>
        <p:nvSpPr>
          <p:cNvPr id="2" name="Text 0"/>
          <p:cNvSpPr txBox="1"/>
          <p:nvPr/>
        </p:nvSpPr>
        <p:spPr>
          <a:xfrm>
            <a:off x="548640" y="457200"/>
            <a:ext cx="4572000" cy="274320"/>
          </a:xfrm>
          <a:prstGeom prst="rect">
            <a:avLst/>
          </a:prstGeom>
          <a:noFill/>
          <a:ln/>
        </p:spPr>
        <p:txBody>
          <a:bodyPr wrap="square" lIns="0" tIns="0" rIns="0" bIns="0" rtlCol="0" anchor="ctr"/>
          <a:lstStyle/>
          <a:p>
            <a:pPr indent="0" marL="0">
              <a:buNone/>
            </a:pPr>
            <a:r>
              <a:rPr lang="en-US" sz="1050" b="1" spc="200" kern="0" dirty="0">
                <a:solidFill>
                  <a:srgbClr val="00D68F"/>
                </a:solidFill>
                <a:latin typeface="Courier New" pitchFamily="34" charset="0"/>
                <a:ea typeface="Courier New" pitchFamily="34" charset="-122"/>
                <a:cs typeface="Courier New" pitchFamily="34" charset="-120"/>
              </a:rPr>
              <a:t>Γ΄ ΕΠΑ.Λ.   ·   ΓΕΝΙΚΗΣ ΠΑΙΔΕΙΑΣ</a:t>
            </a:r>
            <a:endParaRPr lang="en-US" sz="1050" dirty="0"/>
          </a:p>
        </p:txBody>
      </p:sp>
      <p:sp>
        <p:nvSpPr>
          <p:cNvPr id="3" name="Text 1"/>
          <p:cNvSpPr txBox="1"/>
          <p:nvPr/>
        </p:nvSpPr>
        <p:spPr>
          <a:xfrm>
            <a:off x="530352" y="914400"/>
            <a:ext cx="4754880" cy="1371600"/>
          </a:xfrm>
          <a:prstGeom prst="rect">
            <a:avLst/>
          </a:prstGeom>
          <a:noFill/>
          <a:ln/>
        </p:spPr>
        <p:txBody>
          <a:bodyPr wrap="square" lIns="0" tIns="0" rIns="0" bIns="0" rtlCol="0" anchor="ctr"/>
          <a:lstStyle/>
          <a:p>
            <a:pPr indent="0" marL="0">
              <a:lnSpc>
                <a:spcPts val="4000"/>
              </a:lnSpc>
              <a:buNone/>
            </a:pPr>
            <a:r>
              <a:rPr lang="en-US" sz="3300" b="1" dirty="0">
                <a:solidFill>
                  <a:srgbClr val="FFFFFF"/>
                </a:solidFill>
                <a:latin typeface="Calibri" pitchFamily="34" charset="0"/>
                <a:ea typeface="Calibri" pitchFamily="34" charset="-122"/>
                <a:cs typeface="Calibri" pitchFamily="34" charset="-120"/>
              </a:rPr>
              <a:t>Εισαγωγή στις Αρχές</a:t>
            </a:r>
            <a:endParaRPr lang="en-US" sz="3300" dirty="0"/>
          </a:p>
          <a:p>
            <a:pPr indent="0" marL="0">
              <a:lnSpc>
                <a:spcPts val="4000"/>
              </a:lnSpc>
              <a:buNone/>
            </a:pPr>
            <a:r>
              <a:rPr lang="en-US" sz="3300" b="1" dirty="0">
                <a:solidFill>
                  <a:srgbClr val="FFFFFF"/>
                </a:solidFill>
                <a:latin typeface="Calibri" pitchFamily="34" charset="0"/>
                <a:ea typeface="Calibri" pitchFamily="34" charset="-122"/>
                <a:cs typeface="Calibri" pitchFamily="34" charset="-120"/>
              </a:rPr>
              <a:t>της Επιστήμης των Η/Υ</a:t>
            </a:r>
            <a:endParaRPr lang="en-US" sz="3300" dirty="0"/>
          </a:p>
        </p:txBody>
      </p:sp>
      <p:sp>
        <p:nvSpPr>
          <p:cNvPr id="4" name="Text 2"/>
          <p:cNvSpPr txBox="1"/>
          <p:nvPr/>
        </p:nvSpPr>
        <p:spPr>
          <a:xfrm>
            <a:off x="548640" y="2468880"/>
            <a:ext cx="4663440" cy="1005840"/>
          </a:xfrm>
          <a:prstGeom prst="rect">
            <a:avLst/>
          </a:prstGeom>
          <a:noFill/>
          <a:ln/>
        </p:spPr>
        <p:txBody>
          <a:bodyPr wrap="square" lIns="0" tIns="0" rIns="0" bIns="0" rtlCol="0" anchor="ctr"/>
          <a:lstStyle/>
          <a:p>
            <a:pPr indent="0" marL="0">
              <a:lnSpc>
                <a:spcPts val="2300"/>
              </a:lnSpc>
              <a:buNone/>
            </a:pPr>
            <a:r>
              <a:rPr lang="en-US" sz="1500" dirty="0">
                <a:solidFill>
                  <a:srgbClr val="C9D2DE"/>
                </a:solidFill>
                <a:latin typeface="Calibri" pitchFamily="34" charset="0"/>
                <a:ea typeface="Calibri" pitchFamily="34" charset="-122"/>
                <a:cs typeface="Calibri" pitchFamily="34" charset="-120"/>
              </a:rPr>
              <a:t>Φέτος δεν μαθαίνεις να χρησιμοποιείς</a:t>
            </a:r>
            <a:endParaRPr lang="en-US" sz="1500" dirty="0"/>
          </a:p>
          <a:p>
            <a:pPr indent="0" marL="0">
              <a:lnSpc>
                <a:spcPts val="2300"/>
              </a:lnSpc>
              <a:buNone/>
            </a:pPr>
            <a:r>
              <a:rPr lang="en-US" sz="1500" dirty="0">
                <a:solidFill>
                  <a:srgbClr val="C9D2DE"/>
                </a:solidFill>
                <a:latin typeface="Calibri" pitchFamily="34" charset="0"/>
                <a:ea typeface="Calibri" pitchFamily="34" charset="-122"/>
                <a:cs typeface="Calibri" pitchFamily="34" charset="-120"/>
              </a:rPr>
              <a:t>τον υπολογιστή.</a:t>
            </a:r>
            <a:endParaRPr lang="en-US" sz="1500" dirty="0"/>
          </a:p>
          <a:p>
            <a:pPr indent="0" marL="0">
              <a:lnSpc>
                <a:spcPts val="2300"/>
              </a:lnSpc>
              <a:buNone/>
            </a:pPr>
            <a:r>
              <a:rPr lang="en-US" sz="1500" dirty="0">
                <a:solidFill>
                  <a:srgbClr val="C9D2DE"/>
                </a:solidFill>
                <a:latin typeface="Calibri" pitchFamily="34" charset="0"/>
                <a:ea typeface="Calibri" pitchFamily="34" charset="-122"/>
                <a:cs typeface="Calibri" pitchFamily="34" charset="-120"/>
              </a:rPr>
              <a:t>Μαθαίνεις να του λες τι να κάνει.</a:t>
            </a:r>
            <a:endParaRPr lang="en-US" sz="1500" dirty="0"/>
          </a:p>
        </p:txBody>
      </p:sp>
      <p:sp>
        <p:nvSpPr>
          <p:cNvPr id="5" name="Text 3"/>
          <p:cNvSpPr txBox="1"/>
          <p:nvPr/>
        </p:nvSpPr>
        <p:spPr>
          <a:xfrm>
            <a:off x="548640" y="4114800"/>
            <a:ext cx="4754880" cy="274320"/>
          </a:xfrm>
          <a:prstGeom prst="rect">
            <a:avLst/>
          </a:prstGeom>
          <a:noFill/>
          <a:ln/>
        </p:spPr>
        <p:txBody>
          <a:bodyPr wrap="square" lIns="0" tIns="0" rIns="0" bIns="0" rtlCol="0" anchor="ctr"/>
          <a:lstStyle/>
          <a:p>
            <a:pPr indent="0" marL="0">
              <a:buNone/>
            </a:pPr>
            <a:r>
              <a:rPr lang="en-US" sz="1150" dirty="0">
                <a:solidFill>
                  <a:srgbClr val="8F9AAA"/>
                </a:solidFill>
                <a:latin typeface="Calibri" pitchFamily="34" charset="0"/>
                <a:ea typeface="Calibri" pitchFamily="34" charset="-122"/>
                <a:cs typeface="Calibri" pitchFamily="34" charset="-120"/>
              </a:rPr>
              <a:t>5 κεφάλαια  ·  1 ώρα την εβδομάδα  ·  στο εργαστήριο</a:t>
            </a:r>
            <a:endParaRPr lang="en-US" sz="1150" dirty="0"/>
          </a:p>
        </p:txBody>
      </p:sp>
      <p:sp>
        <p:nvSpPr>
          <p:cNvPr id="6" name="Shape 4"/>
          <p:cNvSpPr/>
          <p:nvPr/>
        </p:nvSpPr>
        <p:spPr>
          <a:xfrm>
            <a:off x="5440680" y="1463040"/>
            <a:ext cx="3200400" cy="2148840"/>
          </a:xfrm>
          <a:prstGeom prst="roundRect">
            <a:avLst>
              <a:gd name="adj" fmla="val 3404"/>
            </a:avLst>
          </a:prstGeom>
          <a:solidFill>
            <a:srgbClr val="1D222C"/>
          </a:solidFill>
          <a:ln w="12700">
            <a:solidFill>
              <a:srgbClr val="1D222C"/>
            </a:solidFill>
            <a:prstDash val="solid"/>
          </a:ln>
        </p:spPr>
      </p:sp>
      <p:sp>
        <p:nvSpPr>
          <p:cNvPr id="7" name="Shape 5"/>
          <p:cNvSpPr/>
          <p:nvPr/>
        </p:nvSpPr>
        <p:spPr>
          <a:xfrm>
            <a:off x="5660136" y="1664208"/>
            <a:ext cx="91440" cy="91440"/>
          </a:xfrm>
          <a:prstGeom prst="ellipse">
            <a:avLst/>
          </a:prstGeom>
          <a:solidFill>
            <a:srgbClr val="FF5F56"/>
          </a:solidFill>
          <a:ln w="12700">
            <a:solidFill>
              <a:srgbClr val="FF5F56"/>
            </a:solidFill>
            <a:prstDash val="solid"/>
          </a:ln>
        </p:spPr>
      </p:sp>
      <p:sp>
        <p:nvSpPr>
          <p:cNvPr id="8" name="Shape 6"/>
          <p:cNvSpPr/>
          <p:nvPr/>
        </p:nvSpPr>
        <p:spPr>
          <a:xfrm>
            <a:off x="5833872" y="1664208"/>
            <a:ext cx="91440" cy="91440"/>
          </a:xfrm>
          <a:prstGeom prst="ellipse">
            <a:avLst/>
          </a:prstGeom>
          <a:solidFill>
            <a:srgbClr val="FFBD2E"/>
          </a:solidFill>
          <a:ln w="12700">
            <a:solidFill>
              <a:srgbClr val="FFBD2E"/>
            </a:solidFill>
            <a:prstDash val="solid"/>
          </a:ln>
        </p:spPr>
      </p:sp>
      <p:sp>
        <p:nvSpPr>
          <p:cNvPr id="9" name="Shape 7"/>
          <p:cNvSpPr/>
          <p:nvPr/>
        </p:nvSpPr>
        <p:spPr>
          <a:xfrm>
            <a:off x="6007608" y="1664208"/>
            <a:ext cx="91440" cy="91440"/>
          </a:xfrm>
          <a:prstGeom prst="ellipse">
            <a:avLst/>
          </a:prstGeom>
          <a:solidFill>
            <a:srgbClr val="27C93F"/>
          </a:solidFill>
          <a:ln w="12700">
            <a:solidFill>
              <a:srgbClr val="27C93F"/>
            </a:solidFill>
            <a:prstDash val="solid"/>
          </a:ln>
        </p:spPr>
      </p:sp>
      <p:sp>
        <p:nvSpPr>
          <p:cNvPr id="10" name="Text 8"/>
          <p:cNvSpPr txBox="1"/>
          <p:nvPr/>
        </p:nvSpPr>
        <p:spPr>
          <a:xfrm>
            <a:off x="5641848" y="1938528"/>
            <a:ext cx="2816352" cy="1508760"/>
          </a:xfrm>
          <a:prstGeom prst="rect">
            <a:avLst/>
          </a:prstGeom>
          <a:noFill/>
          <a:ln/>
        </p:spPr>
        <p:txBody>
          <a:bodyPr wrap="square" lIns="0" tIns="0" rIns="0" bIns="0" rtlCol="0" anchor="t"/>
          <a:lstStyle/>
          <a:p>
            <a:pPr indent="0" marL="0">
              <a:lnSpc>
                <a:spcPts val="1700"/>
              </a:lnSpc>
              <a:buNone/>
            </a:pPr>
            <a:r>
              <a:rPr lang="en-US" sz="1100" dirty="0">
                <a:solidFill>
                  <a:srgbClr val="D7DEE8"/>
                </a:solidFill>
                <a:latin typeface="Courier New" pitchFamily="34" charset="0"/>
                <a:ea typeface="Courier New" pitchFamily="34" charset="-122"/>
                <a:cs typeface="Courier New" pitchFamily="34" charset="-120"/>
              </a:rPr>
              <a:t>&gt;&gt;&gt; onoma = input("Όνομα: ")</a:t>
            </a:r>
            <a:endParaRPr lang="en-US" sz="1100" dirty="0"/>
          </a:p>
          <a:p>
            <a:pPr indent="0" marL="0">
              <a:lnSpc>
                <a:spcPts val="1700"/>
              </a:lnSpc>
              <a:buNone/>
            </a:pPr>
            <a:r>
              <a:rPr lang="en-US" sz="1100" dirty="0">
                <a:solidFill>
                  <a:srgbClr val="8FA0B5"/>
                </a:solidFill>
                <a:latin typeface="Courier New" pitchFamily="34" charset="0"/>
                <a:ea typeface="Courier New" pitchFamily="34" charset="-122"/>
                <a:cs typeface="Courier New" pitchFamily="34" charset="-120"/>
              </a:rPr>
              <a:t>Όνομα: Νίκος</a:t>
            </a:r>
            <a:endParaRPr lang="en-US" sz="1100" dirty="0"/>
          </a:p>
          <a:p>
            <a:pPr indent="0" marL="0">
              <a:lnSpc>
                <a:spcPts val="1700"/>
              </a:lnSpc>
              <a:buNone/>
            </a:pPr>
            <a:r>
              <a:rPr lang="en-US" sz="1100" dirty="0">
                <a:solidFill>
                  <a:srgbClr val="D7DEE8"/>
                </a:solidFill>
                <a:latin typeface="Courier New" pitchFamily="34" charset="0"/>
                <a:ea typeface="Courier New" pitchFamily="34" charset="-122"/>
                <a:cs typeface="Courier New" pitchFamily="34" charset="-120"/>
              </a:rPr>
              <a:t>&gt;&gt;&gt; print("Γεια σου,", onoma)</a:t>
            </a:r>
            <a:endParaRPr lang="en-US" sz="1100" dirty="0"/>
          </a:p>
          <a:p>
            <a:pPr indent="0" marL="0">
              <a:lnSpc>
                <a:spcPts val="1700"/>
              </a:lnSpc>
              <a:buNone/>
            </a:pPr>
            <a:r>
              <a:rPr lang="en-US" sz="1100" dirty="0">
                <a:solidFill>
                  <a:srgbClr val="00D68F"/>
                </a:solidFill>
                <a:latin typeface="Courier New" pitchFamily="34" charset="0"/>
                <a:ea typeface="Courier New" pitchFamily="34" charset="-122"/>
                <a:cs typeface="Courier New" pitchFamily="34" charset="-120"/>
              </a:rPr>
              <a:t>Γεια σου, Νίκος</a:t>
            </a:r>
            <a:endParaRPr lang="en-US" sz="1100" dirty="0"/>
          </a:p>
          <a:p>
            <a:pPr indent="0" marL="0">
              <a:lnSpc>
                <a:spcPts val="1700"/>
              </a:lnSpc>
              <a:buNone/>
            </a:pPr>
            <a:r>
              <a:rPr lang="en-US" sz="1100" dirty="0">
                <a:solidFill>
                  <a:srgbClr val="5C6879"/>
                </a:solidFill>
                <a:latin typeface="Courier New" pitchFamily="34" charset="0"/>
                <a:ea typeface="Courier New" pitchFamily="34" charset="-122"/>
                <a:cs typeface="Courier New" pitchFamily="34" charset="-120"/>
              </a:rPr>
              <a:t>&gt;&gt;&gt; _</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30352" y="411480"/>
            <a:ext cx="8138160" cy="566928"/>
          </a:xfrm>
          <a:prstGeom prst="rect">
            <a:avLst/>
          </a:prstGeom>
          <a:noFill/>
          <a:ln/>
        </p:spPr>
        <p:txBody>
          <a:bodyPr wrap="square" lIns="0" tIns="0" rIns="0" bIns="0" rtlCol="0" anchor="ctr"/>
          <a:lstStyle/>
          <a:p>
            <a:pPr indent="0" marL="0">
              <a:buNone/>
            </a:pPr>
            <a:r>
              <a:rPr lang="en-US" sz="3400" b="1" dirty="0">
                <a:solidFill>
                  <a:srgbClr val="171B22"/>
                </a:solidFill>
                <a:latin typeface="Calibri" pitchFamily="34" charset="0"/>
                <a:ea typeface="Calibri" pitchFamily="34" charset="-122"/>
                <a:cs typeface="Calibri" pitchFamily="34" charset="-120"/>
              </a:rPr>
              <a:t>Ο χάρτης της χρονιάς</a:t>
            </a:r>
            <a:endParaRPr lang="en-US" sz="3400" dirty="0"/>
          </a:p>
        </p:txBody>
      </p:sp>
      <p:sp>
        <p:nvSpPr>
          <p:cNvPr id="3" name="Text 1"/>
          <p:cNvSpPr txBox="1"/>
          <p:nvPr/>
        </p:nvSpPr>
        <p:spPr>
          <a:xfrm>
            <a:off x="548640" y="932688"/>
            <a:ext cx="8046720" cy="274320"/>
          </a:xfrm>
          <a:prstGeom prst="rect">
            <a:avLst/>
          </a:prstGeom>
          <a:noFill/>
          <a:ln/>
        </p:spPr>
        <p:txBody>
          <a:bodyPr wrap="square" lIns="0" tIns="0" rIns="0" bIns="0" rtlCol="0" anchor="ctr"/>
          <a:lstStyle/>
          <a:p>
            <a:pPr indent="0" marL="0">
              <a:buNone/>
            </a:pPr>
            <a:r>
              <a:rPr lang="en-US" sz="1300" dirty="0">
                <a:solidFill>
                  <a:srgbClr val="6B7480"/>
                </a:solidFill>
                <a:latin typeface="Calibri" pitchFamily="34" charset="0"/>
                <a:ea typeface="Calibri" pitchFamily="34" charset="-122"/>
                <a:cs typeface="Calibri" pitchFamily="34" charset="-120"/>
              </a:rPr>
              <a:t>Πέντε κεφάλαια. Το καθένα σε φέρνει ένα βήμα πιο κοντά στο να φτιάξεις κάτι δικό σου.</a:t>
            </a:r>
            <a:endParaRPr lang="en-US" sz="1300" dirty="0"/>
          </a:p>
        </p:txBody>
      </p:sp>
      <p:sp>
        <p:nvSpPr>
          <p:cNvPr id="4" name="Shape 2"/>
          <p:cNvSpPr/>
          <p:nvPr/>
        </p:nvSpPr>
        <p:spPr>
          <a:xfrm>
            <a:off x="566928" y="1435608"/>
            <a:ext cx="420624" cy="420624"/>
          </a:xfrm>
          <a:prstGeom prst="ellipse">
            <a:avLst/>
          </a:prstGeom>
          <a:solidFill>
            <a:srgbClr val="00D68F"/>
          </a:solidFill>
          <a:ln/>
        </p:spPr>
      </p:sp>
      <p:sp>
        <p:nvSpPr>
          <p:cNvPr id="5" name="Text 3"/>
          <p:cNvSpPr txBox="1"/>
          <p:nvPr/>
        </p:nvSpPr>
        <p:spPr>
          <a:xfrm>
            <a:off x="566928" y="1435608"/>
            <a:ext cx="420624" cy="420624"/>
          </a:xfrm>
          <a:prstGeom prst="rect">
            <a:avLst/>
          </a:prstGeom>
          <a:noFill/>
          <a:ln/>
        </p:spPr>
        <p:txBody>
          <a:bodyPr wrap="square" lIns="0" tIns="0" rIns="0" bIns="0" rtlCol="0" anchor="ctr"/>
          <a:lstStyle/>
          <a:p>
            <a:pPr algn="ctr" indent="0" marL="0">
              <a:buNone/>
            </a:pPr>
            <a:r>
              <a:rPr lang="en-US" sz="1500" b="1" dirty="0">
                <a:solidFill>
                  <a:srgbClr val="12151C"/>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170432" y="1399032"/>
            <a:ext cx="6309360" cy="274320"/>
          </a:xfrm>
          <a:prstGeom prst="rect">
            <a:avLst/>
          </a:prstGeom>
          <a:noFill/>
          <a:ln/>
        </p:spPr>
        <p:txBody>
          <a:bodyPr wrap="square" lIns="0" tIns="0" rIns="0" bIns="0" rtlCol="0" anchor="ctr"/>
          <a:lstStyle/>
          <a:p>
            <a:pPr indent="0" marL="0">
              <a:buNone/>
            </a:pPr>
            <a:r>
              <a:rPr lang="en-US" sz="1450" b="1" dirty="0">
                <a:solidFill>
                  <a:srgbClr val="171B22"/>
                </a:solidFill>
                <a:latin typeface="Calibri" pitchFamily="34" charset="0"/>
                <a:ea typeface="Calibri" pitchFamily="34" charset="-122"/>
                <a:cs typeface="Calibri" pitchFamily="34" charset="-120"/>
              </a:rPr>
              <a:t>Προγραμματισμός σε γλώσσα Python</a:t>
            </a:r>
            <a:endParaRPr lang="en-US" sz="1450" dirty="0"/>
          </a:p>
        </p:txBody>
      </p:sp>
      <p:sp>
        <p:nvSpPr>
          <p:cNvPr id="7" name="Text 5"/>
          <p:cNvSpPr txBox="1"/>
          <p:nvPr/>
        </p:nvSpPr>
        <p:spPr>
          <a:xfrm>
            <a:off x="1170432" y="1655064"/>
            <a:ext cx="6400800" cy="274320"/>
          </a:xfrm>
          <a:prstGeom prst="rect">
            <a:avLst/>
          </a:prstGeom>
          <a:noFill/>
          <a:ln/>
        </p:spPr>
        <p:txBody>
          <a:bodyPr wrap="square" lIns="0" tIns="0" rIns="0" bIns="0" rtlCol="0" anchor="ctr"/>
          <a:lstStyle/>
          <a:p>
            <a:pPr indent="0" marL="0">
              <a:buNone/>
            </a:pPr>
            <a:r>
              <a:rPr lang="en-US" sz="1150" dirty="0">
                <a:solidFill>
                  <a:srgbClr val="6B7480"/>
                </a:solidFill>
                <a:latin typeface="Calibri" pitchFamily="34" charset="0"/>
                <a:ea typeface="Calibri" pitchFamily="34" charset="-122"/>
                <a:cs typeface="Calibri" pitchFamily="34" charset="-120"/>
              </a:rPr>
              <a:t>Από τον αλγόριθμο στο πρόγραμμα που πραγματικά τρέχει</a:t>
            </a:r>
            <a:endParaRPr lang="en-US" sz="1150" dirty="0"/>
          </a:p>
        </p:txBody>
      </p:sp>
      <p:sp>
        <p:nvSpPr>
          <p:cNvPr id="8" name="Text 6"/>
          <p:cNvSpPr txBox="1"/>
          <p:nvPr/>
        </p:nvSpPr>
        <p:spPr>
          <a:xfrm>
            <a:off x="7726680" y="1435608"/>
            <a:ext cx="914400" cy="420624"/>
          </a:xfrm>
          <a:prstGeom prst="rect">
            <a:avLst/>
          </a:prstGeom>
          <a:noFill/>
          <a:ln/>
        </p:spPr>
        <p:txBody>
          <a:bodyPr wrap="square" lIns="0" tIns="0" rIns="0" bIns="0" rtlCol="0" anchor="ctr"/>
          <a:lstStyle/>
          <a:p>
            <a:pPr algn="r" indent="0" marL="0">
              <a:buNone/>
            </a:pPr>
            <a:r>
              <a:rPr lang="en-US" sz="1000" dirty="0">
                <a:solidFill>
                  <a:srgbClr val="8F9AAA"/>
                </a:solidFill>
                <a:latin typeface="Courier New" pitchFamily="34" charset="0"/>
                <a:ea typeface="Courier New" pitchFamily="34" charset="-122"/>
                <a:cs typeface="Courier New" pitchFamily="34" charset="-120"/>
              </a:rPr>
              <a:t>46 σελ.</a:t>
            </a:r>
            <a:endParaRPr lang="en-US" sz="1000" dirty="0"/>
          </a:p>
        </p:txBody>
      </p:sp>
      <p:sp>
        <p:nvSpPr>
          <p:cNvPr id="9" name="Shape 7"/>
          <p:cNvSpPr/>
          <p:nvPr/>
        </p:nvSpPr>
        <p:spPr>
          <a:xfrm>
            <a:off x="566928" y="2093976"/>
            <a:ext cx="420624" cy="420624"/>
          </a:xfrm>
          <a:prstGeom prst="ellipse">
            <a:avLst/>
          </a:prstGeom>
          <a:solidFill>
            <a:srgbClr val="A78BFA"/>
          </a:solidFill>
          <a:ln/>
        </p:spPr>
      </p:sp>
      <p:sp>
        <p:nvSpPr>
          <p:cNvPr id="10" name="Text 8"/>
          <p:cNvSpPr txBox="1"/>
          <p:nvPr/>
        </p:nvSpPr>
        <p:spPr>
          <a:xfrm>
            <a:off x="566928" y="2093976"/>
            <a:ext cx="420624" cy="420624"/>
          </a:xfrm>
          <a:prstGeom prst="rect">
            <a:avLst/>
          </a:prstGeom>
          <a:noFill/>
          <a:ln/>
        </p:spPr>
        <p:txBody>
          <a:bodyPr wrap="square" lIns="0" tIns="0" rIns="0" bIns="0" rtlCol="0" anchor="ctr"/>
          <a:lstStyle/>
          <a:p>
            <a:pPr algn="ctr" indent="0" marL="0">
              <a:buNone/>
            </a:pPr>
            <a:r>
              <a:rPr lang="en-US" sz="1500" b="1" dirty="0">
                <a:solidFill>
                  <a:srgbClr val="12151C"/>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70432" y="2057400"/>
            <a:ext cx="6309360" cy="274320"/>
          </a:xfrm>
          <a:prstGeom prst="rect">
            <a:avLst/>
          </a:prstGeom>
          <a:noFill/>
          <a:ln/>
        </p:spPr>
        <p:txBody>
          <a:bodyPr wrap="square" lIns="0" tIns="0" rIns="0" bIns="0" rtlCol="0" anchor="ctr"/>
          <a:lstStyle/>
          <a:p>
            <a:pPr indent="0" marL="0">
              <a:buNone/>
            </a:pPr>
            <a:r>
              <a:rPr lang="en-US" sz="1450" b="1" dirty="0">
                <a:solidFill>
                  <a:srgbClr val="171B22"/>
                </a:solidFill>
                <a:latin typeface="Calibri" pitchFamily="34" charset="0"/>
                <a:ea typeface="Calibri" pitchFamily="34" charset="-122"/>
                <a:cs typeface="Calibri" pitchFamily="34" charset="-120"/>
              </a:rPr>
              <a:t>Συστήματα Διαχείρισης Περιεχομένου</a:t>
            </a:r>
            <a:endParaRPr lang="en-US" sz="1450" dirty="0"/>
          </a:p>
        </p:txBody>
      </p:sp>
      <p:sp>
        <p:nvSpPr>
          <p:cNvPr id="12" name="Text 10"/>
          <p:cNvSpPr txBox="1"/>
          <p:nvPr/>
        </p:nvSpPr>
        <p:spPr>
          <a:xfrm>
            <a:off x="1170432" y="2313432"/>
            <a:ext cx="6400800" cy="274320"/>
          </a:xfrm>
          <a:prstGeom prst="rect">
            <a:avLst/>
          </a:prstGeom>
          <a:noFill/>
          <a:ln/>
        </p:spPr>
        <p:txBody>
          <a:bodyPr wrap="square" lIns="0" tIns="0" rIns="0" bIns="0" rtlCol="0" anchor="ctr"/>
          <a:lstStyle/>
          <a:p>
            <a:pPr indent="0" marL="0">
              <a:buNone/>
            </a:pPr>
            <a:r>
              <a:rPr lang="en-US" sz="1150" dirty="0">
                <a:solidFill>
                  <a:srgbClr val="6B7480"/>
                </a:solidFill>
                <a:latin typeface="Calibri" pitchFamily="34" charset="0"/>
                <a:ea typeface="Calibri" pitchFamily="34" charset="-122"/>
                <a:cs typeface="Calibri" pitchFamily="34" charset="-120"/>
              </a:rPr>
              <a:t>Φτιάχνεις ολόκληρο ιστότοπο με WordPress</a:t>
            </a:r>
            <a:endParaRPr lang="en-US" sz="1150" dirty="0"/>
          </a:p>
        </p:txBody>
      </p:sp>
      <p:sp>
        <p:nvSpPr>
          <p:cNvPr id="13" name="Text 11"/>
          <p:cNvSpPr txBox="1"/>
          <p:nvPr/>
        </p:nvSpPr>
        <p:spPr>
          <a:xfrm>
            <a:off x="7726680" y="2093976"/>
            <a:ext cx="914400" cy="420624"/>
          </a:xfrm>
          <a:prstGeom prst="rect">
            <a:avLst/>
          </a:prstGeom>
          <a:noFill/>
          <a:ln/>
        </p:spPr>
        <p:txBody>
          <a:bodyPr wrap="square" lIns="0" tIns="0" rIns="0" bIns="0" rtlCol="0" anchor="ctr"/>
          <a:lstStyle/>
          <a:p>
            <a:pPr algn="r" indent="0" marL="0">
              <a:buNone/>
            </a:pPr>
            <a:r>
              <a:rPr lang="en-US" sz="1000" dirty="0">
                <a:solidFill>
                  <a:srgbClr val="8F9AAA"/>
                </a:solidFill>
                <a:latin typeface="Courier New" pitchFamily="34" charset="0"/>
                <a:ea typeface="Courier New" pitchFamily="34" charset="-122"/>
                <a:cs typeface="Courier New" pitchFamily="34" charset="-120"/>
              </a:rPr>
              <a:t>40 σελ.</a:t>
            </a:r>
            <a:endParaRPr lang="en-US" sz="1000" dirty="0"/>
          </a:p>
        </p:txBody>
      </p:sp>
      <p:sp>
        <p:nvSpPr>
          <p:cNvPr id="14" name="Shape 12"/>
          <p:cNvSpPr/>
          <p:nvPr/>
        </p:nvSpPr>
        <p:spPr>
          <a:xfrm>
            <a:off x="566928" y="2752344"/>
            <a:ext cx="420624" cy="420624"/>
          </a:xfrm>
          <a:prstGeom prst="ellipse">
            <a:avLst/>
          </a:prstGeom>
          <a:solidFill>
            <a:srgbClr val="38BDF8"/>
          </a:solidFill>
          <a:ln/>
        </p:spPr>
      </p:sp>
      <p:sp>
        <p:nvSpPr>
          <p:cNvPr id="15" name="Text 13"/>
          <p:cNvSpPr txBox="1"/>
          <p:nvPr/>
        </p:nvSpPr>
        <p:spPr>
          <a:xfrm>
            <a:off x="566928" y="2752344"/>
            <a:ext cx="420624" cy="420624"/>
          </a:xfrm>
          <a:prstGeom prst="rect">
            <a:avLst/>
          </a:prstGeom>
          <a:noFill/>
          <a:ln/>
        </p:spPr>
        <p:txBody>
          <a:bodyPr wrap="square" lIns="0" tIns="0" rIns="0" bIns="0" rtlCol="0" anchor="ctr"/>
          <a:lstStyle/>
          <a:p>
            <a:pPr algn="ctr" indent="0" marL="0">
              <a:buNone/>
            </a:pPr>
            <a:r>
              <a:rPr lang="en-US" sz="1500" b="1" dirty="0">
                <a:solidFill>
                  <a:srgbClr val="12151C"/>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170432" y="2715768"/>
            <a:ext cx="6309360" cy="274320"/>
          </a:xfrm>
          <a:prstGeom prst="rect">
            <a:avLst/>
          </a:prstGeom>
          <a:noFill/>
          <a:ln/>
        </p:spPr>
        <p:txBody>
          <a:bodyPr wrap="square" lIns="0" tIns="0" rIns="0" bIns="0" rtlCol="0" anchor="ctr"/>
          <a:lstStyle/>
          <a:p>
            <a:pPr indent="0" marL="0">
              <a:buNone/>
            </a:pPr>
            <a:r>
              <a:rPr lang="en-US" sz="1450" b="1" dirty="0">
                <a:solidFill>
                  <a:srgbClr val="171B22"/>
                </a:solidFill>
                <a:latin typeface="Calibri" pitchFamily="34" charset="0"/>
                <a:ea typeface="Calibri" pitchFamily="34" charset="-122"/>
                <a:cs typeface="Calibri" pitchFamily="34" charset="-120"/>
              </a:rPr>
              <a:t>Δίκτυα</a:t>
            </a:r>
            <a:endParaRPr lang="en-US" sz="1450" dirty="0"/>
          </a:p>
        </p:txBody>
      </p:sp>
      <p:sp>
        <p:nvSpPr>
          <p:cNvPr id="17" name="Text 15"/>
          <p:cNvSpPr txBox="1"/>
          <p:nvPr/>
        </p:nvSpPr>
        <p:spPr>
          <a:xfrm>
            <a:off x="1170432" y="2971800"/>
            <a:ext cx="6400800" cy="274320"/>
          </a:xfrm>
          <a:prstGeom prst="rect">
            <a:avLst/>
          </a:prstGeom>
          <a:noFill/>
          <a:ln/>
        </p:spPr>
        <p:txBody>
          <a:bodyPr wrap="square" lIns="0" tIns="0" rIns="0" bIns="0" rtlCol="0" anchor="ctr"/>
          <a:lstStyle/>
          <a:p>
            <a:pPr indent="0" marL="0">
              <a:buNone/>
            </a:pPr>
            <a:r>
              <a:rPr lang="en-US" sz="1150" dirty="0">
                <a:solidFill>
                  <a:srgbClr val="6B7480"/>
                </a:solidFill>
                <a:latin typeface="Calibri" pitchFamily="34" charset="0"/>
                <a:ea typeface="Calibri" pitchFamily="34" charset="-122"/>
                <a:cs typeface="Calibri" pitchFamily="34" charset="-120"/>
              </a:rPr>
              <a:t>Πώς φτάνει το μήνυμά σου από το κινητό σου στο δικό μου</a:t>
            </a:r>
            <a:endParaRPr lang="en-US" sz="1150" dirty="0"/>
          </a:p>
        </p:txBody>
      </p:sp>
      <p:sp>
        <p:nvSpPr>
          <p:cNvPr id="18" name="Text 16"/>
          <p:cNvSpPr txBox="1"/>
          <p:nvPr/>
        </p:nvSpPr>
        <p:spPr>
          <a:xfrm>
            <a:off x="7726680" y="2752344"/>
            <a:ext cx="914400" cy="420624"/>
          </a:xfrm>
          <a:prstGeom prst="rect">
            <a:avLst/>
          </a:prstGeom>
          <a:noFill/>
          <a:ln/>
        </p:spPr>
        <p:txBody>
          <a:bodyPr wrap="square" lIns="0" tIns="0" rIns="0" bIns="0" rtlCol="0" anchor="ctr"/>
          <a:lstStyle/>
          <a:p>
            <a:pPr algn="r" indent="0" marL="0">
              <a:buNone/>
            </a:pPr>
            <a:r>
              <a:rPr lang="en-US" sz="1000" dirty="0">
                <a:solidFill>
                  <a:srgbClr val="8F9AAA"/>
                </a:solidFill>
                <a:latin typeface="Courier New" pitchFamily="34" charset="0"/>
                <a:ea typeface="Courier New" pitchFamily="34" charset="-122"/>
                <a:cs typeface="Courier New" pitchFamily="34" charset="-120"/>
              </a:rPr>
              <a:t>13 σελ.</a:t>
            </a:r>
            <a:endParaRPr lang="en-US" sz="1000" dirty="0"/>
          </a:p>
        </p:txBody>
      </p:sp>
      <p:sp>
        <p:nvSpPr>
          <p:cNvPr id="19" name="Shape 17"/>
          <p:cNvSpPr/>
          <p:nvPr/>
        </p:nvSpPr>
        <p:spPr>
          <a:xfrm>
            <a:off x="566928" y="3410712"/>
            <a:ext cx="420624" cy="420624"/>
          </a:xfrm>
          <a:prstGeom prst="ellipse">
            <a:avLst/>
          </a:prstGeom>
          <a:solidFill>
            <a:srgbClr val="FF8A75"/>
          </a:solidFill>
          <a:ln/>
        </p:spPr>
      </p:sp>
      <p:sp>
        <p:nvSpPr>
          <p:cNvPr id="20" name="Text 18"/>
          <p:cNvSpPr txBox="1"/>
          <p:nvPr/>
        </p:nvSpPr>
        <p:spPr>
          <a:xfrm>
            <a:off x="566928" y="3410712"/>
            <a:ext cx="420624" cy="420624"/>
          </a:xfrm>
          <a:prstGeom prst="rect">
            <a:avLst/>
          </a:prstGeom>
          <a:noFill/>
          <a:ln/>
        </p:spPr>
        <p:txBody>
          <a:bodyPr wrap="square" lIns="0" tIns="0" rIns="0" bIns="0" rtlCol="0" anchor="ctr"/>
          <a:lstStyle/>
          <a:p>
            <a:pPr algn="ctr" indent="0" marL="0">
              <a:buNone/>
            </a:pPr>
            <a:r>
              <a:rPr lang="en-US" sz="1500" b="1" dirty="0">
                <a:solidFill>
                  <a:srgbClr val="12151C"/>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1170432" y="3374136"/>
            <a:ext cx="6309360" cy="274320"/>
          </a:xfrm>
          <a:prstGeom prst="rect">
            <a:avLst/>
          </a:prstGeom>
          <a:noFill/>
          <a:ln/>
        </p:spPr>
        <p:txBody>
          <a:bodyPr wrap="square" lIns="0" tIns="0" rIns="0" bIns="0" rtlCol="0" anchor="ctr"/>
          <a:lstStyle/>
          <a:p>
            <a:pPr indent="0" marL="0">
              <a:buNone/>
            </a:pPr>
            <a:r>
              <a:rPr lang="en-US" sz="1450" b="1" dirty="0">
                <a:solidFill>
                  <a:srgbClr val="171B22"/>
                </a:solidFill>
                <a:latin typeface="Calibri" pitchFamily="34" charset="0"/>
                <a:ea typeface="Calibri" pitchFamily="34" charset="-122"/>
                <a:cs typeface="Calibri" pitchFamily="34" charset="-120"/>
              </a:rPr>
              <a:t>Ασφάλεια Πληροφοριών και Επικοινωνία</a:t>
            </a:r>
            <a:endParaRPr lang="en-US" sz="1450" dirty="0"/>
          </a:p>
        </p:txBody>
      </p:sp>
      <p:sp>
        <p:nvSpPr>
          <p:cNvPr id="22" name="Text 20"/>
          <p:cNvSpPr txBox="1"/>
          <p:nvPr/>
        </p:nvSpPr>
        <p:spPr>
          <a:xfrm>
            <a:off x="1170432" y="3630168"/>
            <a:ext cx="6400800" cy="274320"/>
          </a:xfrm>
          <a:prstGeom prst="rect">
            <a:avLst/>
          </a:prstGeom>
          <a:noFill/>
          <a:ln/>
        </p:spPr>
        <p:txBody>
          <a:bodyPr wrap="square" lIns="0" tIns="0" rIns="0" bIns="0" rtlCol="0" anchor="ctr"/>
          <a:lstStyle/>
          <a:p>
            <a:pPr indent="0" marL="0">
              <a:buNone/>
            </a:pPr>
            <a:r>
              <a:rPr lang="en-US" sz="1150" dirty="0">
                <a:solidFill>
                  <a:srgbClr val="6B7480"/>
                </a:solidFill>
                <a:latin typeface="Calibri" pitchFamily="34" charset="0"/>
                <a:ea typeface="Calibri" pitchFamily="34" charset="-122"/>
                <a:cs typeface="Calibri" pitchFamily="34" charset="-120"/>
              </a:rPr>
              <a:t>Κρυπτογραφία, ψηφιακές υπογραφές, εμπιστοσύνη</a:t>
            </a:r>
            <a:endParaRPr lang="en-US" sz="1150" dirty="0"/>
          </a:p>
        </p:txBody>
      </p:sp>
      <p:sp>
        <p:nvSpPr>
          <p:cNvPr id="23" name="Text 21"/>
          <p:cNvSpPr txBox="1"/>
          <p:nvPr/>
        </p:nvSpPr>
        <p:spPr>
          <a:xfrm>
            <a:off x="7726680" y="3410712"/>
            <a:ext cx="914400" cy="420624"/>
          </a:xfrm>
          <a:prstGeom prst="rect">
            <a:avLst/>
          </a:prstGeom>
          <a:noFill/>
          <a:ln/>
        </p:spPr>
        <p:txBody>
          <a:bodyPr wrap="square" lIns="0" tIns="0" rIns="0" bIns="0" rtlCol="0" anchor="ctr"/>
          <a:lstStyle/>
          <a:p>
            <a:pPr algn="r" indent="0" marL="0">
              <a:buNone/>
            </a:pPr>
            <a:r>
              <a:rPr lang="en-US" sz="1000" dirty="0">
                <a:solidFill>
                  <a:srgbClr val="8F9AAA"/>
                </a:solidFill>
                <a:latin typeface="Courier New" pitchFamily="34" charset="0"/>
                <a:ea typeface="Courier New" pitchFamily="34" charset="-122"/>
                <a:cs typeface="Courier New" pitchFamily="34" charset="-120"/>
              </a:rPr>
              <a:t>10 σελ.</a:t>
            </a:r>
            <a:endParaRPr lang="en-US" sz="1000" dirty="0"/>
          </a:p>
        </p:txBody>
      </p:sp>
      <p:sp>
        <p:nvSpPr>
          <p:cNvPr id="24" name="Shape 22"/>
          <p:cNvSpPr/>
          <p:nvPr/>
        </p:nvSpPr>
        <p:spPr>
          <a:xfrm>
            <a:off x="566928" y="4069080"/>
            <a:ext cx="420624" cy="420624"/>
          </a:xfrm>
          <a:prstGeom prst="ellipse">
            <a:avLst/>
          </a:prstGeom>
          <a:solidFill>
            <a:srgbClr val="FFB020"/>
          </a:solidFill>
          <a:ln/>
        </p:spPr>
      </p:sp>
      <p:sp>
        <p:nvSpPr>
          <p:cNvPr id="25" name="Text 23"/>
          <p:cNvSpPr txBox="1"/>
          <p:nvPr/>
        </p:nvSpPr>
        <p:spPr>
          <a:xfrm>
            <a:off x="566928" y="4069080"/>
            <a:ext cx="420624" cy="420624"/>
          </a:xfrm>
          <a:prstGeom prst="rect">
            <a:avLst/>
          </a:prstGeom>
          <a:noFill/>
          <a:ln/>
        </p:spPr>
        <p:txBody>
          <a:bodyPr wrap="square" lIns="0" tIns="0" rIns="0" bIns="0" rtlCol="0" anchor="ctr"/>
          <a:lstStyle/>
          <a:p>
            <a:pPr algn="ctr" indent="0" marL="0">
              <a:buNone/>
            </a:pPr>
            <a:r>
              <a:rPr lang="en-US" sz="1500" b="1" dirty="0">
                <a:solidFill>
                  <a:srgbClr val="12151C"/>
                </a:solidFill>
                <a:latin typeface="Calibri" pitchFamily="34" charset="0"/>
                <a:ea typeface="Calibri" pitchFamily="34" charset="-122"/>
                <a:cs typeface="Calibri" pitchFamily="34" charset="-120"/>
              </a:rPr>
              <a:t>5</a:t>
            </a:r>
            <a:endParaRPr lang="en-US" sz="1500" dirty="0"/>
          </a:p>
        </p:txBody>
      </p:sp>
      <p:sp>
        <p:nvSpPr>
          <p:cNvPr id="26" name="Text 24"/>
          <p:cNvSpPr txBox="1"/>
          <p:nvPr/>
        </p:nvSpPr>
        <p:spPr>
          <a:xfrm>
            <a:off x="1170432" y="4032504"/>
            <a:ext cx="6309360" cy="274320"/>
          </a:xfrm>
          <a:prstGeom prst="rect">
            <a:avLst/>
          </a:prstGeom>
          <a:noFill/>
          <a:ln/>
        </p:spPr>
        <p:txBody>
          <a:bodyPr wrap="square" lIns="0" tIns="0" rIns="0" bIns="0" rtlCol="0" anchor="ctr"/>
          <a:lstStyle/>
          <a:p>
            <a:pPr indent="0" marL="0">
              <a:buNone/>
            </a:pPr>
            <a:r>
              <a:rPr lang="en-US" sz="1450" b="1" dirty="0">
                <a:solidFill>
                  <a:srgbClr val="171B22"/>
                </a:solidFill>
                <a:latin typeface="Calibri" pitchFamily="34" charset="0"/>
                <a:ea typeface="Calibri" pitchFamily="34" charset="-122"/>
                <a:cs typeface="Calibri" pitchFamily="34" charset="-120"/>
              </a:rPr>
              <a:t>Εισαγωγή στην ανάπτυξη έργων</a:t>
            </a:r>
            <a:endParaRPr lang="en-US" sz="1450" dirty="0"/>
          </a:p>
        </p:txBody>
      </p:sp>
      <p:sp>
        <p:nvSpPr>
          <p:cNvPr id="27" name="Text 25"/>
          <p:cNvSpPr txBox="1"/>
          <p:nvPr/>
        </p:nvSpPr>
        <p:spPr>
          <a:xfrm>
            <a:off x="1170432" y="4288536"/>
            <a:ext cx="6400800" cy="274320"/>
          </a:xfrm>
          <a:prstGeom prst="rect">
            <a:avLst/>
          </a:prstGeom>
          <a:noFill/>
          <a:ln/>
        </p:spPr>
        <p:txBody>
          <a:bodyPr wrap="square" lIns="0" tIns="0" rIns="0" bIns="0" rtlCol="0" anchor="ctr"/>
          <a:lstStyle/>
          <a:p>
            <a:pPr indent="0" marL="0">
              <a:buNone/>
            </a:pPr>
            <a:r>
              <a:rPr lang="en-US" sz="1150" dirty="0">
                <a:solidFill>
                  <a:srgbClr val="6B7480"/>
                </a:solidFill>
                <a:latin typeface="Calibri" pitchFamily="34" charset="0"/>
                <a:ea typeface="Calibri" pitchFamily="34" charset="-122"/>
                <a:cs typeface="Calibri" pitchFamily="34" charset="-120"/>
              </a:rPr>
              <a:t>Πώς δουλεύει στ' αλήθεια μια ομάδα λογισμικού</a:t>
            </a:r>
            <a:endParaRPr lang="en-US" sz="1150" dirty="0"/>
          </a:p>
        </p:txBody>
      </p:sp>
      <p:sp>
        <p:nvSpPr>
          <p:cNvPr id="28" name="Text 26"/>
          <p:cNvSpPr txBox="1"/>
          <p:nvPr/>
        </p:nvSpPr>
        <p:spPr>
          <a:xfrm>
            <a:off x="7726680" y="4069080"/>
            <a:ext cx="914400" cy="420624"/>
          </a:xfrm>
          <a:prstGeom prst="rect">
            <a:avLst/>
          </a:prstGeom>
          <a:noFill/>
          <a:ln/>
        </p:spPr>
        <p:txBody>
          <a:bodyPr wrap="square" lIns="0" tIns="0" rIns="0" bIns="0" rtlCol="0" anchor="ctr"/>
          <a:lstStyle/>
          <a:p>
            <a:pPr algn="r" indent="0" marL="0">
              <a:buNone/>
            </a:pPr>
            <a:r>
              <a:rPr lang="en-US" sz="1000" dirty="0">
                <a:solidFill>
                  <a:srgbClr val="8F9AAA"/>
                </a:solidFill>
                <a:latin typeface="Courier New" pitchFamily="34" charset="0"/>
                <a:ea typeface="Courier New" pitchFamily="34" charset="-122"/>
                <a:cs typeface="Courier New" pitchFamily="34" charset="-120"/>
              </a:rPr>
              <a:t>12 σελ.</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00D68F"/>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941832" y="420624"/>
            <a:ext cx="4114800" cy="310896"/>
          </a:xfrm>
          <a:prstGeom prst="rect">
            <a:avLst/>
          </a:prstGeom>
          <a:noFill/>
          <a:ln/>
        </p:spPr>
        <p:txBody>
          <a:bodyPr wrap="square" lIns="0" tIns="0" rIns="0" bIns="0" rtlCol="0" anchor="ctr"/>
          <a:lstStyle/>
          <a:p>
            <a:pPr indent="0" marL="0">
              <a:buNone/>
            </a:pPr>
            <a:r>
              <a:rPr lang="en-US" sz="1050" b="1" spc="160" kern="0" dirty="0">
                <a:solidFill>
                  <a:srgbClr val="00784F"/>
                </a:solidFill>
                <a:latin typeface="Courier New" pitchFamily="34" charset="0"/>
                <a:ea typeface="Courier New" pitchFamily="34" charset="-122"/>
                <a:cs typeface="Courier New" pitchFamily="34" charset="-120"/>
              </a:rPr>
              <a:t>ΚΕΦΑΛΑΙΟ 1  ·  PYTHON</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indent="0" marL="0">
              <a:buNone/>
            </a:pPr>
            <a:r>
              <a:rPr lang="en-US" sz="3200" b="1" dirty="0">
                <a:solidFill>
                  <a:srgbClr val="171B22"/>
                </a:solidFill>
                <a:latin typeface="Calibri" pitchFamily="34" charset="0"/>
                <a:ea typeface="Calibri" pitchFamily="34" charset="-122"/>
                <a:cs typeface="Calibri" pitchFamily="34" charset="-120"/>
              </a:rPr>
              <a:t>Να μιλάς στη μηχανή</a:t>
            </a:r>
            <a:endParaRPr lang="en-US" sz="3200" dirty="0"/>
          </a:p>
        </p:txBody>
      </p:sp>
      <p:sp>
        <p:nvSpPr>
          <p:cNvPr id="6" name="Text 4"/>
          <p:cNvSpPr txBox="1"/>
          <p:nvPr/>
        </p:nvSpPr>
        <p:spPr>
          <a:xfrm>
            <a:off x="566928" y="1664208"/>
            <a:ext cx="4617720" cy="123444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Ο αλγόριθμος που μάθατε πέρσι γίνεται κώδικας που εκτελείται</a:t>
            </a:r>
            <a:endParaRPr lang="en-US" sz="1250" dirty="0"/>
          </a:p>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Διερμηνευτής ή μεταγλωττιστής; Μετάφραση, σύνδεση, φόρτωση</a:t>
            </a:r>
            <a:endParaRPr lang="en-US" sz="1250" dirty="0"/>
          </a:p>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Μεταβλητές, τύποι δεδομένων, τελεστές, λογικές εκφράσεις</a:t>
            </a:r>
            <a:endParaRPr lang="en-US" sz="1250" dirty="0"/>
          </a:p>
          <a:p>
            <a:pPr marL="342900" indent="-342900">
              <a:spcAft>
                <a:spcPts val="1000"/>
              </a:spcAft>
              <a:buSzPct val="100000"/>
              <a:buChar char="•"/>
            </a:pPr>
            <a:r>
              <a:rPr lang="en-US" sz="1250" dirty="0">
                <a:solidFill>
                  <a:srgbClr val="171B22"/>
                </a:solidFill>
                <a:latin typeface="Calibri" pitchFamily="34" charset="0"/>
                <a:ea typeface="Calibri" pitchFamily="34" charset="-122"/>
                <a:cs typeface="Calibri" pitchFamily="34" charset="-120"/>
              </a:rPr>
              <a:t>Η εσοχή δεν είναι διακόσμηση. Είναι σύνταξη.</a:t>
            </a:r>
            <a:endParaRPr lang="en-US" sz="1250" dirty="0"/>
          </a:p>
        </p:txBody>
      </p:sp>
      <p:sp>
        <p:nvSpPr>
          <p:cNvPr id="7" name="Shape 5"/>
          <p:cNvSpPr/>
          <p:nvPr/>
        </p:nvSpPr>
        <p:spPr>
          <a:xfrm>
            <a:off x="548640" y="3154680"/>
            <a:ext cx="4663440" cy="1207008"/>
          </a:xfrm>
          <a:prstGeom prst="roundRect">
            <a:avLst>
              <a:gd name="adj" fmla="val 6061"/>
            </a:avLst>
          </a:prstGeom>
          <a:solidFill>
            <a:srgbClr val="F2F4F8"/>
          </a:solidFill>
          <a:ln w="12700">
            <a:solidFill>
              <a:srgbClr val="F2F4F8"/>
            </a:solidFill>
            <a:prstDash val="solid"/>
          </a:ln>
        </p:spPr>
      </p:sp>
      <p:sp>
        <p:nvSpPr>
          <p:cNvPr id="8" name="Text 6"/>
          <p:cNvSpPr txBox="1"/>
          <p:nvPr/>
        </p:nvSpPr>
        <p:spPr>
          <a:xfrm>
            <a:off x="768096" y="3319272"/>
            <a:ext cx="4251960" cy="914400"/>
          </a:xfrm>
          <a:prstGeom prst="rect">
            <a:avLst/>
          </a:prstGeom>
          <a:noFill/>
          <a:ln/>
        </p:spPr>
        <p:txBody>
          <a:bodyPr wrap="square" lIns="0" tIns="0" rIns="0" bIns="0" rtlCol="0" anchor="ctr"/>
          <a:lstStyle/>
          <a:p>
            <a:pPr indent="0" marL="0">
              <a:lnSpc>
                <a:spcPts val="1700"/>
              </a:lnSpc>
              <a:buNone/>
            </a:pPr>
            <a:r>
              <a:rPr lang="en-US" sz="1200" b="1" dirty="0">
                <a:solidFill>
                  <a:srgbClr val="171B22"/>
                </a:solidFill>
                <a:latin typeface="Calibri" pitchFamily="34" charset="0"/>
                <a:ea typeface="Calibri" pitchFamily="34" charset="-122"/>
                <a:cs typeface="Calibri" pitchFamily="34" charset="-120"/>
              </a:rPr>
              <a:t>Δεν βγαίνει από το φίδι.  </a:t>
            </a:r>
            <a:pPr indent="0" marL="0">
              <a:lnSpc>
                <a:spcPts val="1700"/>
              </a:lnSpc>
              <a:buNone/>
            </a:pPr>
            <a:r>
              <a:rPr lang="en-US" sz="1200" dirty="0">
                <a:solidFill>
                  <a:srgbClr val="6B7480"/>
                </a:solidFill>
                <a:latin typeface="Calibri" pitchFamily="34" charset="0"/>
                <a:ea typeface="Calibri" pitchFamily="34" charset="-122"/>
                <a:cs typeface="Calibri" pitchFamily="34" charset="-120"/>
              </a:rPr>
              <a:t>Ο Guido van Rossum το βάφτισε το 1990 από τους Monty Python. Σήμερα είναι η Νο.1 γλώσσα προγραμματισμού στον κόσμο.</a:t>
            </a:r>
            <a:endParaRPr lang="en-US" sz="1200" dirty="0"/>
          </a:p>
        </p:txBody>
      </p:sp>
      <p:sp>
        <p:nvSpPr>
          <p:cNvPr id="9" name="Shape 7"/>
          <p:cNvSpPr/>
          <p:nvPr/>
        </p:nvSpPr>
        <p:spPr>
          <a:xfrm>
            <a:off x="5394960" y="1627632"/>
            <a:ext cx="3246120" cy="2651760"/>
          </a:xfrm>
          <a:prstGeom prst="roundRect">
            <a:avLst>
              <a:gd name="adj" fmla="val 2759"/>
            </a:avLst>
          </a:prstGeom>
          <a:solidFill>
            <a:srgbClr val="1D222C"/>
          </a:solidFill>
          <a:ln w="12700">
            <a:solidFill>
              <a:srgbClr val="1D222C"/>
            </a:solidFill>
            <a:prstDash val="solid"/>
          </a:ln>
        </p:spPr>
      </p:sp>
      <p:sp>
        <p:nvSpPr>
          <p:cNvPr id="10" name="Shape 8"/>
          <p:cNvSpPr/>
          <p:nvPr/>
        </p:nvSpPr>
        <p:spPr>
          <a:xfrm>
            <a:off x="5614416" y="1828800"/>
            <a:ext cx="91440" cy="91440"/>
          </a:xfrm>
          <a:prstGeom prst="ellipse">
            <a:avLst/>
          </a:prstGeom>
          <a:solidFill>
            <a:srgbClr val="FF5F56"/>
          </a:solidFill>
          <a:ln w="12700">
            <a:solidFill>
              <a:srgbClr val="FF5F56"/>
            </a:solidFill>
            <a:prstDash val="solid"/>
          </a:ln>
        </p:spPr>
      </p:sp>
      <p:sp>
        <p:nvSpPr>
          <p:cNvPr id="11" name="Shape 9"/>
          <p:cNvSpPr/>
          <p:nvPr/>
        </p:nvSpPr>
        <p:spPr>
          <a:xfrm>
            <a:off x="5788152" y="1828800"/>
            <a:ext cx="91440" cy="91440"/>
          </a:xfrm>
          <a:prstGeom prst="ellipse">
            <a:avLst/>
          </a:prstGeom>
          <a:solidFill>
            <a:srgbClr val="FFBD2E"/>
          </a:solidFill>
          <a:ln w="12700">
            <a:solidFill>
              <a:srgbClr val="FFBD2E"/>
            </a:solidFill>
            <a:prstDash val="solid"/>
          </a:ln>
        </p:spPr>
      </p:sp>
      <p:sp>
        <p:nvSpPr>
          <p:cNvPr id="12" name="Shape 10"/>
          <p:cNvSpPr/>
          <p:nvPr/>
        </p:nvSpPr>
        <p:spPr>
          <a:xfrm>
            <a:off x="5961888" y="1828800"/>
            <a:ext cx="91440" cy="91440"/>
          </a:xfrm>
          <a:prstGeom prst="ellipse">
            <a:avLst/>
          </a:prstGeom>
          <a:solidFill>
            <a:srgbClr val="27C93F"/>
          </a:solidFill>
          <a:ln w="12700">
            <a:solidFill>
              <a:srgbClr val="27C93F"/>
            </a:solidFill>
            <a:prstDash val="solid"/>
          </a:ln>
        </p:spPr>
      </p:sp>
      <p:sp>
        <p:nvSpPr>
          <p:cNvPr id="13" name="Text 11"/>
          <p:cNvSpPr txBox="1"/>
          <p:nvPr/>
        </p:nvSpPr>
        <p:spPr>
          <a:xfrm>
            <a:off x="5596128" y="2103120"/>
            <a:ext cx="2862072" cy="2011680"/>
          </a:xfrm>
          <a:prstGeom prst="rect">
            <a:avLst/>
          </a:prstGeom>
          <a:noFill/>
          <a:ln/>
        </p:spPr>
        <p:txBody>
          <a:bodyPr wrap="square" lIns="0" tIns="0" rIns="0" bIns="0" rtlCol="0" anchor="t"/>
          <a:lstStyle/>
          <a:p>
            <a:pPr indent="0" marL="0">
              <a:lnSpc>
                <a:spcPts val="1700"/>
              </a:lnSpc>
              <a:buNone/>
            </a:pPr>
            <a:r>
              <a:rPr lang="en-US" sz="1100" dirty="0">
                <a:solidFill>
                  <a:srgbClr val="D7DEE8"/>
                </a:solidFill>
                <a:latin typeface="Courier New" pitchFamily="34" charset="0"/>
                <a:ea typeface="Courier New" pitchFamily="34" charset="-122"/>
                <a:cs typeface="Courier New" pitchFamily="34" charset="-120"/>
              </a:rPr>
              <a:t>vathmos = int(input("Βαθμός: "))</a:t>
            </a:r>
            <a:endParaRPr lang="en-US" sz="1100" dirty="0"/>
          </a:p>
          <a:p>
            <a:pPr indent="0" marL="0">
              <a:lnSpc>
                <a:spcPts val="1700"/>
              </a:lnSpc>
              <a:buNone/>
            </a:pPr>
            <a:r>
              <a:rPr lang="en-US" sz="1100" dirty="0">
                <a:solidFill>
                  <a:srgbClr val="D7DEE8"/>
                </a:solidFill>
                <a:latin typeface="Courier New" pitchFamily="34" charset="0"/>
                <a:ea typeface="Courier New" pitchFamily="34" charset="-122"/>
                <a:cs typeface="Courier New" pitchFamily="34" charset="-120"/>
              </a:rPr>
              <a:t> </a:t>
            </a:r>
            <a:endParaRPr lang="en-US" sz="1100" dirty="0"/>
          </a:p>
          <a:p>
            <a:pPr indent="0" marL="0">
              <a:lnSpc>
                <a:spcPts val="1700"/>
              </a:lnSpc>
              <a:buNone/>
            </a:pPr>
            <a:r>
              <a:rPr lang="en-US" sz="1100" dirty="0">
                <a:solidFill>
                  <a:srgbClr val="A78BFA"/>
                </a:solidFill>
                <a:latin typeface="Courier New" pitchFamily="34" charset="0"/>
                <a:ea typeface="Courier New" pitchFamily="34" charset="-122"/>
                <a:cs typeface="Courier New" pitchFamily="34" charset="-120"/>
              </a:rPr>
              <a:t>if vathmos &gt;= 10:</a:t>
            </a:r>
            <a:endParaRPr lang="en-US" sz="1100" dirty="0"/>
          </a:p>
          <a:p>
            <a:pPr indent="0" marL="0">
              <a:lnSpc>
                <a:spcPts val="1700"/>
              </a:lnSpc>
              <a:buNone/>
            </a:pPr>
            <a:r>
              <a:rPr lang="en-US" sz="1100" dirty="0">
                <a:solidFill>
                  <a:srgbClr val="00D68F"/>
                </a:solidFill>
                <a:latin typeface="Courier New" pitchFamily="34" charset="0"/>
                <a:ea typeface="Courier New" pitchFamily="34" charset="-122"/>
                <a:cs typeface="Courier New" pitchFamily="34" charset="-120"/>
              </a:rPr>
              <a:t>    print("Πέρασες!")</a:t>
            </a:r>
            <a:endParaRPr lang="en-US" sz="1100" dirty="0"/>
          </a:p>
          <a:p>
            <a:pPr indent="0" marL="0">
              <a:lnSpc>
                <a:spcPts val="1700"/>
              </a:lnSpc>
              <a:buNone/>
            </a:pPr>
            <a:r>
              <a:rPr lang="en-US" sz="1100" dirty="0">
                <a:solidFill>
                  <a:srgbClr val="A78BFA"/>
                </a:solidFill>
                <a:latin typeface="Courier New" pitchFamily="34" charset="0"/>
                <a:ea typeface="Courier New" pitchFamily="34" charset="-122"/>
                <a:cs typeface="Courier New" pitchFamily="34" charset="-120"/>
              </a:rPr>
              <a:t>else:</a:t>
            </a:r>
            <a:endParaRPr lang="en-US" sz="1100" dirty="0"/>
          </a:p>
          <a:p>
            <a:pPr indent="0" marL="0">
              <a:lnSpc>
                <a:spcPts val="1700"/>
              </a:lnSpc>
              <a:buNone/>
            </a:pPr>
            <a:r>
              <a:rPr lang="en-US" sz="1100" dirty="0">
                <a:solidFill>
                  <a:srgbClr val="00D68F"/>
                </a:solidFill>
                <a:latin typeface="Courier New" pitchFamily="34" charset="0"/>
                <a:ea typeface="Courier New" pitchFamily="34" charset="-122"/>
                <a:cs typeface="Courier New" pitchFamily="34" charset="-120"/>
              </a:rPr>
              <a:t>    print("Ξαναπροσπάθησε")</a:t>
            </a:r>
            <a:endParaRPr lang="en-US" sz="1100" dirty="0"/>
          </a:p>
          <a:p>
            <a:pPr indent="0" marL="0">
              <a:lnSpc>
                <a:spcPts val="1700"/>
              </a:lnSpc>
              <a:buNone/>
            </a:pPr>
            <a:r>
              <a:rPr lang="en-US" sz="1100" dirty="0">
                <a:solidFill>
                  <a:srgbClr val="D7DEE8"/>
                </a:solidFill>
                <a:latin typeface="Courier New" pitchFamily="34" charset="0"/>
                <a:ea typeface="Courier New" pitchFamily="34" charset="-122"/>
                <a:cs typeface="Courier New" pitchFamily="34" charset="-120"/>
              </a:rPr>
              <a:t> </a:t>
            </a:r>
            <a:endParaRPr lang="en-US" sz="1100" dirty="0"/>
          </a:p>
          <a:p>
            <a:pPr indent="0" marL="0">
              <a:lnSpc>
                <a:spcPts val="1700"/>
              </a:lnSpc>
              <a:buNone/>
            </a:pPr>
            <a:r>
              <a:rPr lang="en-US" sz="1100" dirty="0">
                <a:solidFill>
                  <a:srgbClr val="5C6879"/>
                </a:solidFill>
                <a:latin typeface="Courier New" pitchFamily="34" charset="0"/>
                <a:ea typeface="Courier New" pitchFamily="34" charset="-122"/>
                <a:cs typeface="Courier New" pitchFamily="34" charset="-120"/>
              </a:rPr>
              <a:t># 4 γραμμές. Μία απόφαση.</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00D68F"/>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941832" y="420624"/>
            <a:ext cx="4114800" cy="310896"/>
          </a:xfrm>
          <a:prstGeom prst="rect">
            <a:avLst/>
          </a:prstGeom>
          <a:noFill/>
          <a:ln/>
        </p:spPr>
        <p:txBody>
          <a:bodyPr wrap="square" lIns="0" tIns="0" rIns="0" bIns="0" rtlCol="0" anchor="ctr"/>
          <a:lstStyle/>
          <a:p>
            <a:pPr indent="0" marL="0">
              <a:buNone/>
            </a:pPr>
            <a:r>
              <a:rPr lang="en-US" sz="1050" b="1" spc="160" kern="0" dirty="0">
                <a:solidFill>
                  <a:srgbClr val="00784F"/>
                </a:solidFill>
                <a:latin typeface="Courier New" pitchFamily="34" charset="0"/>
                <a:ea typeface="Courier New" pitchFamily="34" charset="-122"/>
                <a:cs typeface="Courier New" pitchFamily="34" charset="-120"/>
              </a:rPr>
              <a:t>ΚΕΦΑΛΑΙΟ 1  ·  ΤΑ ΕΡΓΑΛΕΙΑ</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indent="0" marL="0">
              <a:buNone/>
            </a:pPr>
            <a:r>
              <a:rPr lang="en-US" sz="3200" b="1" dirty="0">
                <a:solidFill>
                  <a:srgbClr val="171B22"/>
                </a:solidFill>
                <a:latin typeface="Calibri" pitchFamily="34" charset="0"/>
                <a:ea typeface="Calibri" pitchFamily="34" charset="-122"/>
                <a:cs typeface="Calibri" pitchFamily="34" charset="-120"/>
              </a:rPr>
              <a:t>Τέσσερα εργαλεία, άπειρα προβλήματα</a:t>
            </a:r>
            <a:endParaRPr lang="en-US" sz="3200" dirty="0"/>
          </a:p>
        </p:txBody>
      </p:sp>
      <p:sp>
        <p:nvSpPr>
          <p:cNvPr id="6" name="Shape 4"/>
          <p:cNvSpPr/>
          <p:nvPr/>
        </p:nvSpPr>
        <p:spPr>
          <a:xfrm>
            <a:off x="548640" y="1417320"/>
            <a:ext cx="3931920" cy="1143000"/>
          </a:xfrm>
          <a:prstGeom prst="roundRect">
            <a:avLst>
              <a:gd name="adj" fmla="val 6400"/>
            </a:avLst>
          </a:prstGeom>
          <a:solidFill>
            <a:srgbClr val="F2F4F8"/>
          </a:solidFill>
          <a:ln w="12700">
            <a:solidFill>
              <a:srgbClr val="F2F4F8"/>
            </a:solidFill>
            <a:prstDash val="solid"/>
          </a:ln>
        </p:spPr>
      </p:sp>
      <p:sp>
        <p:nvSpPr>
          <p:cNvPr id="7" name="Text 5"/>
          <p:cNvSpPr txBox="1"/>
          <p:nvPr/>
        </p:nvSpPr>
        <p:spPr>
          <a:xfrm>
            <a:off x="749808" y="1536192"/>
            <a:ext cx="3566160" cy="256032"/>
          </a:xfrm>
          <a:prstGeom prst="rect">
            <a:avLst/>
          </a:prstGeom>
          <a:noFill/>
          <a:ln/>
        </p:spPr>
        <p:txBody>
          <a:bodyPr wrap="square" lIns="0" tIns="0" rIns="0" bIns="0" rtlCol="0" anchor="ctr"/>
          <a:lstStyle/>
          <a:p>
            <a:pPr indent="0" marL="0">
              <a:buNone/>
            </a:pPr>
            <a:r>
              <a:rPr lang="en-US" sz="1350" b="1" dirty="0">
                <a:solidFill>
                  <a:srgbClr val="171B22"/>
                </a:solidFill>
                <a:latin typeface="Calibri" pitchFamily="34" charset="0"/>
                <a:ea typeface="Calibri" pitchFamily="34" charset="-122"/>
                <a:cs typeface="Calibri" pitchFamily="34" charset="-120"/>
              </a:rPr>
              <a:t>1.3  Δομή επιλογής</a:t>
            </a:r>
            <a:endParaRPr lang="en-US" sz="1350" dirty="0"/>
          </a:p>
        </p:txBody>
      </p:sp>
      <p:sp>
        <p:nvSpPr>
          <p:cNvPr id="8" name="Text 6"/>
          <p:cNvSpPr txBox="1"/>
          <p:nvPr/>
        </p:nvSpPr>
        <p:spPr>
          <a:xfrm>
            <a:off x="749808" y="1819656"/>
            <a:ext cx="3566160" cy="274320"/>
          </a:xfrm>
          <a:prstGeom prst="rect">
            <a:avLst/>
          </a:prstGeom>
          <a:noFill/>
          <a:ln/>
        </p:spPr>
        <p:txBody>
          <a:bodyPr wrap="square" lIns="0" tIns="0" rIns="0" bIns="0" rtlCol="0" anchor="ctr"/>
          <a:lstStyle/>
          <a:p>
            <a:pPr indent="0" marL="0">
              <a:buNone/>
            </a:pPr>
            <a:r>
              <a:rPr lang="en-US" sz="1150" dirty="0">
                <a:solidFill>
                  <a:srgbClr val="6B7480"/>
                </a:solidFill>
                <a:latin typeface="Calibri" pitchFamily="34" charset="0"/>
                <a:ea typeface="Calibri" pitchFamily="34" charset="-122"/>
                <a:cs typeface="Calibri" pitchFamily="34" charset="-120"/>
              </a:rPr>
              <a:t>Ο υπολογιστής παίρνει απόφαση</a:t>
            </a:r>
            <a:endParaRPr lang="en-US" sz="1150" dirty="0"/>
          </a:p>
        </p:txBody>
      </p:sp>
      <p:sp>
        <p:nvSpPr>
          <p:cNvPr id="9" name="Text 7"/>
          <p:cNvSpPr txBox="1"/>
          <p:nvPr/>
        </p:nvSpPr>
        <p:spPr>
          <a:xfrm>
            <a:off x="749808" y="2167128"/>
            <a:ext cx="3566160" cy="256032"/>
          </a:xfrm>
          <a:prstGeom prst="rect">
            <a:avLst/>
          </a:prstGeom>
          <a:noFill/>
          <a:ln/>
        </p:spPr>
        <p:txBody>
          <a:bodyPr wrap="square" lIns="0" tIns="0" rIns="0" bIns="0" rtlCol="0" anchor="ctr"/>
          <a:lstStyle/>
          <a:p>
            <a:pPr indent="0" marL="0">
              <a:buNone/>
            </a:pPr>
            <a:r>
              <a:rPr lang="en-US" sz="1050" dirty="0">
                <a:solidFill>
                  <a:srgbClr val="00784F"/>
                </a:solidFill>
                <a:latin typeface="Courier New" pitchFamily="34" charset="0"/>
                <a:ea typeface="Courier New" pitchFamily="34" charset="-122"/>
                <a:cs typeface="Courier New" pitchFamily="34" charset="-120"/>
              </a:rPr>
              <a:t>if vathmos &gt;= 10:</a:t>
            </a:r>
            <a:endParaRPr lang="en-US" sz="1050" dirty="0"/>
          </a:p>
        </p:txBody>
      </p:sp>
      <p:sp>
        <p:nvSpPr>
          <p:cNvPr id="10" name="Shape 8"/>
          <p:cNvSpPr/>
          <p:nvPr/>
        </p:nvSpPr>
        <p:spPr>
          <a:xfrm>
            <a:off x="4709160" y="1417320"/>
            <a:ext cx="3931920" cy="1143000"/>
          </a:xfrm>
          <a:prstGeom prst="roundRect">
            <a:avLst>
              <a:gd name="adj" fmla="val 6400"/>
            </a:avLst>
          </a:prstGeom>
          <a:solidFill>
            <a:srgbClr val="F2F4F8"/>
          </a:solidFill>
          <a:ln w="12700">
            <a:solidFill>
              <a:srgbClr val="F2F4F8"/>
            </a:solidFill>
            <a:prstDash val="solid"/>
          </a:ln>
        </p:spPr>
      </p:sp>
      <p:sp>
        <p:nvSpPr>
          <p:cNvPr id="11" name="Text 9"/>
          <p:cNvSpPr txBox="1"/>
          <p:nvPr/>
        </p:nvSpPr>
        <p:spPr>
          <a:xfrm>
            <a:off x="4910328" y="1536192"/>
            <a:ext cx="3566160" cy="256032"/>
          </a:xfrm>
          <a:prstGeom prst="rect">
            <a:avLst/>
          </a:prstGeom>
          <a:noFill/>
          <a:ln/>
        </p:spPr>
        <p:txBody>
          <a:bodyPr wrap="square" lIns="0" tIns="0" rIns="0" bIns="0" rtlCol="0" anchor="ctr"/>
          <a:lstStyle/>
          <a:p>
            <a:pPr indent="0" marL="0">
              <a:buNone/>
            </a:pPr>
            <a:r>
              <a:rPr lang="en-US" sz="1350" b="1" dirty="0">
                <a:solidFill>
                  <a:srgbClr val="171B22"/>
                </a:solidFill>
                <a:latin typeface="Calibri" pitchFamily="34" charset="0"/>
                <a:ea typeface="Calibri" pitchFamily="34" charset="-122"/>
                <a:cs typeface="Calibri" pitchFamily="34" charset="-120"/>
              </a:rPr>
              <a:t>1.4  Δομή επανάληψης</a:t>
            </a:r>
            <a:endParaRPr lang="en-US" sz="1350" dirty="0"/>
          </a:p>
        </p:txBody>
      </p:sp>
      <p:sp>
        <p:nvSpPr>
          <p:cNvPr id="12" name="Text 10"/>
          <p:cNvSpPr txBox="1"/>
          <p:nvPr/>
        </p:nvSpPr>
        <p:spPr>
          <a:xfrm>
            <a:off x="4910328" y="1819656"/>
            <a:ext cx="3566160" cy="274320"/>
          </a:xfrm>
          <a:prstGeom prst="rect">
            <a:avLst/>
          </a:prstGeom>
          <a:noFill/>
          <a:ln/>
        </p:spPr>
        <p:txBody>
          <a:bodyPr wrap="square" lIns="0" tIns="0" rIns="0" bIns="0" rtlCol="0" anchor="ctr"/>
          <a:lstStyle/>
          <a:p>
            <a:pPr indent="0" marL="0">
              <a:buNone/>
            </a:pPr>
            <a:r>
              <a:rPr lang="en-US" sz="1150" dirty="0">
                <a:solidFill>
                  <a:srgbClr val="6B7480"/>
                </a:solidFill>
                <a:latin typeface="Calibri" pitchFamily="34" charset="0"/>
                <a:ea typeface="Calibri" pitchFamily="34" charset="-122"/>
                <a:cs typeface="Calibri" pitchFamily="34" charset="-120"/>
              </a:rPr>
              <a:t>Κάνει 1.000 φορές ό,τι εσύ μία</a:t>
            </a:r>
            <a:endParaRPr lang="en-US" sz="1150" dirty="0"/>
          </a:p>
        </p:txBody>
      </p:sp>
      <p:sp>
        <p:nvSpPr>
          <p:cNvPr id="13" name="Text 11"/>
          <p:cNvSpPr txBox="1"/>
          <p:nvPr/>
        </p:nvSpPr>
        <p:spPr>
          <a:xfrm>
            <a:off x="4910328" y="2167128"/>
            <a:ext cx="3566160" cy="256032"/>
          </a:xfrm>
          <a:prstGeom prst="rect">
            <a:avLst/>
          </a:prstGeom>
          <a:noFill/>
          <a:ln/>
        </p:spPr>
        <p:txBody>
          <a:bodyPr wrap="square" lIns="0" tIns="0" rIns="0" bIns="0" rtlCol="0" anchor="ctr"/>
          <a:lstStyle/>
          <a:p>
            <a:pPr indent="0" marL="0">
              <a:buNone/>
            </a:pPr>
            <a:r>
              <a:rPr lang="en-US" sz="1050" dirty="0">
                <a:solidFill>
                  <a:srgbClr val="5B3FD1"/>
                </a:solidFill>
                <a:latin typeface="Courier New" pitchFamily="34" charset="0"/>
                <a:ea typeface="Courier New" pitchFamily="34" charset="-122"/>
                <a:cs typeface="Courier New" pitchFamily="34" charset="-120"/>
              </a:rPr>
              <a:t>for i in range(1000):</a:t>
            </a:r>
            <a:endParaRPr lang="en-US" sz="1050" dirty="0"/>
          </a:p>
        </p:txBody>
      </p:sp>
      <p:sp>
        <p:nvSpPr>
          <p:cNvPr id="14" name="Shape 12"/>
          <p:cNvSpPr/>
          <p:nvPr/>
        </p:nvSpPr>
        <p:spPr>
          <a:xfrm>
            <a:off x="548640" y="2679192"/>
            <a:ext cx="3931920" cy="1143000"/>
          </a:xfrm>
          <a:prstGeom prst="roundRect">
            <a:avLst>
              <a:gd name="adj" fmla="val 6400"/>
            </a:avLst>
          </a:prstGeom>
          <a:solidFill>
            <a:srgbClr val="F2F4F8"/>
          </a:solidFill>
          <a:ln w="12700">
            <a:solidFill>
              <a:srgbClr val="F2F4F8"/>
            </a:solidFill>
            <a:prstDash val="solid"/>
          </a:ln>
        </p:spPr>
      </p:sp>
      <p:sp>
        <p:nvSpPr>
          <p:cNvPr id="15" name="Text 13"/>
          <p:cNvSpPr txBox="1"/>
          <p:nvPr/>
        </p:nvSpPr>
        <p:spPr>
          <a:xfrm>
            <a:off x="749808" y="2798064"/>
            <a:ext cx="3566160" cy="256032"/>
          </a:xfrm>
          <a:prstGeom prst="rect">
            <a:avLst/>
          </a:prstGeom>
          <a:noFill/>
          <a:ln/>
        </p:spPr>
        <p:txBody>
          <a:bodyPr wrap="square" lIns="0" tIns="0" rIns="0" bIns="0" rtlCol="0" anchor="ctr"/>
          <a:lstStyle/>
          <a:p>
            <a:pPr indent="0" marL="0">
              <a:buNone/>
            </a:pPr>
            <a:r>
              <a:rPr lang="en-US" sz="1350" b="1" dirty="0">
                <a:solidFill>
                  <a:srgbClr val="171B22"/>
                </a:solidFill>
                <a:latin typeface="Calibri" pitchFamily="34" charset="0"/>
                <a:ea typeface="Calibri" pitchFamily="34" charset="-122"/>
                <a:cs typeface="Calibri" pitchFamily="34" charset="-120"/>
              </a:rPr>
              <a:t>1.5  Συναρτήσεις</a:t>
            </a:r>
            <a:endParaRPr lang="en-US" sz="1350" dirty="0"/>
          </a:p>
        </p:txBody>
      </p:sp>
      <p:sp>
        <p:nvSpPr>
          <p:cNvPr id="16" name="Text 14"/>
          <p:cNvSpPr txBox="1"/>
          <p:nvPr/>
        </p:nvSpPr>
        <p:spPr>
          <a:xfrm>
            <a:off x="749808" y="3081528"/>
            <a:ext cx="3566160" cy="274320"/>
          </a:xfrm>
          <a:prstGeom prst="rect">
            <a:avLst/>
          </a:prstGeom>
          <a:noFill/>
          <a:ln/>
        </p:spPr>
        <p:txBody>
          <a:bodyPr wrap="square" lIns="0" tIns="0" rIns="0" bIns="0" rtlCol="0" anchor="ctr"/>
          <a:lstStyle/>
          <a:p>
            <a:pPr indent="0" marL="0">
              <a:buNone/>
            </a:pPr>
            <a:r>
              <a:rPr lang="en-US" sz="1150" dirty="0">
                <a:solidFill>
                  <a:srgbClr val="6B7480"/>
                </a:solidFill>
                <a:latin typeface="Calibri" pitchFamily="34" charset="0"/>
                <a:ea typeface="Calibri" pitchFamily="34" charset="-122"/>
                <a:cs typeface="Calibri" pitchFamily="34" charset="-120"/>
              </a:rPr>
              <a:t>Το γράφεις μία φορά, το καλείς παντού</a:t>
            </a:r>
            <a:endParaRPr lang="en-US" sz="1150" dirty="0"/>
          </a:p>
        </p:txBody>
      </p:sp>
      <p:sp>
        <p:nvSpPr>
          <p:cNvPr id="17" name="Text 15"/>
          <p:cNvSpPr txBox="1"/>
          <p:nvPr/>
        </p:nvSpPr>
        <p:spPr>
          <a:xfrm>
            <a:off x="749808" y="3429000"/>
            <a:ext cx="3566160" cy="256032"/>
          </a:xfrm>
          <a:prstGeom prst="rect">
            <a:avLst/>
          </a:prstGeom>
          <a:noFill/>
          <a:ln/>
        </p:spPr>
        <p:txBody>
          <a:bodyPr wrap="square" lIns="0" tIns="0" rIns="0" bIns="0" rtlCol="0" anchor="ctr"/>
          <a:lstStyle/>
          <a:p>
            <a:pPr indent="0" marL="0">
              <a:buNone/>
            </a:pPr>
            <a:r>
              <a:rPr lang="en-US" sz="1050" dirty="0">
                <a:solidFill>
                  <a:srgbClr val="0369A1"/>
                </a:solidFill>
                <a:latin typeface="Courier New" pitchFamily="34" charset="0"/>
                <a:ea typeface="Courier New" pitchFamily="34" charset="-122"/>
                <a:cs typeface="Courier New" pitchFamily="34" charset="-120"/>
              </a:rPr>
              <a:t>def emvado(a, b):</a:t>
            </a:r>
            <a:endParaRPr lang="en-US" sz="1050" dirty="0"/>
          </a:p>
        </p:txBody>
      </p:sp>
      <p:sp>
        <p:nvSpPr>
          <p:cNvPr id="18" name="Shape 16"/>
          <p:cNvSpPr/>
          <p:nvPr/>
        </p:nvSpPr>
        <p:spPr>
          <a:xfrm>
            <a:off x="4709160" y="2679192"/>
            <a:ext cx="3931920" cy="1143000"/>
          </a:xfrm>
          <a:prstGeom prst="roundRect">
            <a:avLst>
              <a:gd name="adj" fmla="val 6400"/>
            </a:avLst>
          </a:prstGeom>
          <a:solidFill>
            <a:srgbClr val="F2F4F8"/>
          </a:solidFill>
          <a:ln w="12700">
            <a:solidFill>
              <a:srgbClr val="F2F4F8"/>
            </a:solidFill>
            <a:prstDash val="solid"/>
          </a:ln>
        </p:spPr>
      </p:sp>
      <p:sp>
        <p:nvSpPr>
          <p:cNvPr id="19" name="Text 17"/>
          <p:cNvSpPr txBox="1"/>
          <p:nvPr/>
        </p:nvSpPr>
        <p:spPr>
          <a:xfrm>
            <a:off x="4910328" y="2798064"/>
            <a:ext cx="3566160" cy="256032"/>
          </a:xfrm>
          <a:prstGeom prst="rect">
            <a:avLst/>
          </a:prstGeom>
          <a:noFill/>
          <a:ln/>
        </p:spPr>
        <p:txBody>
          <a:bodyPr wrap="square" lIns="0" tIns="0" rIns="0" bIns="0" rtlCol="0" anchor="ctr"/>
          <a:lstStyle/>
          <a:p>
            <a:pPr indent="0" marL="0">
              <a:buNone/>
            </a:pPr>
            <a:r>
              <a:rPr lang="en-US" sz="1350" b="1" dirty="0">
                <a:solidFill>
                  <a:srgbClr val="171B22"/>
                </a:solidFill>
                <a:latin typeface="Calibri" pitchFamily="34" charset="0"/>
                <a:ea typeface="Calibri" pitchFamily="34" charset="-122"/>
                <a:cs typeface="Calibri" pitchFamily="34" charset="-120"/>
              </a:rPr>
              <a:t>1.6  Λίστες &amp; πίνακες</a:t>
            </a:r>
            <a:endParaRPr lang="en-US" sz="1350" dirty="0"/>
          </a:p>
        </p:txBody>
      </p:sp>
      <p:sp>
        <p:nvSpPr>
          <p:cNvPr id="20" name="Text 18"/>
          <p:cNvSpPr txBox="1"/>
          <p:nvPr/>
        </p:nvSpPr>
        <p:spPr>
          <a:xfrm>
            <a:off x="4910328" y="3081528"/>
            <a:ext cx="3566160" cy="274320"/>
          </a:xfrm>
          <a:prstGeom prst="rect">
            <a:avLst/>
          </a:prstGeom>
          <a:noFill/>
          <a:ln/>
        </p:spPr>
        <p:txBody>
          <a:bodyPr wrap="square" lIns="0" tIns="0" rIns="0" bIns="0" rtlCol="0" anchor="ctr"/>
          <a:lstStyle/>
          <a:p>
            <a:pPr indent="0" marL="0">
              <a:buNone/>
            </a:pPr>
            <a:r>
              <a:rPr lang="en-US" sz="1150" dirty="0">
                <a:solidFill>
                  <a:srgbClr val="6B7480"/>
                </a:solidFill>
                <a:latin typeface="Calibri" pitchFamily="34" charset="0"/>
                <a:ea typeface="Calibri" pitchFamily="34" charset="-122"/>
                <a:cs typeface="Calibri" pitchFamily="34" charset="-120"/>
              </a:rPr>
              <a:t>Χιλιάδες τιμές, ένα μόνο όνομα</a:t>
            </a:r>
            <a:endParaRPr lang="en-US" sz="1150" dirty="0"/>
          </a:p>
        </p:txBody>
      </p:sp>
      <p:sp>
        <p:nvSpPr>
          <p:cNvPr id="21" name="Text 19"/>
          <p:cNvSpPr txBox="1"/>
          <p:nvPr/>
        </p:nvSpPr>
        <p:spPr>
          <a:xfrm>
            <a:off x="4910328" y="3429000"/>
            <a:ext cx="3566160" cy="256032"/>
          </a:xfrm>
          <a:prstGeom prst="rect">
            <a:avLst/>
          </a:prstGeom>
          <a:noFill/>
          <a:ln/>
        </p:spPr>
        <p:txBody>
          <a:bodyPr wrap="square" lIns="0" tIns="0" rIns="0" bIns="0" rtlCol="0" anchor="ctr"/>
          <a:lstStyle/>
          <a:p>
            <a:pPr indent="0" marL="0">
              <a:buNone/>
            </a:pPr>
            <a:r>
              <a:rPr lang="en-US" sz="1050" dirty="0">
                <a:solidFill>
                  <a:srgbClr val="9A6300"/>
                </a:solidFill>
                <a:latin typeface="Courier New" pitchFamily="34" charset="0"/>
                <a:ea typeface="Courier New" pitchFamily="34" charset="-122"/>
                <a:cs typeface="Courier New" pitchFamily="34" charset="-120"/>
              </a:rPr>
              <a:t>vathmoi = [8, 15, 12]</a:t>
            </a:r>
            <a:endParaRPr lang="en-US" sz="1050" dirty="0"/>
          </a:p>
        </p:txBody>
      </p:sp>
      <p:sp>
        <p:nvSpPr>
          <p:cNvPr id="22" name="Shape 20"/>
          <p:cNvSpPr/>
          <p:nvPr/>
        </p:nvSpPr>
        <p:spPr>
          <a:xfrm>
            <a:off x="548640" y="4005072"/>
            <a:ext cx="8092440" cy="658368"/>
          </a:xfrm>
          <a:prstGeom prst="roundRect">
            <a:avLst>
              <a:gd name="adj" fmla="val 11111"/>
            </a:avLst>
          </a:prstGeom>
          <a:solidFill>
            <a:srgbClr val="EAF7F0"/>
          </a:solidFill>
          <a:ln w="12700">
            <a:solidFill>
              <a:srgbClr val="EAF7F0"/>
            </a:solidFill>
            <a:prstDash val="solid"/>
          </a:ln>
        </p:spPr>
      </p:sp>
      <p:sp>
        <p:nvSpPr>
          <p:cNvPr id="23" name="Text 21"/>
          <p:cNvSpPr txBox="1"/>
          <p:nvPr/>
        </p:nvSpPr>
        <p:spPr>
          <a:xfrm>
            <a:off x="749808" y="4114800"/>
            <a:ext cx="7726680" cy="457200"/>
          </a:xfrm>
          <a:prstGeom prst="rect">
            <a:avLst/>
          </a:prstGeom>
          <a:noFill/>
          <a:ln/>
        </p:spPr>
        <p:txBody>
          <a:bodyPr wrap="square" lIns="0" tIns="0" rIns="0" bIns="0" rtlCol="0" anchor="ctr"/>
          <a:lstStyle/>
          <a:p>
            <a:pPr indent="0" marL="0">
              <a:lnSpc>
                <a:spcPts val="1600"/>
              </a:lnSpc>
              <a:buNone/>
            </a:pPr>
            <a:r>
              <a:rPr lang="en-US" sz="1150" b="1" dirty="0">
                <a:solidFill>
                  <a:srgbClr val="00784F"/>
                </a:solidFill>
                <a:latin typeface="Calibri" pitchFamily="34" charset="0"/>
                <a:ea typeface="Calibri" pitchFamily="34" charset="-122"/>
                <a:cs typeface="Calibri" pitchFamily="34" charset="-120"/>
              </a:rPr>
              <a:t>Από το ίδιο το βιβλίο:  </a:t>
            </a:r>
            <a:pPr indent="0" marL="0">
              <a:lnSpc>
                <a:spcPts val="1600"/>
              </a:lnSpc>
              <a:buNone/>
            </a:pPr>
            <a:r>
              <a:rPr lang="en-US" sz="1150" dirty="0">
                <a:solidFill>
                  <a:srgbClr val="171B22"/>
                </a:solidFill>
                <a:latin typeface="Calibri" pitchFamily="34" charset="0"/>
                <a:ea typeface="Calibri" pitchFamily="34" charset="-122"/>
                <a:cs typeface="Calibri" pitchFamily="34" charset="-120"/>
              </a:rPr>
              <a:t>ΦΠΑ σε τιμή προϊόντος · Δείκτης Μάζας Σώματος · χρόνος που κατεβαίνει μια εφαρμογή · κόστος ταχυδρομικής αποστολής · σε πόση ώρα γεμίζει μια δεξαμενή</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A78BFA"/>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Calibri" pitchFamily="34" charset="0"/>
                <a:ea typeface="Calibri" pitchFamily="34" charset="-122"/>
                <a:cs typeface="Calibri" pitchFamily="34" charset="-120"/>
              </a:rPr>
              <a:t>2</a:t>
            </a:r>
            <a:endParaRPr lang="en-US" sz="1200" dirty="0"/>
          </a:p>
        </p:txBody>
      </p:sp>
      <p:sp>
        <p:nvSpPr>
          <p:cNvPr id="4" name="Text 2"/>
          <p:cNvSpPr txBox="1"/>
          <p:nvPr/>
        </p:nvSpPr>
        <p:spPr>
          <a:xfrm>
            <a:off x="941832" y="420624"/>
            <a:ext cx="4114800" cy="310896"/>
          </a:xfrm>
          <a:prstGeom prst="rect">
            <a:avLst/>
          </a:prstGeom>
          <a:noFill/>
          <a:ln/>
        </p:spPr>
        <p:txBody>
          <a:bodyPr wrap="square" lIns="0" tIns="0" rIns="0" bIns="0" rtlCol="0" anchor="ctr"/>
          <a:lstStyle/>
          <a:p>
            <a:pPr indent="0" marL="0">
              <a:buNone/>
            </a:pPr>
            <a:r>
              <a:rPr lang="en-US" sz="1050" b="1" spc="160" kern="0" dirty="0">
                <a:solidFill>
                  <a:srgbClr val="5B3FD1"/>
                </a:solidFill>
                <a:latin typeface="Courier New" pitchFamily="34" charset="0"/>
                <a:ea typeface="Courier New" pitchFamily="34" charset="-122"/>
                <a:cs typeface="Courier New" pitchFamily="34" charset="-120"/>
              </a:rPr>
              <a:t>ΚΕΦΑΛΑΙΟ 2  ·  WORDPRESS</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indent="0" marL="0">
              <a:buNone/>
            </a:pPr>
            <a:r>
              <a:rPr lang="en-US" sz="3200" b="1" dirty="0">
                <a:solidFill>
                  <a:srgbClr val="171B22"/>
                </a:solidFill>
                <a:latin typeface="Calibri" pitchFamily="34" charset="0"/>
                <a:ea typeface="Calibri" pitchFamily="34" charset="-122"/>
                <a:cs typeface="Calibri" pitchFamily="34" charset="-120"/>
              </a:rPr>
              <a:t>Φτιάξε ιστότοπο — και βγάλ' τον online</a:t>
            </a:r>
            <a:endParaRPr lang="en-US" sz="3200" dirty="0"/>
          </a:p>
        </p:txBody>
      </p:sp>
      <p:sp>
        <p:nvSpPr>
          <p:cNvPr id="6" name="Shape 4"/>
          <p:cNvSpPr/>
          <p:nvPr/>
        </p:nvSpPr>
        <p:spPr>
          <a:xfrm>
            <a:off x="548640" y="1481328"/>
            <a:ext cx="2697480" cy="2194560"/>
          </a:xfrm>
          <a:prstGeom prst="roundRect">
            <a:avLst>
              <a:gd name="adj" fmla="val 3333"/>
            </a:avLst>
          </a:prstGeom>
          <a:solidFill>
            <a:srgbClr val="F1EDFE"/>
          </a:solidFill>
          <a:ln w="12700">
            <a:solidFill>
              <a:srgbClr val="F1EDFE"/>
            </a:solidFill>
            <a:prstDash val="solid"/>
          </a:ln>
        </p:spPr>
      </p:sp>
      <p:sp>
        <p:nvSpPr>
          <p:cNvPr id="7" name="Text 5"/>
          <p:cNvSpPr txBox="1"/>
          <p:nvPr/>
        </p:nvSpPr>
        <p:spPr>
          <a:xfrm>
            <a:off x="548640" y="1691640"/>
            <a:ext cx="2697480" cy="914400"/>
          </a:xfrm>
          <a:prstGeom prst="rect">
            <a:avLst/>
          </a:prstGeom>
          <a:noFill/>
          <a:ln/>
        </p:spPr>
        <p:txBody>
          <a:bodyPr wrap="square" lIns="0" tIns="0" rIns="0" bIns="0" rtlCol="0" anchor="ctr"/>
          <a:lstStyle/>
          <a:p>
            <a:pPr algn="ctr" indent="0" marL="0">
              <a:buNone/>
            </a:pPr>
            <a:r>
              <a:rPr lang="en-US" sz="6000" b="1" dirty="0">
                <a:solidFill>
                  <a:srgbClr val="5B3FD1"/>
                </a:solidFill>
                <a:latin typeface="Calibri" pitchFamily="34" charset="0"/>
                <a:ea typeface="Calibri" pitchFamily="34" charset="-122"/>
                <a:cs typeface="Calibri" pitchFamily="34" charset="-120"/>
              </a:rPr>
              <a:t>43%</a:t>
            </a:r>
            <a:endParaRPr lang="en-US" sz="6000" dirty="0"/>
          </a:p>
        </p:txBody>
      </p:sp>
      <p:sp>
        <p:nvSpPr>
          <p:cNvPr id="8" name="Text 6"/>
          <p:cNvSpPr txBox="1"/>
          <p:nvPr/>
        </p:nvSpPr>
        <p:spPr>
          <a:xfrm>
            <a:off x="777240" y="2697480"/>
            <a:ext cx="2240280" cy="685800"/>
          </a:xfrm>
          <a:prstGeom prst="rect">
            <a:avLst/>
          </a:prstGeom>
          <a:noFill/>
          <a:ln/>
        </p:spPr>
        <p:txBody>
          <a:bodyPr wrap="square" lIns="0" tIns="0" rIns="0" bIns="0" rtlCol="0" anchor="ctr"/>
          <a:lstStyle/>
          <a:p>
            <a:pPr algn="ctr" indent="0" marL="0">
              <a:lnSpc>
                <a:spcPts val="1600"/>
              </a:lnSpc>
              <a:buNone/>
            </a:pPr>
            <a:r>
              <a:rPr lang="en-US" sz="1200" dirty="0">
                <a:solidFill>
                  <a:srgbClr val="171B22"/>
                </a:solidFill>
                <a:latin typeface="Calibri" pitchFamily="34" charset="0"/>
                <a:ea typeface="Calibri" pitchFamily="34" charset="-122"/>
                <a:cs typeface="Calibri" pitchFamily="34" charset="-120"/>
              </a:rPr>
              <a:t>των ιστότοπων σε όλο τον κόσμο τρέχουν σε WordPress</a:t>
            </a:r>
            <a:endParaRPr lang="en-US" sz="1200" dirty="0"/>
          </a:p>
        </p:txBody>
      </p:sp>
      <p:sp>
        <p:nvSpPr>
          <p:cNvPr id="9" name="Text 7"/>
          <p:cNvSpPr txBox="1"/>
          <p:nvPr/>
        </p:nvSpPr>
        <p:spPr>
          <a:xfrm>
            <a:off x="3611880" y="1572768"/>
            <a:ext cx="4983480" cy="201168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171B22"/>
                </a:solidFill>
                <a:latin typeface="Calibri" pitchFamily="34" charset="0"/>
                <a:ea typeface="Calibri" pitchFamily="34" charset="-122"/>
                <a:cs typeface="Calibri" pitchFamily="34" charset="-120"/>
              </a:rPr>
              <a:t>Τι είναι ένα CMS, πού χρησιμεύει και γιατί άλλαξε το web</a:t>
            </a:r>
            <a:endParaRPr lang="en-US" sz="1300" dirty="0"/>
          </a:p>
          <a:p>
            <a:pPr marL="342900" indent="-342900">
              <a:spcAft>
                <a:spcPts val="1000"/>
              </a:spcAft>
              <a:buSzPct val="100000"/>
              <a:buChar char="•"/>
            </a:pPr>
            <a:r>
              <a:rPr lang="en-US" sz="1300" dirty="0">
                <a:solidFill>
                  <a:srgbClr val="171B22"/>
                </a:solidFill>
                <a:latin typeface="Calibri" pitchFamily="34" charset="0"/>
                <a:ea typeface="Calibri" pitchFamily="34" charset="-122"/>
                <a:cs typeface="Calibri" pitchFamily="34" charset="-120"/>
              </a:rPr>
              <a:t>Θέματα, μενού, κατηγορίες, ετικέτες και άρθρα</a:t>
            </a:r>
            <a:endParaRPr lang="en-US" sz="1300" dirty="0"/>
          </a:p>
          <a:p>
            <a:pPr marL="342900" indent="-342900">
              <a:spcAft>
                <a:spcPts val="1000"/>
              </a:spcAft>
              <a:buSzPct val="100000"/>
              <a:buChar char="•"/>
            </a:pPr>
            <a:r>
              <a:rPr lang="en-US" sz="1300" dirty="0">
                <a:solidFill>
                  <a:srgbClr val="171B22"/>
                </a:solidFill>
                <a:latin typeface="Calibri" pitchFamily="34" charset="0"/>
                <a:ea typeface="Calibri" pitchFamily="34" charset="-122"/>
                <a:cs typeface="Calibri" pitchFamily="34" charset="-120"/>
              </a:rPr>
              <a:t>Μικροεφαρμογές (widgets), σχόλια, ρόλοι χρηστών</a:t>
            </a:r>
            <a:endParaRPr lang="en-US" sz="1300" dirty="0"/>
          </a:p>
          <a:p>
            <a:pPr marL="342900" indent="-342900">
              <a:spcAft>
                <a:spcPts val="1000"/>
              </a:spcAft>
              <a:buSzPct val="100000"/>
              <a:buChar char="•"/>
            </a:pPr>
            <a:r>
              <a:rPr lang="en-US" sz="1300" dirty="0">
                <a:solidFill>
                  <a:srgbClr val="171B22"/>
                </a:solidFill>
                <a:latin typeface="Calibri" pitchFamily="34" charset="0"/>
                <a:ea typeface="Calibri" pitchFamily="34" charset="-122"/>
                <a:cs typeface="Calibri" pitchFamily="34" charset="-120"/>
              </a:rPr>
              <a:t>Πρόσθετα (plugins): gallery φωτογραφιών, φόρμα επικοινωνίας</a:t>
            </a:r>
            <a:endParaRPr lang="en-US" sz="1300" dirty="0"/>
          </a:p>
        </p:txBody>
      </p:sp>
      <p:sp>
        <p:nvSpPr>
          <p:cNvPr id="10" name="Shape 8"/>
          <p:cNvSpPr/>
          <p:nvPr/>
        </p:nvSpPr>
        <p:spPr>
          <a:xfrm>
            <a:off x="548640" y="3950208"/>
            <a:ext cx="8092440" cy="713232"/>
          </a:xfrm>
          <a:prstGeom prst="roundRect">
            <a:avLst>
              <a:gd name="adj" fmla="val 10256"/>
            </a:avLst>
          </a:prstGeom>
          <a:solidFill>
            <a:srgbClr val="F2F4F8"/>
          </a:solidFill>
          <a:ln w="12700">
            <a:solidFill>
              <a:srgbClr val="F2F4F8"/>
            </a:solidFill>
            <a:prstDash val="solid"/>
          </a:ln>
        </p:spPr>
      </p:sp>
      <p:sp>
        <p:nvSpPr>
          <p:cNvPr id="11" name="Text 9"/>
          <p:cNvSpPr txBox="1"/>
          <p:nvPr/>
        </p:nvSpPr>
        <p:spPr>
          <a:xfrm>
            <a:off x="749808" y="4041648"/>
            <a:ext cx="7726680" cy="530352"/>
          </a:xfrm>
          <a:prstGeom prst="rect">
            <a:avLst/>
          </a:prstGeom>
          <a:noFill/>
          <a:ln/>
        </p:spPr>
        <p:txBody>
          <a:bodyPr wrap="square" lIns="0" tIns="0" rIns="0" bIns="0" rtlCol="0" anchor="ctr"/>
          <a:lstStyle/>
          <a:p>
            <a:pPr indent="0" marL="0">
              <a:lnSpc>
                <a:spcPts val="1600"/>
              </a:lnSpc>
              <a:buNone/>
            </a:pPr>
            <a:r>
              <a:rPr lang="en-US" sz="1150" b="1" dirty="0">
                <a:solidFill>
                  <a:srgbClr val="5B3FD1"/>
                </a:solidFill>
                <a:latin typeface="Calibri" pitchFamily="34" charset="0"/>
                <a:ea typeface="Calibri" pitchFamily="34" charset="-122"/>
                <a:cs typeface="Calibri" pitchFamily="34" charset="-120"/>
              </a:rPr>
              <a:t>Και δεν μένει στην τάξη:  </a:t>
            </a:r>
            <a:pPr indent="0" marL="0">
              <a:lnSpc>
                <a:spcPts val="1600"/>
              </a:lnSpc>
              <a:buNone/>
            </a:pPr>
            <a:r>
              <a:rPr lang="en-US" sz="1150" dirty="0">
                <a:solidFill>
                  <a:srgbClr val="171B22"/>
                </a:solidFill>
                <a:latin typeface="Calibri" pitchFamily="34" charset="0"/>
                <a:ea typeface="Calibri" pitchFamily="34" charset="-122"/>
                <a:cs typeface="Calibri" pitchFamily="34" charset="-120"/>
              </a:rPr>
              <a:t>το Παράρτημα του βιβλίου σε οδηγεί βήμα-βήμα να εγκαταστήσεις WordPress στο Πανελλήνιο Σχολικό Δίκτυο. Δηλαδή διεύθυνση που μπορείς να στείλεις σε όποιον θες.</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38BDF8"/>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Calibri" pitchFamily="34" charset="0"/>
                <a:ea typeface="Calibri" pitchFamily="34" charset="-122"/>
                <a:cs typeface="Calibri" pitchFamily="34" charset="-120"/>
              </a:rPr>
              <a:t>3</a:t>
            </a:r>
            <a:endParaRPr lang="en-US" sz="1200" dirty="0"/>
          </a:p>
        </p:txBody>
      </p:sp>
      <p:sp>
        <p:nvSpPr>
          <p:cNvPr id="4" name="Text 2"/>
          <p:cNvSpPr txBox="1"/>
          <p:nvPr/>
        </p:nvSpPr>
        <p:spPr>
          <a:xfrm>
            <a:off x="941832" y="420624"/>
            <a:ext cx="4114800" cy="310896"/>
          </a:xfrm>
          <a:prstGeom prst="rect">
            <a:avLst/>
          </a:prstGeom>
          <a:noFill/>
          <a:ln/>
        </p:spPr>
        <p:txBody>
          <a:bodyPr wrap="square" lIns="0" tIns="0" rIns="0" bIns="0" rtlCol="0" anchor="ctr"/>
          <a:lstStyle/>
          <a:p>
            <a:pPr indent="0" marL="0">
              <a:buNone/>
            </a:pPr>
            <a:r>
              <a:rPr lang="en-US" sz="1050" b="1" spc="160" kern="0" dirty="0">
                <a:solidFill>
                  <a:srgbClr val="0369A1"/>
                </a:solidFill>
                <a:latin typeface="Courier New" pitchFamily="34" charset="0"/>
                <a:ea typeface="Courier New" pitchFamily="34" charset="-122"/>
                <a:cs typeface="Courier New" pitchFamily="34" charset="-120"/>
              </a:rPr>
              <a:t>ΚΕΦΑΛΑΙΟ 3  ·  ΔΙΚΤΥΑ</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indent="0" marL="0">
              <a:buNone/>
            </a:pPr>
            <a:r>
              <a:rPr lang="en-US" sz="3200" b="1" dirty="0">
                <a:solidFill>
                  <a:srgbClr val="171B22"/>
                </a:solidFill>
                <a:latin typeface="Calibri" pitchFamily="34" charset="0"/>
                <a:ea typeface="Calibri" pitchFamily="34" charset="-122"/>
                <a:cs typeface="Calibri" pitchFamily="34" charset="-120"/>
              </a:rPr>
              <a:t>Πόσα δίκτυα σε αγγίζουν αυτή τη στιγμή;</a:t>
            </a:r>
            <a:endParaRPr lang="en-US" sz="3200" dirty="0"/>
          </a:p>
        </p:txBody>
      </p:sp>
      <p:sp>
        <p:nvSpPr>
          <p:cNvPr id="6" name="Shape 4"/>
          <p:cNvSpPr/>
          <p:nvPr/>
        </p:nvSpPr>
        <p:spPr>
          <a:xfrm>
            <a:off x="548640" y="1463040"/>
            <a:ext cx="2423160" cy="1965960"/>
          </a:xfrm>
          <a:prstGeom prst="roundRect">
            <a:avLst>
              <a:gd name="adj" fmla="val 3721"/>
            </a:avLst>
          </a:prstGeom>
          <a:solidFill>
            <a:srgbClr val="F2F4F8"/>
          </a:solidFill>
          <a:ln w="12700">
            <a:solidFill>
              <a:srgbClr val="F2F4F8"/>
            </a:solidFill>
            <a:prstDash val="solid"/>
          </a:ln>
        </p:spPr>
      </p:sp>
      <p:sp>
        <p:nvSpPr>
          <p:cNvPr id="7" name="Text 5"/>
          <p:cNvSpPr txBox="1"/>
          <p:nvPr/>
        </p:nvSpPr>
        <p:spPr>
          <a:xfrm>
            <a:off x="749808" y="1609344"/>
            <a:ext cx="2011680" cy="237744"/>
          </a:xfrm>
          <a:prstGeom prst="rect">
            <a:avLst/>
          </a:prstGeom>
          <a:noFill/>
          <a:ln/>
        </p:spPr>
        <p:txBody>
          <a:bodyPr wrap="square" lIns="0" tIns="0" rIns="0" bIns="0" rtlCol="0" anchor="ctr"/>
          <a:lstStyle/>
          <a:p>
            <a:pPr indent="0" marL="0">
              <a:buNone/>
            </a:pPr>
            <a:r>
              <a:rPr lang="en-US" sz="1000" b="1" spc="120" kern="0" dirty="0">
                <a:solidFill>
                  <a:srgbClr val="0369A1"/>
                </a:solidFill>
                <a:latin typeface="Courier New" pitchFamily="34" charset="0"/>
                <a:ea typeface="Courier New" pitchFamily="34" charset="-122"/>
                <a:cs typeface="Courier New" pitchFamily="34" charset="-120"/>
              </a:rPr>
              <a:t>Δίπλα σου</a:t>
            </a:r>
            <a:endParaRPr lang="en-US" sz="1000" dirty="0"/>
          </a:p>
        </p:txBody>
      </p:sp>
      <p:sp>
        <p:nvSpPr>
          <p:cNvPr id="8" name="Text 6"/>
          <p:cNvSpPr txBox="1"/>
          <p:nvPr/>
        </p:nvSpPr>
        <p:spPr>
          <a:xfrm>
            <a:off x="749808" y="1874520"/>
            <a:ext cx="2057400" cy="310896"/>
          </a:xfrm>
          <a:prstGeom prst="rect">
            <a:avLst/>
          </a:prstGeom>
          <a:noFill/>
          <a:ln/>
        </p:spPr>
        <p:txBody>
          <a:bodyPr wrap="square" lIns="0" tIns="0" rIns="0" bIns="0" rtlCol="0" anchor="ctr"/>
          <a:lstStyle/>
          <a:p>
            <a:pPr indent="0" marL="0">
              <a:buNone/>
            </a:pPr>
            <a:r>
              <a:rPr lang="en-US" sz="1450" b="1" dirty="0">
                <a:solidFill>
                  <a:srgbClr val="171B22"/>
                </a:solidFill>
                <a:latin typeface="Calibri" pitchFamily="34" charset="0"/>
                <a:ea typeface="Calibri" pitchFamily="34" charset="-122"/>
                <a:cs typeface="Calibri" pitchFamily="34" charset="-120"/>
              </a:rPr>
              <a:t>PAN / WPAN</a:t>
            </a:r>
            <a:endParaRPr lang="en-US" sz="1450" dirty="0"/>
          </a:p>
        </p:txBody>
      </p:sp>
      <p:sp>
        <p:nvSpPr>
          <p:cNvPr id="9" name="Text 7"/>
          <p:cNvSpPr txBox="1"/>
          <p:nvPr/>
        </p:nvSpPr>
        <p:spPr>
          <a:xfrm>
            <a:off x="749808" y="2249424"/>
            <a:ext cx="2057400" cy="1051560"/>
          </a:xfrm>
          <a:prstGeom prst="rect">
            <a:avLst/>
          </a:prstGeom>
          <a:noFill/>
          <a:ln/>
        </p:spPr>
        <p:txBody>
          <a:bodyPr wrap="square" lIns="0" tIns="0" rIns="0" bIns="0" rtlCol="0" anchor="ctr"/>
          <a:lstStyle/>
          <a:p>
            <a:pPr indent="0" marL="0">
              <a:lnSpc>
                <a:spcPts val="1600"/>
              </a:lnSpc>
              <a:buNone/>
            </a:pPr>
            <a:r>
              <a:rPr lang="en-US" sz="1150" dirty="0">
                <a:solidFill>
                  <a:srgbClr val="6B7480"/>
                </a:solidFill>
                <a:latin typeface="Calibri" pitchFamily="34" charset="0"/>
                <a:ea typeface="Calibri" pitchFamily="34" charset="-122"/>
                <a:cs typeface="Calibri" pitchFamily="34" charset="-120"/>
              </a:rPr>
              <a:t>Ακουστικά Bluetooth, smartwatch, το κινητό που «μιλάει» με το αυτοκίνητο. Δίκτυο ακτίνας λίγων μέτρων — γύρω σου.</a:t>
            </a:r>
            <a:endParaRPr lang="en-US" sz="1150" dirty="0"/>
          </a:p>
        </p:txBody>
      </p:sp>
      <p:sp>
        <p:nvSpPr>
          <p:cNvPr id="10" name="Shape 8"/>
          <p:cNvSpPr/>
          <p:nvPr/>
        </p:nvSpPr>
        <p:spPr>
          <a:xfrm>
            <a:off x="3291840" y="1463040"/>
            <a:ext cx="2423160" cy="1965960"/>
          </a:xfrm>
          <a:prstGeom prst="roundRect">
            <a:avLst>
              <a:gd name="adj" fmla="val 3721"/>
            </a:avLst>
          </a:prstGeom>
          <a:solidFill>
            <a:srgbClr val="F2F4F8"/>
          </a:solidFill>
          <a:ln w="12700">
            <a:solidFill>
              <a:srgbClr val="F2F4F8"/>
            </a:solidFill>
            <a:prstDash val="solid"/>
          </a:ln>
        </p:spPr>
      </p:sp>
      <p:sp>
        <p:nvSpPr>
          <p:cNvPr id="11" name="Text 9"/>
          <p:cNvSpPr txBox="1"/>
          <p:nvPr/>
        </p:nvSpPr>
        <p:spPr>
          <a:xfrm>
            <a:off x="3493008" y="1609344"/>
            <a:ext cx="2011680" cy="237744"/>
          </a:xfrm>
          <a:prstGeom prst="rect">
            <a:avLst/>
          </a:prstGeom>
          <a:noFill/>
          <a:ln/>
        </p:spPr>
        <p:txBody>
          <a:bodyPr wrap="square" lIns="0" tIns="0" rIns="0" bIns="0" rtlCol="0" anchor="ctr"/>
          <a:lstStyle/>
          <a:p>
            <a:pPr indent="0" marL="0">
              <a:buNone/>
            </a:pPr>
            <a:r>
              <a:rPr lang="en-US" sz="1000" b="1" spc="120" kern="0" dirty="0">
                <a:solidFill>
                  <a:srgbClr val="0369A1"/>
                </a:solidFill>
                <a:latin typeface="Courier New" pitchFamily="34" charset="0"/>
                <a:ea typeface="Courier New" pitchFamily="34" charset="-122"/>
                <a:cs typeface="Courier New" pitchFamily="34" charset="-120"/>
              </a:rPr>
              <a:t>Στον αέρα</a:t>
            </a:r>
            <a:endParaRPr lang="en-US" sz="1000" dirty="0"/>
          </a:p>
        </p:txBody>
      </p:sp>
      <p:sp>
        <p:nvSpPr>
          <p:cNvPr id="12" name="Text 10"/>
          <p:cNvSpPr txBox="1"/>
          <p:nvPr/>
        </p:nvSpPr>
        <p:spPr>
          <a:xfrm>
            <a:off x="3493008" y="1874520"/>
            <a:ext cx="2057400" cy="310896"/>
          </a:xfrm>
          <a:prstGeom prst="rect">
            <a:avLst/>
          </a:prstGeom>
          <a:noFill/>
          <a:ln/>
        </p:spPr>
        <p:txBody>
          <a:bodyPr wrap="square" lIns="0" tIns="0" rIns="0" bIns="0" rtlCol="0" anchor="ctr"/>
          <a:lstStyle/>
          <a:p>
            <a:pPr indent="0" marL="0">
              <a:buNone/>
            </a:pPr>
            <a:r>
              <a:rPr lang="en-US" sz="1450" b="1" dirty="0">
                <a:solidFill>
                  <a:srgbClr val="171B22"/>
                </a:solidFill>
                <a:latin typeface="Calibri" pitchFamily="34" charset="0"/>
                <a:ea typeface="Calibri" pitchFamily="34" charset="-122"/>
                <a:cs typeface="Calibri" pitchFamily="34" charset="-120"/>
              </a:rPr>
              <a:t>Κινητή τηλεφωνία</a:t>
            </a:r>
            <a:endParaRPr lang="en-US" sz="1450" dirty="0"/>
          </a:p>
        </p:txBody>
      </p:sp>
      <p:sp>
        <p:nvSpPr>
          <p:cNvPr id="13" name="Text 11"/>
          <p:cNvSpPr txBox="1"/>
          <p:nvPr/>
        </p:nvSpPr>
        <p:spPr>
          <a:xfrm>
            <a:off x="3493008" y="2249424"/>
            <a:ext cx="2057400" cy="1051560"/>
          </a:xfrm>
          <a:prstGeom prst="rect">
            <a:avLst/>
          </a:prstGeom>
          <a:noFill/>
          <a:ln/>
        </p:spPr>
        <p:txBody>
          <a:bodyPr wrap="square" lIns="0" tIns="0" rIns="0" bIns="0" rtlCol="0" anchor="ctr"/>
          <a:lstStyle/>
          <a:p>
            <a:pPr indent="0" marL="0">
              <a:lnSpc>
                <a:spcPts val="1600"/>
              </a:lnSpc>
              <a:buNone/>
            </a:pPr>
            <a:r>
              <a:rPr lang="en-US" sz="1150" dirty="0">
                <a:solidFill>
                  <a:srgbClr val="6B7480"/>
                </a:solidFill>
                <a:latin typeface="Calibri" pitchFamily="34" charset="0"/>
                <a:ea typeface="Calibri" pitchFamily="34" charset="-122"/>
                <a:cs typeface="Calibri" pitchFamily="34" charset="-120"/>
              </a:rPr>
              <a:t>Πώς η φωνή σου γίνεται σήμα, ταξιδεύει από κεραία σε κεραία και ξαναγίνεται φωνή στο άλλο άκρο.</a:t>
            </a:r>
            <a:endParaRPr lang="en-US" sz="1150" dirty="0"/>
          </a:p>
        </p:txBody>
      </p:sp>
      <p:sp>
        <p:nvSpPr>
          <p:cNvPr id="14" name="Shape 12"/>
          <p:cNvSpPr/>
          <p:nvPr/>
        </p:nvSpPr>
        <p:spPr>
          <a:xfrm>
            <a:off x="6035040" y="1463040"/>
            <a:ext cx="2423160" cy="1965960"/>
          </a:xfrm>
          <a:prstGeom prst="roundRect">
            <a:avLst>
              <a:gd name="adj" fmla="val 3721"/>
            </a:avLst>
          </a:prstGeom>
          <a:solidFill>
            <a:srgbClr val="F2F4F8"/>
          </a:solidFill>
          <a:ln w="12700">
            <a:solidFill>
              <a:srgbClr val="F2F4F8"/>
            </a:solidFill>
            <a:prstDash val="solid"/>
          </a:ln>
        </p:spPr>
      </p:sp>
      <p:sp>
        <p:nvSpPr>
          <p:cNvPr id="15" name="Text 13"/>
          <p:cNvSpPr txBox="1"/>
          <p:nvPr/>
        </p:nvSpPr>
        <p:spPr>
          <a:xfrm>
            <a:off x="6236208" y="1609344"/>
            <a:ext cx="2011680" cy="237744"/>
          </a:xfrm>
          <a:prstGeom prst="rect">
            <a:avLst/>
          </a:prstGeom>
          <a:noFill/>
          <a:ln/>
        </p:spPr>
        <p:txBody>
          <a:bodyPr wrap="square" lIns="0" tIns="0" rIns="0" bIns="0" rtlCol="0" anchor="ctr"/>
          <a:lstStyle/>
          <a:p>
            <a:pPr indent="0" marL="0">
              <a:buNone/>
            </a:pPr>
            <a:r>
              <a:rPr lang="en-US" sz="1000" b="1" spc="120" kern="0" dirty="0">
                <a:solidFill>
                  <a:srgbClr val="0369A1"/>
                </a:solidFill>
                <a:latin typeface="Courier New" pitchFamily="34" charset="0"/>
                <a:ea typeface="Courier New" pitchFamily="34" charset="-122"/>
                <a:cs typeface="Courier New" pitchFamily="34" charset="-120"/>
              </a:rPr>
              <a:t>Παντού</a:t>
            </a:r>
            <a:endParaRPr lang="en-US" sz="1000" dirty="0"/>
          </a:p>
        </p:txBody>
      </p:sp>
      <p:sp>
        <p:nvSpPr>
          <p:cNvPr id="16" name="Text 14"/>
          <p:cNvSpPr txBox="1"/>
          <p:nvPr/>
        </p:nvSpPr>
        <p:spPr>
          <a:xfrm>
            <a:off x="6236208" y="1874520"/>
            <a:ext cx="2057400" cy="310896"/>
          </a:xfrm>
          <a:prstGeom prst="rect">
            <a:avLst/>
          </a:prstGeom>
          <a:noFill/>
          <a:ln/>
        </p:spPr>
        <p:txBody>
          <a:bodyPr wrap="square" lIns="0" tIns="0" rIns="0" bIns="0" rtlCol="0" anchor="ctr"/>
          <a:lstStyle/>
          <a:p>
            <a:pPr indent="0" marL="0">
              <a:buNone/>
            </a:pPr>
            <a:r>
              <a:rPr lang="en-US" sz="1450" b="1" dirty="0">
                <a:solidFill>
                  <a:srgbClr val="171B22"/>
                </a:solidFill>
                <a:latin typeface="Calibri" pitchFamily="34" charset="0"/>
                <a:ea typeface="Calibri" pitchFamily="34" charset="-122"/>
                <a:cs typeface="Calibri" pitchFamily="34" charset="-120"/>
              </a:rPr>
              <a:t>Υπηρεσίες Διαδικτύου</a:t>
            </a:r>
            <a:endParaRPr lang="en-US" sz="1450" dirty="0"/>
          </a:p>
        </p:txBody>
      </p:sp>
      <p:sp>
        <p:nvSpPr>
          <p:cNvPr id="17" name="Text 15"/>
          <p:cNvSpPr txBox="1"/>
          <p:nvPr/>
        </p:nvSpPr>
        <p:spPr>
          <a:xfrm>
            <a:off x="6236208" y="2249424"/>
            <a:ext cx="2057400" cy="1051560"/>
          </a:xfrm>
          <a:prstGeom prst="rect">
            <a:avLst/>
          </a:prstGeom>
          <a:noFill/>
          <a:ln/>
        </p:spPr>
        <p:txBody>
          <a:bodyPr wrap="square" lIns="0" tIns="0" rIns="0" bIns="0" rtlCol="0" anchor="ctr"/>
          <a:lstStyle/>
          <a:p>
            <a:pPr indent="0" marL="0">
              <a:lnSpc>
                <a:spcPts val="1600"/>
              </a:lnSpc>
              <a:buNone/>
            </a:pPr>
            <a:r>
              <a:rPr lang="en-US" sz="1150" dirty="0">
                <a:solidFill>
                  <a:srgbClr val="6B7480"/>
                </a:solidFill>
                <a:latin typeface="Calibri" pitchFamily="34" charset="0"/>
                <a:ea typeface="Calibri" pitchFamily="34" charset="-122"/>
                <a:cs typeface="Calibri" pitchFamily="34" charset="-120"/>
              </a:rPr>
              <a:t>Φωνή μέσω Διαδικτύου, διαδικτυακή τηλεόραση, κοινωνικά δίκτυα και νεφοπληροφορική (cloud).</a:t>
            </a:r>
            <a:endParaRPr lang="en-US" sz="1150" dirty="0"/>
          </a:p>
        </p:txBody>
      </p:sp>
      <p:sp>
        <p:nvSpPr>
          <p:cNvPr id="18" name="Shape 16"/>
          <p:cNvSpPr/>
          <p:nvPr/>
        </p:nvSpPr>
        <p:spPr>
          <a:xfrm>
            <a:off x="548640" y="3657600"/>
            <a:ext cx="8092440" cy="868680"/>
          </a:xfrm>
          <a:prstGeom prst="roundRect">
            <a:avLst>
              <a:gd name="adj" fmla="val 8421"/>
            </a:avLst>
          </a:prstGeom>
          <a:solidFill>
            <a:srgbClr val="E8F6FD"/>
          </a:solidFill>
          <a:ln w="12700">
            <a:solidFill>
              <a:srgbClr val="E8F6FD"/>
            </a:solidFill>
            <a:prstDash val="solid"/>
          </a:ln>
        </p:spPr>
      </p:sp>
      <p:sp>
        <p:nvSpPr>
          <p:cNvPr id="19" name="Text 17"/>
          <p:cNvSpPr txBox="1"/>
          <p:nvPr/>
        </p:nvSpPr>
        <p:spPr>
          <a:xfrm>
            <a:off x="749808" y="3776472"/>
            <a:ext cx="7726680" cy="658368"/>
          </a:xfrm>
          <a:prstGeom prst="rect">
            <a:avLst/>
          </a:prstGeom>
          <a:noFill/>
          <a:ln/>
        </p:spPr>
        <p:txBody>
          <a:bodyPr wrap="square" lIns="0" tIns="0" rIns="0" bIns="0" rtlCol="0" anchor="ctr"/>
          <a:lstStyle/>
          <a:p>
            <a:pPr indent="0" marL="0">
              <a:lnSpc>
                <a:spcPts val="1600"/>
              </a:lnSpc>
              <a:buNone/>
            </a:pPr>
            <a:r>
              <a:rPr lang="en-US" sz="1150" b="1" dirty="0">
                <a:solidFill>
                  <a:srgbClr val="0369A1"/>
                </a:solidFill>
                <a:latin typeface="Calibri" pitchFamily="34" charset="0"/>
                <a:ea typeface="Calibri" pitchFamily="34" charset="-122"/>
                <a:cs typeface="Calibri" pitchFamily="34" charset="-120"/>
              </a:rPr>
              <a:t>Και οι κανόνες του παιχνιδιού: netiquette.</a:t>
            </a:r>
            <a:endParaRPr lang="en-US" sz="1150" dirty="0"/>
          </a:p>
          <a:p>
            <a:pPr indent="0" marL="0">
              <a:lnSpc>
                <a:spcPts val="1600"/>
              </a:lnSpc>
              <a:buNone/>
            </a:pPr>
            <a:r>
              <a:rPr lang="en-US" sz="1150" dirty="0">
                <a:solidFill>
                  <a:srgbClr val="171B22"/>
                </a:solidFill>
                <a:latin typeface="Calibri" pitchFamily="34" charset="0"/>
                <a:ea typeface="Calibri" pitchFamily="34" charset="-122"/>
                <a:cs typeface="Calibri" pitchFamily="34" charset="-120"/>
              </a:rPr>
              <a:t>Γιατί τα ΚΕΦΑΛΑΙΑ διαβάζονται σαν φωνές, γιατί δεν προωθείς ό,τι σου έρθει, και τι σημαίνει να είσαι σωστός σε έναν χώρο όπου κανείς δεν βλέπει το πρόσωπό σου.</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51C"/>
        </a:solidFill>
      </p:bgPr>
    </p:bg>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FF8A75"/>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Calibri" pitchFamily="34" charset="0"/>
                <a:ea typeface="Calibri" pitchFamily="34" charset="-122"/>
                <a:cs typeface="Calibri" pitchFamily="34" charset="-120"/>
              </a:rPr>
              <a:t>4</a:t>
            </a:r>
            <a:endParaRPr lang="en-US" sz="1200" dirty="0"/>
          </a:p>
        </p:txBody>
      </p:sp>
      <p:sp>
        <p:nvSpPr>
          <p:cNvPr id="4" name="Text 2"/>
          <p:cNvSpPr txBox="1"/>
          <p:nvPr/>
        </p:nvSpPr>
        <p:spPr>
          <a:xfrm>
            <a:off x="941832" y="420624"/>
            <a:ext cx="4572000" cy="310896"/>
          </a:xfrm>
          <a:prstGeom prst="rect">
            <a:avLst/>
          </a:prstGeom>
          <a:noFill/>
          <a:ln/>
        </p:spPr>
        <p:txBody>
          <a:bodyPr wrap="square" lIns="0" tIns="0" rIns="0" bIns="0" rtlCol="0" anchor="ctr"/>
          <a:lstStyle/>
          <a:p>
            <a:pPr indent="0" marL="0">
              <a:buNone/>
            </a:pPr>
            <a:r>
              <a:rPr lang="en-US" sz="1050" b="1" spc="160" kern="0" dirty="0">
                <a:solidFill>
                  <a:srgbClr val="FF8A75"/>
                </a:solidFill>
                <a:latin typeface="Courier New" pitchFamily="34" charset="0"/>
                <a:ea typeface="Courier New" pitchFamily="34" charset="-122"/>
                <a:cs typeface="Courier New" pitchFamily="34" charset="-120"/>
              </a:rPr>
              <a:t>ΚΕΦΑΛΑΙΟ 4  ·  ΑΣΦΑΛΕΙΑ ΠΛΗΡΟΦΟΡΙΩΝ</a:t>
            </a:r>
            <a:endParaRPr lang="en-US" sz="1050" dirty="0"/>
          </a:p>
        </p:txBody>
      </p:sp>
      <p:sp>
        <p:nvSpPr>
          <p:cNvPr id="5" name="Text 3"/>
          <p:cNvSpPr txBox="1"/>
          <p:nvPr/>
        </p:nvSpPr>
        <p:spPr>
          <a:xfrm>
            <a:off x="530352" y="822960"/>
            <a:ext cx="813816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Μπορείς να το διαβάσεις;</a:t>
            </a:r>
            <a:endParaRPr lang="en-US" sz="3200" dirty="0"/>
          </a:p>
        </p:txBody>
      </p:sp>
      <p:sp>
        <p:nvSpPr>
          <p:cNvPr id="6" name="Shape 4"/>
          <p:cNvSpPr/>
          <p:nvPr/>
        </p:nvSpPr>
        <p:spPr>
          <a:xfrm>
            <a:off x="548640" y="1554480"/>
            <a:ext cx="4663440" cy="2194560"/>
          </a:xfrm>
          <a:prstGeom prst="roundRect">
            <a:avLst>
              <a:gd name="adj" fmla="val 3333"/>
            </a:avLst>
          </a:prstGeom>
          <a:solidFill>
            <a:srgbClr val="1D222C"/>
          </a:solidFill>
          <a:ln w="12700">
            <a:solidFill>
              <a:srgbClr val="1D222C"/>
            </a:solidFill>
            <a:prstDash val="solid"/>
          </a:ln>
        </p:spPr>
      </p:sp>
      <p:sp>
        <p:nvSpPr>
          <p:cNvPr id="7" name="Text 5"/>
          <p:cNvSpPr txBox="1"/>
          <p:nvPr/>
        </p:nvSpPr>
        <p:spPr>
          <a:xfrm>
            <a:off x="548640" y="1874520"/>
            <a:ext cx="4663440" cy="777240"/>
          </a:xfrm>
          <a:prstGeom prst="rect">
            <a:avLst/>
          </a:prstGeom>
          <a:noFill/>
          <a:ln/>
        </p:spPr>
        <p:txBody>
          <a:bodyPr wrap="square" lIns="0" tIns="0" rIns="0" bIns="0" rtlCol="0" anchor="ctr"/>
          <a:lstStyle/>
          <a:p>
            <a:pPr algn="ctr" indent="0" marL="0">
              <a:buNone/>
            </a:pPr>
            <a:r>
              <a:rPr lang="en-US" sz="3600" b="1" spc="200" kern="0" dirty="0">
                <a:solidFill>
                  <a:srgbClr val="FF8A75"/>
                </a:solidFill>
                <a:latin typeface="Courier New" pitchFamily="34" charset="0"/>
                <a:ea typeface="Courier New" pitchFamily="34" charset="-122"/>
                <a:cs typeface="Courier New" pitchFamily="34" charset="-120"/>
              </a:rPr>
              <a:t>ΝΔΞΚ  ΑΥΣΠΜΔ</a:t>
            </a:r>
            <a:endParaRPr lang="en-US" sz="3600" dirty="0"/>
          </a:p>
        </p:txBody>
      </p:sp>
      <p:sp>
        <p:nvSpPr>
          <p:cNvPr id="8" name="Text 6"/>
          <p:cNvSpPr txBox="1"/>
          <p:nvPr/>
        </p:nvSpPr>
        <p:spPr>
          <a:xfrm>
            <a:off x="777240" y="2743200"/>
            <a:ext cx="4206240" cy="640080"/>
          </a:xfrm>
          <a:prstGeom prst="rect">
            <a:avLst/>
          </a:prstGeom>
          <a:noFill/>
          <a:ln/>
        </p:spPr>
        <p:txBody>
          <a:bodyPr wrap="square" lIns="0" tIns="0" rIns="0" bIns="0" rtlCol="0" anchor="ctr"/>
          <a:lstStyle/>
          <a:p>
            <a:pPr algn="ctr" indent="0" marL="0">
              <a:lnSpc>
                <a:spcPts val="1600"/>
              </a:lnSpc>
              <a:buNone/>
            </a:pPr>
            <a:r>
              <a:rPr lang="en-US" sz="1150" dirty="0">
                <a:solidFill>
                  <a:srgbClr val="8F9AAA"/>
                </a:solidFill>
                <a:latin typeface="Calibri" pitchFamily="34" charset="0"/>
                <a:ea typeface="Calibri" pitchFamily="34" charset="-122"/>
                <a:cs typeface="Calibri" pitchFamily="34" charset="-120"/>
              </a:rPr>
              <a:t>Κώδικας του Καίσαρα: κάθε γράμμα μετατοπισμένο 3 θέσεις μπροστά.</a:t>
            </a:r>
            <a:endParaRPr lang="en-US" sz="1150" dirty="0"/>
          </a:p>
          <a:p>
            <a:pPr algn="ctr" indent="0" marL="0">
              <a:lnSpc>
                <a:spcPts val="1600"/>
              </a:lnSpc>
              <a:buNone/>
            </a:pPr>
            <a:r>
              <a:rPr lang="en-US" sz="1150" dirty="0">
                <a:solidFill>
                  <a:srgbClr val="8F9AAA"/>
                </a:solidFill>
                <a:latin typeface="Calibri" pitchFamily="34" charset="0"/>
                <a:ea typeface="Calibri" pitchFamily="34" charset="-122"/>
                <a:cs typeface="Calibri" pitchFamily="34" charset="-120"/>
              </a:rPr>
              <a:t>Πήγαινε 3 θέσεις πίσω και βρες το μήνυμα.</a:t>
            </a:r>
            <a:endParaRPr lang="en-US" sz="1150" dirty="0"/>
          </a:p>
        </p:txBody>
      </p:sp>
      <p:sp>
        <p:nvSpPr>
          <p:cNvPr id="9" name="Text 7"/>
          <p:cNvSpPr txBox="1"/>
          <p:nvPr/>
        </p:nvSpPr>
        <p:spPr>
          <a:xfrm>
            <a:off x="5577840" y="1645920"/>
            <a:ext cx="3063240" cy="2011680"/>
          </a:xfrm>
          <a:prstGeom prst="rect">
            <a:avLst/>
          </a:prstGeom>
          <a:noFill/>
          <a:ln/>
        </p:spPr>
        <p:txBody>
          <a:bodyPr wrap="square" lIns="0" tIns="0" rIns="0" bIns="0" rtlCol="0" anchor="ctr"/>
          <a:lstStyle/>
          <a:p>
            <a:pPr marL="342900" indent="-342900">
              <a:spcAft>
                <a:spcPts val="1200"/>
              </a:spcAft>
              <a:buSzPct val="100000"/>
              <a:buChar char="•"/>
            </a:pPr>
            <a:r>
              <a:rPr lang="en-US" sz="1250" dirty="0">
                <a:solidFill>
                  <a:srgbClr val="D7DEE8"/>
                </a:solidFill>
                <a:latin typeface="Calibri" pitchFamily="34" charset="0"/>
                <a:ea typeface="Calibri" pitchFamily="34" charset="-122"/>
                <a:cs typeface="Calibri" pitchFamily="34" charset="-120"/>
              </a:rPr>
              <a:t>Συμμετρική και ασύμμετρη κρυπτογράφηση</a:t>
            </a:r>
            <a:endParaRPr lang="en-US" sz="1250" dirty="0"/>
          </a:p>
          <a:p>
            <a:pPr marL="342900" indent="-342900">
              <a:spcAft>
                <a:spcPts val="1200"/>
              </a:spcAft>
              <a:buSzPct val="100000"/>
              <a:buChar char="•"/>
            </a:pPr>
            <a:r>
              <a:rPr lang="en-US" sz="1250" dirty="0">
                <a:solidFill>
                  <a:srgbClr val="D7DEE8"/>
                </a:solidFill>
                <a:latin typeface="Calibri" pitchFamily="34" charset="0"/>
                <a:ea typeface="Calibri" pitchFamily="34" charset="-122"/>
                <a:cs typeface="Calibri" pitchFamily="34" charset="-120"/>
              </a:rPr>
              <a:t>Ηλεκτρονική και ψηφιακή υπογραφή — τι τις χωρίζει</a:t>
            </a:r>
            <a:endParaRPr lang="en-US" sz="1250" dirty="0"/>
          </a:p>
          <a:p>
            <a:pPr marL="342900" indent="-342900">
              <a:spcAft>
                <a:spcPts val="1200"/>
              </a:spcAft>
              <a:buSzPct val="100000"/>
              <a:buChar char="•"/>
            </a:pPr>
            <a:r>
              <a:rPr lang="en-US" sz="1250" dirty="0">
                <a:solidFill>
                  <a:srgbClr val="D7DEE8"/>
                </a:solidFill>
                <a:latin typeface="Calibri" pitchFamily="34" charset="0"/>
                <a:ea typeface="Calibri" pitchFamily="34" charset="-122"/>
                <a:cs typeface="Calibri" pitchFamily="34" charset="-120"/>
              </a:rPr>
              <a:t>Ποιος εγγυάται ότι είσαι εσύ: οι πιστοποιούσες αρχές</a:t>
            </a:r>
            <a:endParaRPr lang="en-US" sz="1250" dirty="0"/>
          </a:p>
        </p:txBody>
      </p:sp>
      <p:sp>
        <p:nvSpPr>
          <p:cNvPr id="10" name="Text 8"/>
          <p:cNvSpPr txBox="1"/>
          <p:nvPr/>
        </p:nvSpPr>
        <p:spPr>
          <a:xfrm>
            <a:off x="566928" y="4023360"/>
            <a:ext cx="8046720" cy="640080"/>
          </a:xfrm>
          <a:prstGeom prst="rect">
            <a:avLst/>
          </a:prstGeom>
          <a:noFill/>
          <a:ln/>
        </p:spPr>
        <p:txBody>
          <a:bodyPr wrap="square" lIns="0" tIns="0" rIns="0" bIns="0" rtlCol="0" anchor="ctr"/>
          <a:lstStyle/>
          <a:p>
            <a:pPr indent="0" marL="0">
              <a:lnSpc>
                <a:spcPts val="1800"/>
              </a:lnSpc>
              <a:buNone/>
            </a:pPr>
            <a:r>
              <a:rPr lang="en-US" sz="1250" dirty="0">
                <a:solidFill>
                  <a:srgbClr val="C9D2DE"/>
                </a:solidFill>
                <a:latin typeface="Calibri" pitchFamily="34" charset="0"/>
                <a:ea typeface="Calibri" pitchFamily="34" charset="-122"/>
                <a:cs typeface="Calibri" pitchFamily="34" charset="-120"/>
              </a:rPr>
              <a:t>Το ίδιο ακριβώς πράγμα </a:t>
            </a:r>
            <a:pPr indent="0" marL="0">
              <a:lnSpc>
                <a:spcPts val="1800"/>
              </a:lnSpc>
              <a:buNone/>
            </a:pPr>
            <a:r>
              <a:rPr lang="en-US" sz="1250" dirty="0">
                <a:solidFill>
                  <a:srgbClr val="C9D2DE"/>
                </a:solidFill>
                <a:latin typeface="Calibri" pitchFamily="34" charset="0"/>
                <a:ea typeface="Calibri" pitchFamily="34" charset="-122"/>
                <a:cs typeface="Calibri" pitchFamily="34" charset="-120"/>
              </a:rPr>
              <a:t>προστατεύει το gov.gr, το e-banking των γονιών σου και κάθε λουκετάκι που βλέπεις στη γραμμή διευθύνσεων.</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20624"/>
            <a:ext cx="310896" cy="310896"/>
          </a:xfrm>
          <a:prstGeom prst="ellipse">
            <a:avLst/>
          </a:prstGeom>
          <a:solidFill>
            <a:srgbClr val="FFB020"/>
          </a:solidFill>
          <a:ln/>
        </p:spPr>
      </p:sp>
      <p:sp>
        <p:nvSpPr>
          <p:cNvPr id="3" name="Text 1"/>
          <p:cNvSpPr txBox="1"/>
          <p:nvPr/>
        </p:nvSpPr>
        <p:spPr>
          <a:xfrm>
            <a:off x="548640" y="420624"/>
            <a:ext cx="310896" cy="310896"/>
          </a:xfrm>
          <a:prstGeom prst="rect">
            <a:avLst/>
          </a:prstGeom>
          <a:noFill/>
          <a:ln/>
        </p:spPr>
        <p:txBody>
          <a:bodyPr wrap="square" lIns="0" tIns="0" rIns="0" bIns="0" rtlCol="0" anchor="ctr"/>
          <a:lstStyle/>
          <a:p>
            <a:pPr algn="ctr" indent="0" marL="0">
              <a:buNone/>
            </a:pPr>
            <a:r>
              <a:rPr lang="en-US" sz="1200" b="1" dirty="0">
                <a:solidFill>
                  <a:srgbClr val="12151C"/>
                </a:solidFill>
                <a:latin typeface="Calibri" pitchFamily="34" charset="0"/>
                <a:ea typeface="Calibri" pitchFamily="34" charset="-122"/>
                <a:cs typeface="Calibri" pitchFamily="34" charset="-120"/>
              </a:rPr>
              <a:t>5</a:t>
            </a:r>
            <a:endParaRPr lang="en-US" sz="1200" dirty="0"/>
          </a:p>
        </p:txBody>
      </p:sp>
      <p:sp>
        <p:nvSpPr>
          <p:cNvPr id="4" name="Text 2"/>
          <p:cNvSpPr txBox="1"/>
          <p:nvPr/>
        </p:nvSpPr>
        <p:spPr>
          <a:xfrm>
            <a:off x="941832" y="420624"/>
            <a:ext cx="4114800" cy="310896"/>
          </a:xfrm>
          <a:prstGeom prst="rect">
            <a:avLst/>
          </a:prstGeom>
          <a:noFill/>
          <a:ln/>
        </p:spPr>
        <p:txBody>
          <a:bodyPr wrap="square" lIns="0" tIns="0" rIns="0" bIns="0" rtlCol="0" anchor="ctr"/>
          <a:lstStyle/>
          <a:p>
            <a:pPr indent="0" marL="0">
              <a:buNone/>
            </a:pPr>
            <a:r>
              <a:rPr lang="en-US" sz="1050" b="1" spc="160" kern="0" dirty="0">
                <a:solidFill>
                  <a:srgbClr val="9A6300"/>
                </a:solidFill>
                <a:latin typeface="Courier New" pitchFamily="34" charset="0"/>
                <a:ea typeface="Courier New" pitchFamily="34" charset="-122"/>
                <a:cs typeface="Courier New" pitchFamily="34" charset="-120"/>
              </a:rPr>
              <a:t>ΚΕΦΑΛΑΙΟ 5  ·  ΑΝΑΠΤΥΞΗ ΕΡΓΩΝ</a:t>
            </a:r>
            <a:endParaRPr lang="en-US" sz="1050" dirty="0"/>
          </a:p>
        </p:txBody>
      </p:sp>
      <p:sp>
        <p:nvSpPr>
          <p:cNvPr id="5" name="Text 3"/>
          <p:cNvSpPr txBox="1"/>
          <p:nvPr/>
        </p:nvSpPr>
        <p:spPr>
          <a:xfrm>
            <a:off x="530352" y="804672"/>
            <a:ext cx="8138160" cy="566928"/>
          </a:xfrm>
          <a:prstGeom prst="rect">
            <a:avLst/>
          </a:prstGeom>
          <a:noFill/>
          <a:ln/>
        </p:spPr>
        <p:txBody>
          <a:bodyPr wrap="square" lIns="0" tIns="0" rIns="0" bIns="0" rtlCol="0" anchor="ctr"/>
          <a:lstStyle/>
          <a:p>
            <a:pPr indent="0" marL="0">
              <a:buNone/>
            </a:pPr>
            <a:r>
              <a:rPr lang="en-US" sz="3200" b="1" dirty="0">
                <a:solidFill>
                  <a:srgbClr val="171B22"/>
                </a:solidFill>
                <a:latin typeface="Calibri" pitchFamily="34" charset="0"/>
                <a:ea typeface="Calibri" pitchFamily="34" charset="-122"/>
                <a:cs typeface="Calibri" pitchFamily="34" charset="-120"/>
              </a:rPr>
              <a:t>Πώς γεννιέται στ' αλήθεια ένα λογισμικό</a:t>
            </a:r>
            <a:endParaRPr lang="en-US" sz="3200" dirty="0"/>
          </a:p>
        </p:txBody>
      </p:sp>
      <p:sp>
        <p:nvSpPr>
          <p:cNvPr id="6" name="Shape 4"/>
          <p:cNvSpPr/>
          <p:nvPr/>
        </p:nvSpPr>
        <p:spPr>
          <a:xfrm>
            <a:off x="484632" y="1463040"/>
            <a:ext cx="1874520" cy="1828800"/>
          </a:xfrm>
          <a:prstGeom prst="roundRect">
            <a:avLst>
              <a:gd name="adj" fmla="val 4000"/>
            </a:avLst>
          </a:prstGeom>
          <a:solidFill>
            <a:srgbClr val="F2F4F8"/>
          </a:solidFill>
          <a:ln w="12700">
            <a:solidFill>
              <a:srgbClr val="F2F4F8"/>
            </a:solidFill>
            <a:prstDash val="solid"/>
          </a:ln>
        </p:spPr>
      </p:sp>
      <p:sp>
        <p:nvSpPr>
          <p:cNvPr id="7" name="Shape 5"/>
          <p:cNvSpPr/>
          <p:nvPr/>
        </p:nvSpPr>
        <p:spPr>
          <a:xfrm>
            <a:off x="685800" y="1627632"/>
            <a:ext cx="384048" cy="384048"/>
          </a:xfrm>
          <a:prstGeom prst="ellipse">
            <a:avLst/>
          </a:prstGeom>
          <a:solidFill>
            <a:srgbClr val="FFB020"/>
          </a:solidFill>
          <a:ln/>
        </p:spPr>
      </p:sp>
      <p:sp>
        <p:nvSpPr>
          <p:cNvPr id="8" name="Text 6"/>
          <p:cNvSpPr txBox="1"/>
          <p:nvPr/>
        </p:nvSpPr>
        <p:spPr>
          <a:xfrm>
            <a:off x="685800" y="1627632"/>
            <a:ext cx="384048" cy="384048"/>
          </a:xfrm>
          <a:prstGeom prst="rect">
            <a:avLst/>
          </a:prstGeom>
          <a:noFill/>
          <a:ln/>
        </p:spPr>
        <p:txBody>
          <a:bodyPr wrap="square" lIns="0" tIns="0" rIns="0" bIns="0" rtlCol="0" anchor="ctr"/>
          <a:lstStyle/>
          <a:p>
            <a:pPr algn="ctr" indent="0" marL="0">
              <a:buNone/>
            </a:pPr>
            <a:r>
              <a:rPr lang="en-US" sz="1400" b="1" dirty="0">
                <a:solidFill>
                  <a:srgbClr val="12151C"/>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685800" y="2121408"/>
            <a:ext cx="1536192" cy="502920"/>
          </a:xfrm>
          <a:prstGeom prst="rect">
            <a:avLst/>
          </a:prstGeom>
          <a:noFill/>
          <a:ln/>
        </p:spPr>
        <p:txBody>
          <a:bodyPr wrap="square" lIns="0" tIns="0" rIns="0" bIns="0" rtlCol="0" anchor="ctr"/>
          <a:lstStyle/>
          <a:p>
            <a:pPr indent="0" marL="0">
              <a:buNone/>
            </a:pPr>
            <a:r>
              <a:rPr lang="en-US" sz="1350" b="1" dirty="0">
                <a:solidFill>
                  <a:srgbClr val="171B22"/>
                </a:solidFill>
                <a:latin typeface="Calibri" pitchFamily="34" charset="0"/>
                <a:ea typeface="Calibri" pitchFamily="34" charset="-122"/>
                <a:cs typeface="Calibri" pitchFamily="34" charset="-120"/>
              </a:rPr>
              <a:t>Ρόλοι &amp; ομάδα</a:t>
            </a:r>
            <a:endParaRPr lang="en-US" sz="1350" dirty="0"/>
          </a:p>
        </p:txBody>
      </p:sp>
      <p:sp>
        <p:nvSpPr>
          <p:cNvPr id="10" name="Text 8"/>
          <p:cNvSpPr txBox="1"/>
          <p:nvPr/>
        </p:nvSpPr>
        <p:spPr>
          <a:xfrm>
            <a:off x="685800" y="2606040"/>
            <a:ext cx="1536192" cy="621792"/>
          </a:xfrm>
          <a:prstGeom prst="rect">
            <a:avLst/>
          </a:prstGeom>
          <a:noFill/>
          <a:ln/>
        </p:spPr>
        <p:txBody>
          <a:bodyPr wrap="square" lIns="0" tIns="0" rIns="0" bIns="0" rtlCol="0" anchor="ctr"/>
          <a:lstStyle/>
          <a:p>
            <a:pPr indent="0" marL="0">
              <a:lnSpc>
                <a:spcPts val="1400"/>
              </a:lnSpc>
              <a:buNone/>
            </a:pPr>
            <a:r>
              <a:rPr lang="en-US" sz="1050" dirty="0">
                <a:solidFill>
                  <a:srgbClr val="6B7480"/>
                </a:solidFill>
                <a:latin typeface="Calibri" pitchFamily="34" charset="0"/>
                <a:ea typeface="Calibri" pitchFamily="34" charset="-122"/>
                <a:cs typeface="Calibri" pitchFamily="34" charset="-120"/>
              </a:rPr>
              <a:t>Ποιος κάνει τι — και ποιος απαντάει όταν κάτι σπάσει</a:t>
            </a:r>
            <a:endParaRPr lang="en-US" sz="1050" dirty="0"/>
          </a:p>
        </p:txBody>
      </p:sp>
      <p:sp>
        <p:nvSpPr>
          <p:cNvPr id="11" name="Shape 9"/>
          <p:cNvSpPr/>
          <p:nvPr/>
        </p:nvSpPr>
        <p:spPr>
          <a:xfrm>
            <a:off x="2587752" y="1463040"/>
            <a:ext cx="1874520" cy="1828800"/>
          </a:xfrm>
          <a:prstGeom prst="roundRect">
            <a:avLst>
              <a:gd name="adj" fmla="val 4000"/>
            </a:avLst>
          </a:prstGeom>
          <a:solidFill>
            <a:srgbClr val="F2F4F8"/>
          </a:solidFill>
          <a:ln w="12700">
            <a:solidFill>
              <a:srgbClr val="F2F4F8"/>
            </a:solidFill>
            <a:prstDash val="solid"/>
          </a:ln>
        </p:spPr>
      </p:sp>
      <p:sp>
        <p:nvSpPr>
          <p:cNvPr id="12" name="Shape 10"/>
          <p:cNvSpPr/>
          <p:nvPr/>
        </p:nvSpPr>
        <p:spPr>
          <a:xfrm>
            <a:off x="2788920" y="1627632"/>
            <a:ext cx="384048" cy="384048"/>
          </a:xfrm>
          <a:prstGeom prst="ellipse">
            <a:avLst/>
          </a:prstGeom>
          <a:solidFill>
            <a:srgbClr val="FFB020"/>
          </a:solidFill>
          <a:ln/>
        </p:spPr>
      </p:sp>
      <p:sp>
        <p:nvSpPr>
          <p:cNvPr id="13" name="Text 11"/>
          <p:cNvSpPr txBox="1"/>
          <p:nvPr/>
        </p:nvSpPr>
        <p:spPr>
          <a:xfrm>
            <a:off x="2788920" y="1627632"/>
            <a:ext cx="384048" cy="384048"/>
          </a:xfrm>
          <a:prstGeom prst="rect">
            <a:avLst/>
          </a:prstGeom>
          <a:noFill/>
          <a:ln/>
        </p:spPr>
        <p:txBody>
          <a:bodyPr wrap="square" lIns="0" tIns="0" rIns="0" bIns="0" rtlCol="0" anchor="ctr"/>
          <a:lstStyle/>
          <a:p>
            <a:pPr algn="ctr" indent="0" marL="0">
              <a:buNone/>
            </a:pPr>
            <a:r>
              <a:rPr lang="en-US" sz="1400" b="1" dirty="0">
                <a:solidFill>
                  <a:srgbClr val="12151C"/>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2788920" y="2121408"/>
            <a:ext cx="1536192" cy="502920"/>
          </a:xfrm>
          <a:prstGeom prst="rect">
            <a:avLst/>
          </a:prstGeom>
          <a:noFill/>
          <a:ln/>
        </p:spPr>
        <p:txBody>
          <a:bodyPr wrap="square" lIns="0" tIns="0" rIns="0" bIns="0" rtlCol="0" anchor="ctr"/>
          <a:lstStyle/>
          <a:p>
            <a:pPr indent="0" marL="0">
              <a:buNone/>
            </a:pPr>
            <a:r>
              <a:rPr lang="en-US" sz="1350" b="1" dirty="0">
                <a:solidFill>
                  <a:srgbClr val="171B22"/>
                </a:solidFill>
                <a:latin typeface="Calibri" pitchFamily="34" charset="0"/>
                <a:ea typeface="Calibri" pitchFamily="34" charset="-122"/>
                <a:cs typeface="Calibri" pitchFamily="34" charset="-120"/>
              </a:rPr>
              <a:t>Καταμερισμός</a:t>
            </a:r>
            <a:endParaRPr lang="en-US" sz="1350" dirty="0"/>
          </a:p>
        </p:txBody>
      </p:sp>
      <p:sp>
        <p:nvSpPr>
          <p:cNvPr id="15" name="Text 13"/>
          <p:cNvSpPr txBox="1"/>
          <p:nvPr/>
        </p:nvSpPr>
        <p:spPr>
          <a:xfrm>
            <a:off x="2788920" y="2606040"/>
            <a:ext cx="1536192" cy="621792"/>
          </a:xfrm>
          <a:prstGeom prst="rect">
            <a:avLst/>
          </a:prstGeom>
          <a:noFill/>
          <a:ln/>
        </p:spPr>
        <p:txBody>
          <a:bodyPr wrap="square" lIns="0" tIns="0" rIns="0" bIns="0" rtlCol="0" anchor="ctr"/>
          <a:lstStyle/>
          <a:p>
            <a:pPr indent="0" marL="0">
              <a:lnSpc>
                <a:spcPts val="1400"/>
              </a:lnSpc>
              <a:buNone/>
            </a:pPr>
            <a:r>
              <a:rPr lang="en-US" sz="1050" dirty="0">
                <a:solidFill>
                  <a:srgbClr val="6B7480"/>
                </a:solidFill>
                <a:latin typeface="Calibri" pitchFamily="34" charset="0"/>
                <a:ea typeface="Calibri" pitchFamily="34" charset="-122"/>
                <a:cs typeface="Calibri" pitchFamily="34" charset="-120"/>
              </a:rPr>
              <a:t>Το έργο σπάει σε εργασίες που χωράνε σε ανθρώπους</a:t>
            </a:r>
            <a:endParaRPr lang="en-US" sz="1050" dirty="0"/>
          </a:p>
        </p:txBody>
      </p:sp>
      <p:sp>
        <p:nvSpPr>
          <p:cNvPr id="16" name="Shape 14"/>
          <p:cNvSpPr/>
          <p:nvPr/>
        </p:nvSpPr>
        <p:spPr>
          <a:xfrm>
            <a:off x="4690872" y="1463040"/>
            <a:ext cx="1874520" cy="1828800"/>
          </a:xfrm>
          <a:prstGeom prst="roundRect">
            <a:avLst>
              <a:gd name="adj" fmla="val 4000"/>
            </a:avLst>
          </a:prstGeom>
          <a:solidFill>
            <a:srgbClr val="F2F4F8"/>
          </a:solidFill>
          <a:ln w="12700">
            <a:solidFill>
              <a:srgbClr val="F2F4F8"/>
            </a:solidFill>
            <a:prstDash val="solid"/>
          </a:ln>
        </p:spPr>
      </p:sp>
      <p:sp>
        <p:nvSpPr>
          <p:cNvPr id="17" name="Shape 15"/>
          <p:cNvSpPr/>
          <p:nvPr/>
        </p:nvSpPr>
        <p:spPr>
          <a:xfrm>
            <a:off x="4892040" y="1627632"/>
            <a:ext cx="384048" cy="384048"/>
          </a:xfrm>
          <a:prstGeom prst="ellipse">
            <a:avLst/>
          </a:prstGeom>
          <a:solidFill>
            <a:srgbClr val="FFB020"/>
          </a:solidFill>
          <a:ln/>
        </p:spPr>
      </p:sp>
      <p:sp>
        <p:nvSpPr>
          <p:cNvPr id="18" name="Text 16"/>
          <p:cNvSpPr txBox="1"/>
          <p:nvPr/>
        </p:nvSpPr>
        <p:spPr>
          <a:xfrm>
            <a:off x="4892040" y="1627632"/>
            <a:ext cx="384048" cy="384048"/>
          </a:xfrm>
          <a:prstGeom prst="rect">
            <a:avLst/>
          </a:prstGeom>
          <a:noFill/>
          <a:ln/>
        </p:spPr>
        <p:txBody>
          <a:bodyPr wrap="square" lIns="0" tIns="0" rIns="0" bIns="0" rtlCol="0" anchor="ctr"/>
          <a:lstStyle/>
          <a:p>
            <a:pPr algn="ctr" indent="0" marL="0">
              <a:buNone/>
            </a:pPr>
            <a:r>
              <a:rPr lang="en-US" sz="1400" b="1" dirty="0">
                <a:solidFill>
                  <a:srgbClr val="12151C"/>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4892040" y="2121408"/>
            <a:ext cx="1536192" cy="502920"/>
          </a:xfrm>
          <a:prstGeom prst="rect">
            <a:avLst/>
          </a:prstGeom>
          <a:noFill/>
          <a:ln/>
        </p:spPr>
        <p:txBody>
          <a:bodyPr wrap="square" lIns="0" tIns="0" rIns="0" bIns="0" rtlCol="0" anchor="ctr"/>
          <a:lstStyle/>
          <a:p>
            <a:pPr indent="0" marL="0">
              <a:buNone/>
            </a:pPr>
            <a:r>
              <a:rPr lang="en-US" sz="1350" b="1" dirty="0">
                <a:solidFill>
                  <a:srgbClr val="171B22"/>
                </a:solidFill>
                <a:latin typeface="Calibri" pitchFamily="34" charset="0"/>
                <a:ea typeface="Calibri" pitchFamily="34" charset="-122"/>
                <a:cs typeface="Calibri" pitchFamily="34" charset="-120"/>
              </a:rPr>
              <a:t>Χρονοδιάγραμμα</a:t>
            </a:r>
            <a:endParaRPr lang="en-US" sz="1350" dirty="0"/>
          </a:p>
        </p:txBody>
      </p:sp>
      <p:sp>
        <p:nvSpPr>
          <p:cNvPr id="20" name="Text 18"/>
          <p:cNvSpPr txBox="1"/>
          <p:nvPr/>
        </p:nvSpPr>
        <p:spPr>
          <a:xfrm>
            <a:off x="4892040" y="2606040"/>
            <a:ext cx="1536192" cy="621792"/>
          </a:xfrm>
          <a:prstGeom prst="rect">
            <a:avLst/>
          </a:prstGeom>
          <a:noFill/>
          <a:ln/>
        </p:spPr>
        <p:txBody>
          <a:bodyPr wrap="square" lIns="0" tIns="0" rIns="0" bIns="0" rtlCol="0" anchor="ctr"/>
          <a:lstStyle/>
          <a:p>
            <a:pPr indent="0" marL="0">
              <a:lnSpc>
                <a:spcPts val="1400"/>
              </a:lnSpc>
              <a:buNone/>
            </a:pPr>
            <a:r>
              <a:rPr lang="en-US" sz="1050" dirty="0">
                <a:solidFill>
                  <a:srgbClr val="6B7480"/>
                </a:solidFill>
                <a:latin typeface="Calibri" pitchFamily="34" charset="0"/>
                <a:ea typeface="Calibri" pitchFamily="34" charset="-122"/>
                <a:cs typeface="Calibri" pitchFamily="34" charset="-120"/>
              </a:rPr>
              <a:t>Τι γίνεται πότε, και τι περιμένει τι</a:t>
            </a:r>
            <a:endParaRPr lang="en-US" sz="1050" dirty="0"/>
          </a:p>
        </p:txBody>
      </p:sp>
      <p:sp>
        <p:nvSpPr>
          <p:cNvPr id="21" name="Shape 19"/>
          <p:cNvSpPr/>
          <p:nvPr/>
        </p:nvSpPr>
        <p:spPr>
          <a:xfrm>
            <a:off x="6793992" y="1463040"/>
            <a:ext cx="1874520" cy="1828800"/>
          </a:xfrm>
          <a:prstGeom prst="roundRect">
            <a:avLst>
              <a:gd name="adj" fmla="val 4000"/>
            </a:avLst>
          </a:prstGeom>
          <a:solidFill>
            <a:srgbClr val="F2F4F8"/>
          </a:solidFill>
          <a:ln w="12700">
            <a:solidFill>
              <a:srgbClr val="F2F4F8"/>
            </a:solidFill>
            <a:prstDash val="solid"/>
          </a:ln>
        </p:spPr>
      </p:sp>
      <p:sp>
        <p:nvSpPr>
          <p:cNvPr id="22" name="Shape 20"/>
          <p:cNvSpPr/>
          <p:nvPr/>
        </p:nvSpPr>
        <p:spPr>
          <a:xfrm>
            <a:off x="6995160" y="1627632"/>
            <a:ext cx="384048" cy="384048"/>
          </a:xfrm>
          <a:prstGeom prst="ellipse">
            <a:avLst/>
          </a:prstGeom>
          <a:solidFill>
            <a:srgbClr val="FFB020"/>
          </a:solidFill>
          <a:ln/>
        </p:spPr>
      </p:sp>
      <p:sp>
        <p:nvSpPr>
          <p:cNvPr id="23" name="Text 21"/>
          <p:cNvSpPr txBox="1"/>
          <p:nvPr/>
        </p:nvSpPr>
        <p:spPr>
          <a:xfrm>
            <a:off x="6995160" y="1627632"/>
            <a:ext cx="384048" cy="384048"/>
          </a:xfrm>
          <a:prstGeom prst="rect">
            <a:avLst/>
          </a:prstGeom>
          <a:noFill/>
          <a:ln/>
        </p:spPr>
        <p:txBody>
          <a:bodyPr wrap="square" lIns="0" tIns="0" rIns="0" bIns="0" rtlCol="0" anchor="ctr"/>
          <a:lstStyle/>
          <a:p>
            <a:pPr algn="ctr" indent="0" marL="0">
              <a:buNone/>
            </a:pPr>
            <a:r>
              <a:rPr lang="en-US" sz="1400" b="1" dirty="0">
                <a:solidFill>
                  <a:srgbClr val="12151C"/>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6995160" y="2121408"/>
            <a:ext cx="1536192" cy="502920"/>
          </a:xfrm>
          <a:prstGeom prst="rect">
            <a:avLst/>
          </a:prstGeom>
          <a:noFill/>
          <a:ln/>
        </p:spPr>
        <p:txBody>
          <a:bodyPr wrap="square" lIns="0" tIns="0" rIns="0" bIns="0" rtlCol="0" anchor="ctr"/>
          <a:lstStyle/>
          <a:p>
            <a:pPr indent="0" marL="0">
              <a:buNone/>
            </a:pPr>
            <a:r>
              <a:rPr lang="en-US" sz="1350" b="1" dirty="0">
                <a:solidFill>
                  <a:srgbClr val="171B22"/>
                </a:solidFill>
                <a:latin typeface="Calibri" pitchFamily="34" charset="0"/>
                <a:ea typeface="Calibri" pitchFamily="34" charset="-122"/>
                <a:cs typeface="Calibri" pitchFamily="34" charset="-120"/>
              </a:rPr>
              <a:t>Παρακολούθηση</a:t>
            </a:r>
            <a:endParaRPr lang="en-US" sz="1350" dirty="0"/>
          </a:p>
        </p:txBody>
      </p:sp>
      <p:sp>
        <p:nvSpPr>
          <p:cNvPr id="25" name="Text 23"/>
          <p:cNvSpPr txBox="1"/>
          <p:nvPr/>
        </p:nvSpPr>
        <p:spPr>
          <a:xfrm>
            <a:off x="6995160" y="2606040"/>
            <a:ext cx="1536192" cy="621792"/>
          </a:xfrm>
          <a:prstGeom prst="rect">
            <a:avLst/>
          </a:prstGeom>
          <a:noFill/>
          <a:ln/>
        </p:spPr>
        <p:txBody>
          <a:bodyPr wrap="square" lIns="0" tIns="0" rIns="0" bIns="0" rtlCol="0" anchor="ctr"/>
          <a:lstStyle/>
          <a:p>
            <a:pPr indent="0" marL="0">
              <a:lnSpc>
                <a:spcPts val="1400"/>
              </a:lnSpc>
              <a:buNone/>
            </a:pPr>
            <a:r>
              <a:rPr lang="en-US" sz="1050" dirty="0">
                <a:solidFill>
                  <a:srgbClr val="6B7480"/>
                </a:solidFill>
                <a:latin typeface="Calibri" pitchFamily="34" charset="0"/>
                <a:ea typeface="Calibri" pitchFamily="34" charset="-122"/>
                <a:cs typeface="Calibri" pitchFamily="34" charset="-120"/>
              </a:rPr>
              <a:t>Πάμε καλά ή χάσαμε τον έλεγχο;</a:t>
            </a:r>
            <a:endParaRPr lang="en-US" sz="1050" dirty="0"/>
          </a:p>
        </p:txBody>
      </p:sp>
      <p:sp>
        <p:nvSpPr>
          <p:cNvPr id="26" name="Shape 24"/>
          <p:cNvSpPr/>
          <p:nvPr/>
        </p:nvSpPr>
        <p:spPr>
          <a:xfrm>
            <a:off x="484632" y="3520440"/>
            <a:ext cx="8174736" cy="1005840"/>
          </a:xfrm>
          <a:prstGeom prst="roundRect">
            <a:avLst>
              <a:gd name="adj" fmla="val 7273"/>
            </a:avLst>
          </a:prstGeom>
          <a:solidFill>
            <a:srgbClr val="FFF5E3"/>
          </a:solidFill>
          <a:ln w="12700">
            <a:solidFill>
              <a:srgbClr val="FFF5E3"/>
            </a:solidFill>
            <a:prstDash val="solid"/>
          </a:ln>
        </p:spPr>
      </p:sp>
      <p:sp>
        <p:nvSpPr>
          <p:cNvPr id="27" name="Text 25"/>
          <p:cNvSpPr txBox="1"/>
          <p:nvPr/>
        </p:nvSpPr>
        <p:spPr>
          <a:xfrm>
            <a:off x="713232" y="3639312"/>
            <a:ext cx="7726680" cy="804672"/>
          </a:xfrm>
          <a:prstGeom prst="rect">
            <a:avLst/>
          </a:prstGeom>
          <a:noFill/>
          <a:ln/>
        </p:spPr>
        <p:txBody>
          <a:bodyPr wrap="square" lIns="0" tIns="0" rIns="0" bIns="0" rtlCol="0" anchor="ctr"/>
          <a:lstStyle/>
          <a:p>
            <a:pPr indent="0" marL="0">
              <a:lnSpc>
                <a:spcPts val="1600"/>
              </a:lnSpc>
              <a:buNone/>
            </a:pPr>
            <a:r>
              <a:rPr lang="en-US" sz="1150" b="1" dirty="0">
                <a:solidFill>
                  <a:srgbClr val="9A6300"/>
                </a:solidFill>
                <a:latin typeface="Calibri" pitchFamily="34" charset="0"/>
                <a:ea typeface="Calibri" pitchFamily="34" charset="-122"/>
                <a:cs typeface="Calibri" pitchFamily="34" charset="-120"/>
              </a:rPr>
              <a:t>Τα εργαλεία που θα δουλέψουμε</a:t>
            </a:r>
            <a:endParaRPr lang="en-US" sz="1150" dirty="0"/>
          </a:p>
          <a:p>
            <a:pPr indent="0" marL="0">
              <a:lnSpc>
                <a:spcPts val="1600"/>
              </a:lnSpc>
              <a:buNone/>
            </a:pPr>
            <a:r>
              <a:rPr lang="en-US" sz="1150" dirty="0">
                <a:solidFill>
                  <a:srgbClr val="171B22"/>
                </a:solidFill>
                <a:latin typeface="Calibri" pitchFamily="34" charset="0"/>
                <a:ea typeface="Calibri" pitchFamily="34" charset="-122"/>
                <a:cs typeface="Calibri" pitchFamily="34" charset="-120"/>
              </a:rPr>
              <a:t>Κοινός χώρος αρχείων στο Διαδίκτυο με συγχρονισμό · συνεργατικά έγγραφα, υπολογιστικά φύλλα και παρουσιάσεις · μηνύματα και βιντεοκλήσεις. Ακριβώς αυτά που χρησιμοποιεί μια εταιρεία λογισμικού σήμερα — κι αυτά θα χρησιμοποιήσουμε για το δικό μας project.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51C"/>
        </a:solidFill>
      </p:bgPr>
    </p:bg>
    <p:spTree>
      <p:nvGrpSpPr>
        <p:cNvPr id="1" name=""/>
        <p:cNvGrpSpPr/>
        <p:nvPr/>
      </p:nvGrpSpPr>
      <p:grpSpPr>
        <a:xfrm>
          <a:off x="0" y="0"/>
          <a:ext cx="0" cy="0"/>
          <a:chOff x="0" y="0"/>
          <a:chExt cx="0" cy="0"/>
        </a:xfrm>
      </p:grpSpPr>
      <p:sp>
        <p:nvSpPr>
          <p:cNvPr id="2" name="Text 0"/>
          <p:cNvSpPr txBox="1"/>
          <p:nvPr/>
        </p:nvSpPr>
        <p:spPr>
          <a:xfrm>
            <a:off x="530352" y="566928"/>
            <a:ext cx="813816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Τον Ιούνιο θα έχεις στα χέρια σου</a:t>
            </a:r>
            <a:endParaRPr lang="en-US" sz="3200" dirty="0"/>
          </a:p>
        </p:txBody>
      </p:sp>
      <p:sp>
        <p:nvSpPr>
          <p:cNvPr id="3" name="Shape 1"/>
          <p:cNvSpPr/>
          <p:nvPr/>
        </p:nvSpPr>
        <p:spPr>
          <a:xfrm>
            <a:off x="548640" y="1463040"/>
            <a:ext cx="2423160" cy="1828800"/>
          </a:xfrm>
          <a:prstGeom prst="roundRect">
            <a:avLst>
              <a:gd name="adj" fmla="val 4000"/>
            </a:avLst>
          </a:prstGeom>
          <a:solidFill>
            <a:srgbClr val="1D222C"/>
          </a:solidFill>
          <a:ln w="12700">
            <a:solidFill>
              <a:srgbClr val="1D222C"/>
            </a:solidFill>
            <a:prstDash val="solid"/>
          </a:ln>
        </p:spPr>
      </p:sp>
      <p:sp>
        <p:nvSpPr>
          <p:cNvPr id="4" name="Text 2"/>
          <p:cNvSpPr txBox="1"/>
          <p:nvPr/>
        </p:nvSpPr>
        <p:spPr>
          <a:xfrm>
            <a:off x="768096" y="1609344"/>
            <a:ext cx="914400" cy="411480"/>
          </a:xfrm>
          <a:prstGeom prst="rect">
            <a:avLst/>
          </a:prstGeom>
          <a:noFill/>
          <a:ln/>
        </p:spPr>
        <p:txBody>
          <a:bodyPr wrap="square" lIns="0" tIns="0" rIns="0" bIns="0" rtlCol="0" anchor="ctr"/>
          <a:lstStyle/>
          <a:p>
            <a:pPr indent="0" marL="0">
              <a:buNone/>
            </a:pPr>
            <a:r>
              <a:rPr lang="en-US" sz="1700" b="1" dirty="0">
                <a:solidFill>
                  <a:srgbClr val="00D68F"/>
                </a:solidFill>
                <a:latin typeface="Courier New" pitchFamily="34" charset="0"/>
                <a:ea typeface="Courier New" pitchFamily="34" charset="-122"/>
                <a:cs typeface="Courier New" pitchFamily="34" charset="-120"/>
              </a:rPr>
              <a:t>01</a:t>
            </a:r>
            <a:endParaRPr lang="en-US" sz="1700" dirty="0"/>
          </a:p>
        </p:txBody>
      </p:sp>
      <p:sp>
        <p:nvSpPr>
          <p:cNvPr id="5" name="Text 3"/>
          <p:cNvSpPr txBox="1"/>
          <p:nvPr/>
        </p:nvSpPr>
        <p:spPr>
          <a:xfrm>
            <a:off x="768096" y="2084832"/>
            <a:ext cx="2011680" cy="3200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Προγράμματα</a:t>
            </a:r>
            <a:endParaRPr lang="en-US" sz="1550" dirty="0"/>
          </a:p>
        </p:txBody>
      </p:sp>
      <p:sp>
        <p:nvSpPr>
          <p:cNvPr id="6" name="Text 4"/>
          <p:cNvSpPr txBox="1"/>
          <p:nvPr/>
        </p:nvSpPr>
        <p:spPr>
          <a:xfrm>
            <a:off x="768096" y="2450592"/>
            <a:ext cx="2011680" cy="731520"/>
          </a:xfrm>
          <a:prstGeom prst="rect">
            <a:avLst/>
          </a:prstGeom>
          <a:noFill/>
          <a:ln/>
        </p:spPr>
        <p:txBody>
          <a:bodyPr wrap="square" lIns="0" tIns="0" rIns="0" bIns="0" rtlCol="0" anchor="ctr"/>
          <a:lstStyle/>
          <a:p>
            <a:pPr indent="0" marL="0">
              <a:lnSpc>
                <a:spcPts val="1600"/>
              </a:lnSpc>
              <a:buNone/>
            </a:pPr>
            <a:r>
              <a:rPr lang="en-US" sz="1150" dirty="0">
                <a:solidFill>
                  <a:srgbClr val="8F9AAA"/>
                </a:solidFill>
                <a:latin typeface="Calibri" pitchFamily="34" charset="0"/>
                <a:ea typeface="Calibri" pitchFamily="34" charset="-122"/>
                <a:cs typeface="Calibri" pitchFamily="34" charset="-120"/>
              </a:rPr>
              <a:t>Δικά σου, γραμμένα σε Python, που τρέχουν και λύνουν κάτι</a:t>
            </a:r>
            <a:endParaRPr lang="en-US" sz="1150" dirty="0"/>
          </a:p>
        </p:txBody>
      </p:sp>
      <p:sp>
        <p:nvSpPr>
          <p:cNvPr id="7" name="Shape 5"/>
          <p:cNvSpPr/>
          <p:nvPr/>
        </p:nvSpPr>
        <p:spPr>
          <a:xfrm>
            <a:off x="3291840" y="1463040"/>
            <a:ext cx="2423160" cy="1828800"/>
          </a:xfrm>
          <a:prstGeom prst="roundRect">
            <a:avLst>
              <a:gd name="adj" fmla="val 4000"/>
            </a:avLst>
          </a:prstGeom>
          <a:solidFill>
            <a:srgbClr val="1D222C"/>
          </a:solidFill>
          <a:ln w="12700">
            <a:solidFill>
              <a:srgbClr val="1D222C"/>
            </a:solidFill>
            <a:prstDash val="solid"/>
          </a:ln>
        </p:spPr>
      </p:sp>
      <p:sp>
        <p:nvSpPr>
          <p:cNvPr id="8" name="Text 6"/>
          <p:cNvSpPr txBox="1"/>
          <p:nvPr/>
        </p:nvSpPr>
        <p:spPr>
          <a:xfrm>
            <a:off x="3511296" y="1609344"/>
            <a:ext cx="914400" cy="411480"/>
          </a:xfrm>
          <a:prstGeom prst="rect">
            <a:avLst/>
          </a:prstGeom>
          <a:noFill/>
          <a:ln/>
        </p:spPr>
        <p:txBody>
          <a:bodyPr wrap="square" lIns="0" tIns="0" rIns="0" bIns="0" rtlCol="0" anchor="ctr"/>
          <a:lstStyle/>
          <a:p>
            <a:pPr indent="0" marL="0">
              <a:buNone/>
            </a:pPr>
            <a:r>
              <a:rPr lang="en-US" sz="1700" b="1" dirty="0">
                <a:solidFill>
                  <a:srgbClr val="A78BFA"/>
                </a:solidFill>
                <a:latin typeface="Courier New" pitchFamily="34" charset="0"/>
                <a:ea typeface="Courier New" pitchFamily="34" charset="-122"/>
                <a:cs typeface="Courier New" pitchFamily="34" charset="-120"/>
              </a:rPr>
              <a:t>02</a:t>
            </a:r>
            <a:endParaRPr lang="en-US" sz="1700" dirty="0"/>
          </a:p>
        </p:txBody>
      </p:sp>
      <p:sp>
        <p:nvSpPr>
          <p:cNvPr id="9" name="Text 7"/>
          <p:cNvSpPr txBox="1"/>
          <p:nvPr/>
        </p:nvSpPr>
        <p:spPr>
          <a:xfrm>
            <a:off x="3511296" y="2084832"/>
            <a:ext cx="2011680" cy="3200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Έναν ιστότοπο</a:t>
            </a:r>
            <a:endParaRPr lang="en-US" sz="1550" dirty="0"/>
          </a:p>
        </p:txBody>
      </p:sp>
      <p:sp>
        <p:nvSpPr>
          <p:cNvPr id="10" name="Text 8"/>
          <p:cNvSpPr txBox="1"/>
          <p:nvPr/>
        </p:nvSpPr>
        <p:spPr>
          <a:xfrm>
            <a:off x="3511296" y="2450592"/>
            <a:ext cx="2011680" cy="731520"/>
          </a:xfrm>
          <a:prstGeom prst="rect">
            <a:avLst/>
          </a:prstGeom>
          <a:noFill/>
          <a:ln/>
        </p:spPr>
        <p:txBody>
          <a:bodyPr wrap="square" lIns="0" tIns="0" rIns="0" bIns="0" rtlCol="0" anchor="ctr"/>
          <a:lstStyle/>
          <a:p>
            <a:pPr indent="0" marL="0">
              <a:lnSpc>
                <a:spcPts val="1600"/>
              </a:lnSpc>
              <a:buNone/>
            </a:pPr>
            <a:r>
              <a:rPr lang="en-US" sz="1150" dirty="0">
                <a:solidFill>
                  <a:srgbClr val="8F9AAA"/>
                </a:solidFill>
                <a:latin typeface="Calibri" pitchFamily="34" charset="0"/>
                <a:ea typeface="Calibri" pitchFamily="34" charset="-122"/>
                <a:cs typeface="Calibri" pitchFamily="34" charset="-120"/>
              </a:rPr>
              <a:t>Ζωντανό στο Διαδίκτυο, με το όνομά σου από κάτω</a:t>
            </a:r>
            <a:endParaRPr lang="en-US" sz="1150" dirty="0"/>
          </a:p>
        </p:txBody>
      </p:sp>
      <p:sp>
        <p:nvSpPr>
          <p:cNvPr id="11" name="Shape 9"/>
          <p:cNvSpPr/>
          <p:nvPr/>
        </p:nvSpPr>
        <p:spPr>
          <a:xfrm>
            <a:off x="6035040" y="1463040"/>
            <a:ext cx="2423160" cy="1828800"/>
          </a:xfrm>
          <a:prstGeom prst="roundRect">
            <a:avLst>
              <a:gd name="adj" fmla="val 4000"/>
            </a:avLst>
          </a:prstGeom>
          <a:solidFill>
            <a:srgbClr val="1D222C"/>
          </a:solidFill>
          <a:ln w="12700">
            <a:solidFill>
              <a:srgbClr val="1D222C"/>
            </a:solidFill>
            <a:prstDash val="solid"/>
          </a:ln>
        </p:spPr>
      </p:sp>
      <p:sp>
        <p:nvSpPr>
          <p:cNvPr id="12" name="Text 10"/>
          <p:cNvSpPr txBox="1"/>
          <p:nvPr/>
        </p:nvSpPr>
        <p:spPr>
          <a:xfrm>
            <a:off x="6254496" y="1609344"/>
            <a:ext cx="914400" cy="411480"/>
          </a:xfrm>
          <a:prstGeom prst="rect">
            <a:avLst/>
          </a:prstGeom>
          <a:noFill/>
          <a:ln/>
        </p:spPr>
        <p:txBody>
          <a:bodyPr wrap="square" lIns="0" tIns="0" rIns="0" bIns="0" rtlCol="0" anchor="ctr"/>
          <a:lstStyle/>
          <a:p>
            <a:pPr indent="0" marL="0">
              <a:buNone/>
            </a:pPr>
            <a:r>
              <a:rPr lang="en-US" sz="1700" b="1" dirty="0">
                <a:solidFill>
                  <a:srgbClr val="FFB020"/>
                </a:solidFill>
                <a:latin typeface="Courier New" pitchFamily="34" charset="0"/>
                <a:ea typeface="Courier New" pitchFamily="34" charset="-122"/>
                <a:cs typeface="Courier New" pitchFamily="34" charset="-120"/>
              </a:rPr>
              <a:t>03</a:t>
            </a:r>
            <a:endParaRPr lang="en-US" sz="1700" dirty="0"/>
          </a:p>
        </p:txBody>
      </p:sp>
      <p:sp>
        <p:nvSpPr>
          <p:cNvPr id="13" name="Text 11"/>
          <p:cNvSpPr txBox="1"/>
          <p:nvPr/>
        </p:nvSpPr>
        <p:spPr>
          <a:xfrm>
            <a:off x="6254496" y="2084832"/>
            <a:ext cx="2011680" cy="3200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Ένα ομαδικό project</a:t>
            </a:r>
            <a:endParaRPr lang="en-US" sz="1550" dirty="0"/>
          </a:p>
        </p:txBody>
      </p:sp>
      <p:sp>
        <p:nvSpPr>
          <p:cNvPr id="14" name="Text 12"/>
          <p:cNvSpPr txBox="1"/>
          <p:nvPr/>
        </p:nvSpPr>
        <p:spPr>
          <a:xfrm>
            <a:off x="6254496" y="2450592"/>
            <a:ext cx="2011680" cy="731520"/>
          </a:xfrm>
          <a:prstGeom prst="rect">
            <a:avLst/>
          </a:prstGeom>
          <a:noFill/>
          <a:ln/>
        </p:spPr>
        <p:txBody>
          <a:bodyPr wrap="square" lIns="0" tIns="0" rIns="0" bIns="0" rtlCol="0" anchor="ctr"/>
          <a:lstStyle/>
          <a:p>
            <a:pPr indent="0" marL="0">
              <a:lnSpc>
                <a:spcPts val="1600"/>
              </a:lnSpc>
              <a:buNone/>
            </a:pPr>
            <a:r>
              <a:rPr lang="en-US" sz="1150" dirty="0">
                <a:solidFill>
                  <a:srgbClr val="8F9AAA"/>
                </a:solidFill>
                <a:latin typeface="Calibri" pitchFamily="34" charset="0"/>
                <a:ea typeface="Calibri" pitchFamily="34" charset="-122"/>
                <a:cs typeface="Calibri" pitchFamily="34" charset="-120"/>
              </a:rPr>
              <a:t>Από την πρώτη ιδέα μέχρι την παράδοση</a:t>
            </a:r>
            <a:endParaRPr lang="en-US" sz="1150" dirty="0"/>
          </a:p>
        </p:txBody>
      </p:sp>
      <p:sp>
        <p:nvSpPr>
          <p:cNvPr id="15" name="Text 13"/>
          <p:cNvSpPr txBox="1"/>
          <p:nvPr/>
        </p:nvSpPr>
        <p:spPr>
          <a:xfrm>
            <a:off x="566928" y="3657600"/>
            <a:ext cx="8046720" cy="731520"/>
          </a:xfrm>
          <a:prstGeom prst="rect">
            <a:avLst/>
          </a:prstGeom>
          <a:noFill/>
          <a:ln/>
        </p:spPr>
        <p:txBody>
          <a:bodyPr wrap="square" lIns="0" tIns="0" rIns="0" bIns="0" rtlCol="0" anchor="ctr"/>
          <a:lstStyle/>
          <a:p>
            <a:pPr indent="0" marL="0">
              <a:lnSpc>
                <a:spcPts val="1900"/>
              </a:lnSpc>
              <a:buNone/>
            </a:pPr>
            <a:r>
              <a:rPr lang="en-US" sz="1300" b="1" dirty="0">
                <a:solidFill>
                  <a:srgbClr val="00D68F"/>
                </a:solidFill>
                <a:latin typeface="Calibri" pitchFamily="34" charset="0"/>
                <a:ea typeface="Calibri" pitchFamily="34" charset="-122"/>
                <a:cs typeface="Calibri" pitchFamily="34" charset="-120"/>
              </a:rPr>
              <a:t>Και κάτι που δεν φαίνεται πουθενά:  </a:t>
            </a:r>
            <a:pPr indent="0" marL="0">
              <a:lnSpc>
                <a:spcPts val="1900"/>
              </a:lnSpc>
              <a:buNone/>
            </a:pPr>
            <a:r>
              <a:rPr lang="en-US" sz="1300" dirty="0">
                <a:solidFill>
                  <a:srgbClr val="C9D2DE"/>
                </a:solidFill>
                <a:latin typeface="Calibri" pitchFamily="34" charset="0"/>
                <a:ea typeface="Calibri" pitchFamily="34" charset="-122"/>
                <a:cs typeface="Calibri" pitchFamily="34" charset="-120"/>
              </a:rPr>
              <a:t>τον τρόπο να σπας οποιοδήποτε πρόβλημα σε βήματα που εκτελούνται. Αυτό δουλεύει και έξω από τον υπολογιστή.</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51C"/>
        </a:solidFill>
      </p:bgPr>
    </p:bg>
    <p:spTree>
      <p:nvGrpSpPr>
        <p:cNvPr id="1" name=""/>
        <p:cNvGrpSpPr/>
        <p:nvPr/>
      </p:nvGrpSpPr>
      <p:grpSpPr>
        <a:xfrm>
          <a:off x="0" y="0"/>
          <a:ext cx="0" cy="0"/>
          <a:chOff x="0" y="0"/>
          <a:chExt cx="0" cy="0"/>
        </a:xfrm>
      </p:grpSpPr>
      <p:sp>
        <p:nvSpPr>
          <p:cNvPr id="2" name="Text 0"/>
          <p:cNvSpPr txBox="1"/>
          <p:nvPr/>
        </p:nvSpPr>
        <p:spPr>
          <a:xfrm>
            <a:off x="548640" y="566928"/>
            <a:ext cx="3657600" cy="274320"/>
          </a:xfrm>
          <a:prstGeom prst="rect">
            <a:avLst/>
          </a:prstGeom>
          <a:noFill/>
          <a:ln/>
        </p:spPr>
        <p:txBody>
          <a:bodyPr wrap="square" lIns="0" tIns="0" rIns="0" bIns="0" rtlCol="0" anchor="ctr"/>
          <a:lstStyle/>
          <a:p>
            <a:pPr indent="0" marL="0">
              <a:buNone/>
            </a:pPr>
            <a:r>
              <a:rPr lang="en-US" sz="1050" b="1" spc="200" kern="0" dirty="0">
                <a:solidFill>
                  <a:srgbClr val="00D68F"/>
                </a:solidFill>
                <a:latin typeface="Courier New" pitchFamily="34" charset="0"/>
                <a:ea typeface="Courier New" pitchFamily="34" charset="-122"/>
                <a:cs typeface="Courier New" pitchFamily="34" charset="-120"/>
              </a:rPr>
              <a:t>ΤΩΡΑ</a:t>
            </a:r>
            <a:endParaRPr lang="en-US" sz="1050" dirty="0"/>
          </a:p>
        </p:txBody>
      </p:sp>
      <p:sp>
        <p:nvSpPr>
          <p:cNvPr id="3" name="Text 1"/>
          <p:cNvSpPr txBox="1"/>
          <p:nvPr/>
        </p:nvSpPr>
        <p:spPr>
          <a:xfrm>
            <a:off x="530352" y="932688"/>
            <a:ext cx="8138160" cy="5943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Η πρώτη σου αποστολή</a:t>
            </a:r>
            <a:endParaRPr lang="en-US" sz="3400" dirty="0"/>
          </a:p>
        </p:txBody>
      </p:sp>
      <p:sp>
        <p:nvSpPr>
          <p:cNvPr id="4" name="Shape 2"/>
          <p:cNvSpPr/>
          <p:nvPr/>
        </p:nvSpPr>
        <p:spPr>
          <a:xfrm>
            <a:off x="548640" y="1783080"/>
            <a:ext cx="8092440" cy="1737360"/>
          </a:xfrm>
          <a:prstGeom prst="roundRect">
            <a:avLst>
              <a:gd name="adj" fmla="val 4211"/>
            </a:avLst>
          </a:prstGeom>
          <a:solidFill>
            <a:srgbClr val="1D222C"/>
          </a:solidFill>
          <a:ln w="12700">
            <a:solidFill>
              <a:srgbClr val="1D222C"/>
            </a:solidFill>
            <a:prstDash val="solid"/>
          </a:ln>
        </p:spPr>
      </p:sp>
      <p:sp>
        <p:nvSpPr>
          <p:cNvPr id="5" name="Text 3"/>
          <p:cNvSpPr txBox="1"/>
          <p:nvPr/>
        </p:nvSpPr>
        <p:spPr>
          <a:xfrm>
            <a:off x="822960" y="2011680"/>
            <a:ext cx="7543800" cy="457200"/>
          </a:xfrm>
          <a:prstGeom prst="rect">
            <a:avLst/>
          </a:prstGeom>
          <a:noFill/>
          <a:ln/>
        </p:spPr>
        <p:txBody>
          <a:bodyPr wrap="square" lIns="0" tIns="0" rIns="0" bIns="0" rtlCol="0" anchor="ctr"/>
          <a:lstStyle/>
          <a:p>
            <a:pPr indent="0" marL="0">
              <a:buNone/>
            </a:pPr>
            <a:r>
              <a:rPr lang="en-US" sz="1900" b="1" dirty="0">
                <a:solidFill>
                  <a:srgbClr val="00D68F"/>
                </a:solidFill>
                <a:latin typeface="Calibri" pitchFamily="34" charset="0"/>
                <a:ea typeface="Calibri" pitchFamily="34" charset="-122"/>
                <a:cs typeface="Calibri" pitchFamily="34" charset="-120"/>
              </a:rPr>
              <a:t>Άνοιξε το κινητό σου. Διάλεξε μία εφαρμογή που χρησιμοποιείς κάθε μέρα.</a:t>
            </a:r>
            <a:endParaRPr lang="en-US" sz="1900" dirty="0"/>
          </a:p>
        </p:txBody>
      </p:sp>
      <p:sp>
        <p:nvSpPr>
          <p:cNvPr id="6" name="Text 4"/>
          <p:cNvSpPr txBox="1"/>
          <p:nvPr/>
        </p:nvSpPr>
        <p:spPr>
          <a:xfrm>
            <a:off x="822960" y="2542032"/>
            <a:ext cx="7543800" cy="822960"/>
          </a:xfrm>
          <a:prstGeom prst="rect">
            <a:avLst/>
          </a:prstGeom>
          <a:noFill/>
          <a:ln/>
        </p:spPr>
        <p:txBody>
          <a:bodyPr wrap="square" lIns="0" tIns="0" rIns="0" bIns="0" rtlCol="0" anchor="ctr"/>
          <a:lstStyle/>
          <a:p>
            <a:pPr indent="0" marL="0">
              <a:lnSpc>
                <a:spcPts val="2200"/>
              </a:lnSpc>
              <a:buNone/>
            </a:pPr>
            <a:r>
              <a:rPr lang="en-US" sz="1400" dirty="0">
                <a:solidFill>
                  <a:srgbClr val="C9D2DE"/>
                </a:solidFill>
                <a:latin typeface="Calibri" pitchFamily="34" charset="0"/>
                <a:ea typeface="Calibri" pitchFamily="34" charset="-122"/>
                <a:cs typeface="Calibri" pitchFamily="34" charset="-120"/>
              </a:rPr>
              <a:t>Την επόμενη φορά πες μου ένα πράγμα που θα της άλλαζες. Θα βρούμε μαζί σε ποιο ακριβώς κεφάλαιο αυτού του βιβλίου κρύβεται εκείνο που χρειάζεσαι για να το κάνεις μόνος σου.</a:t>
            </a:r>
            <a:endParaRPr lang="en-US" sz="1400" dirty="0"/>
          </a:p>
        </p:txBody>
      </p:sp>
      <p:sp>
        <p:nvSpPr>
          <p:cNvPr id="7" name="Text 5"/>
          <p:cNvSpPr txBox="1"/>
          <p:nvPr/>
        </p:nvSpPr>
        <p:spPr>
          <a:xfrm>
            <a:off x="566928" y="3931920"/>
            <a:ext cx="4572000" cy="365760"/>
          </a:xfrm>
          <a:prstGeom prst="rect">
            <a:avLst/>
          </a:prstGeom>
          <a:noFill/>
          <a:ln/>
        </p:spPr>
        <p:txBody>
          <a:bodyPr wrap="square" lIns="0" tIns="0" rIns="0" bIns="0" rtlCol="0" anchor="ctr"/>
          <a:lstStyle/>
          <a:p>
            <a:pPr indent="0" marL="0">
              <a:buNone/>
            </a:pPr>
            <a:r>
              <a:rPr lang="en-US" sz="1500" b="1" dirty="0">
                <a:solidFill>
                  <a:srgbClr val="00D68F"/>
                </a:solidFill>
                <a:latin typeface="Courier New" pitchFamily="34" charset="0"/>
                <a:ea typeface="Courier New" pitchFamily="34" charset="-122"/>
                <a:cs typeface="Courier New" pitchFamily="34" charset="-120"/>
              </a:rPr>
              <a:t>&gt;&gt;&gt; Καλή αρχή.</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Εισαγωγή στις Αρχές της Επιστήμης των Η/Υ</dc:title>
  <dc:subject>PptxGenJS Presentation</dc:subject>
  <dc:creator>Chris</dc:creator>
  <cp:lastModifiedBy>Chris</cp:lastModifiedBy>
  <cp:revision>1</cp:revision>
  <dcterms:created xsi:type="dcterms:W3CDTF">2026-09-14T13:13:55Z</dcterms:created>
  <dcterms:modified xsi:type="dcterms:W3CDTF">2026-09-14T13:13:55Z</dcterms:modified>
</cp:coreProperties>
</file>