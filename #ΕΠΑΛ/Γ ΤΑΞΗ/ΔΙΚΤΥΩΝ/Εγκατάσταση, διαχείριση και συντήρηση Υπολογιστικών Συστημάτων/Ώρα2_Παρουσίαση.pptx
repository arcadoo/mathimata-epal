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Σύντομη σύνδεση με την προηγούμενη ώρα: ξέρουμε τον χώρο και τα εργαλεία – τώρα μαθαίνουμε να δουλεύουμε με ασφάλεια για εμάς, για τον εξοπλισμό και για τον χώρο.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Αφόρμηση (3-5 λεπτά). Σχεδόν όλοι οι ενήλικες το έχουν ζήσει. Ρωτήστε πότε συμβαίνει πιο συχνά (ξηρός καιρός, μοκέτα, συνθετικά ρούχα).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Στόχοι ενότητας 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 «χάρτης» της ώρας: 1.2.1, 1.2.2, 1.2.3.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1.2.1. Επίσης: πυροσβεστήρας και σχέδιο εκκένωσης, κουτί πρώτων βοηθειών. Αν σηκώνουμε κάτι πολύ βαρύ, ζητάμε βοήθεια.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πιο σημαντικό μήνυμα της ώρας για την προσωπική ασφάλεια. Ένα χαλασμένο τροφοδοτικό αντικαθίσταται, δεν επισκευάζεται στον πάγκο.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1.2.2.1. Η τριβή είναι η πιο συνηθισμένη αιτία στην καθημερινότητα.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1.2.2.2. Τα νούμερα είναι ενδεικτικά (συνήθεις τιμές από τη βιβλιογραφία ESD) – το βασικό μήνυμα είναι ότι η ζημιά γίνεται σε τάσεις που δεν αντιλαμβανόμαστε. Η καθυστερημένη βλάβη (latent failure) είναι θέμα για το επίπεδο 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1.2.2.2. Το «κρατάμε από τις άκρες» είναι καλή πρακτική που συμπληρώνει το βιβλίο. Αν υπάρχει αντιστατικό βραχιόλι στο εργαστήριο, δείξτε πού μπαίνει το κλιπ.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1.2.2.3. Οι τύποι UPS δεν είναι στο βιβλίο – είναι επέκταση για όσους θα κάνουν τον υπολογιστή UPS (επίπεδο Γ). Τονίστε: ο εκτυπωτής laser δεν συνδέεται σε 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1.2.3 (πυρασφάλεια, σεισμός, διαχείριση αποβλήτων). Συμπληρώστε με ό,τι ισχύει στο σχολείο: πού είναι ο πυροσβεστήρας, ποια είναι η οδός διαφυγής, πού είναι το σημείο συγκέντρωσης. Στην Ελλάδα: ανακύκλωση ηλεκτρικών συσκευών (Ανακύκλωση Συσκευών) και μπαταριών (ΑΦΗΣ) – θα το ψάξουν στο φύλλο εργασίας.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λεπτά. Όπως και στην 1η ώρα: βοηθήστε πρώτα όσους δυσκολεύονται.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Ολοκλήρωση Κεφαλαίου 1. Επόμενο κεφάλαιο: το υλικό των επιτραπέζιων υπολογιστών.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8915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1 · 2η ΔΙΔΑΚΤΙΚΗ ΩΡΑ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Μέτρα ασφαλείας υγείας,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εξοπλισμού και χώρου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0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Εγκατάσταση, Διαχείριση και Συντήρηση Υπολογιστικών Συστημάτων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C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097280" cy="109728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2024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Ας ξεκινήσουμε με μια ερώτηση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137160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Σας έχει «τινάξει» ποτέ η πόρτα του αυτοκινήτου ή ένα πόμολο, χωρίς να υπάρχει ρεύμα;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2918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 είναι στατικός ηλεκτρισμός. </a:t>
            </a:r>
            <a:pPr indent="0" marL="0">
              <a:buNone/>
            </a:pPr>
            <a:r>
              <a:rPr lang="en-US" sz="18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Εμάς απλώς μας ενοχλεί. Ένα τσιπ μνήμης ή έναν επεξεργαστή μπορεί να τον καταστρέψει.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1.2 · Μέτρα ασφαλείας υγείας, εξοπλισμού και χώρου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Στόχοι: τι θα μπορείτε να κάνετε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77240" cy="77724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47447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280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απαριθμείτε τα μέτρα ασφαλείας στο εργαστήριο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777240" cy="77724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2571750"/>
            <a:ext cx="388620" cy="3886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αναγνωρίζετε τους κινδύνους στον χώρο εργασίας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3474720"/>
            <a:ext cx="777240" cy="77724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669030"/>
            <a:ext cx="388620" cy="3886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45920" y="34747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προστατεύετε τον εξοπλισμό από στατικό ηλεκτρισμό και διακοπές ρεύματος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1.2 · Μέτρα ασφαλείας υγείας, εξοπλισμού και χώρου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Τρία είδη ασφάλειας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1463040"/>
            <a:ext cx="868680" cy="86868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168021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Υγείας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063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Προστατεύουμε τον εαυτό μας: ηλεκτροπληξία, κοψίματα, εγκαύματα, τραυματισμοί.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46120" y="12344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0" y="1463040"/>
            <a:ext cx="868680" cy="86868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970" y="168021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Εξοπλισμού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3063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Προστατεύουμε τα εξαρτήματα: στατικός ηλεκτρισμός, διακοπές και υπερτάσεις ρεύματος.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035040" y="12344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03720" y="1463040"/>
            <a:ext cx="868680" cy="86868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890" y="168021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Χώρου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3063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Προστατεύουμε όλους: φωτιά, σεισμός, σωστή διαχείριση αποβλήτων.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1.2 · Μέτρα ασφαλείας υγείας, εξοπλισμού και χώρου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Ασφάλεια υγείας: οι κανόνες του πάγκου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3487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88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Βγάζω ρολόι, κοσμήματα, φαρδιά ρούχα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663440" y="1188720"/>
            <a:ext cx="640080" cy="64008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13487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0" y="1188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Βγάζω ρεύμα και καλώδια πριν ανοίξω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7200" y="2057400"/>
            <a:ext cx="640080" cy="64008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21742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Καλύπτω με ταινία τις κοφτερές άκρες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663440" y="2057400"/>
            <a:ext cx="640080" cy="64008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21742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86400" y="2057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αγγίζω θερμά μέρη εκτυπωτών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" y="308610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Μακριά από ανεμιστήρες σε λειτουργία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4663440" y="2926080"/>
            <a:ext cx="640080" cy="64008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3460" y="3086100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48640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Όχι φαγητό και ποτό στον πάγκο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" y="3954780"/>
            <a:ext cx="320040" cy="32004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28016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Καθαρός χώρος, μαζεμένα καλώδια</a:t>
            </a:r>
            <a:endParaRPr lang="en-US" sz="1600" dirty="0"/>
          </a:p>
        </p:txBody>
      </p:sp>
      <p:sp>
        <p:nvSpPr>
          <p:cNvPr id="24" name="Shape 15"/>
          <p:cNvSpPr/>
          <p:nvPr/>
        </p:nvSpPr>
        <p:spPr>
          <a:xfrm>
            <a:off x="4663440" y="3794760"/>
            <a:ext cx="640080" cy="64008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3460" y="3954780"/>
            <a:ext cx="320040" cy="32004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548640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Σηκώνω βάρη με λυγισμένα γόνατα</a:t>
            </a:r>
            <a:endParaRPr lang="en-US" sz="1600" dirty="0"/>
          </a:p>
        </p:txBody>
      </p:sp>
      <p:sp>
        <p:nvSpPr>
          <p:cNvPr id="27" name="Text 17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1.2 · Μέτρα ασφαλείας υγείας, εξοπλισμού και χώρου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A2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9372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01168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ΠΟΤΕ δεν ανοίγουμε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11680" y="12344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τροφοδοτικό ή οθόνη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2057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6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…ακόμα κι αν είναι βγαλμένα από την πρίζα.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8046720" cy="1371600"/>
          </a:xfrm>
          <a:prstGeom prst="roundRect">
            <a:avLst>
              <a:gd name="adj" fmla="val 8000"/>
            </a:avLst>
          </a:prstGeom>
          <a:solidFill>
            <a:srgbClr val="5E1F18"/>
          </a:solidFill>
          <a:ln w="12700">
            <a:solidFill>
              <a:srgbClr val="5E1F1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329184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4975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0" y="31089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Γιατί;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Μέσα έχουν πυκνωτές, που λειτουργούν σαν μικρές «μπαταρίες» και κρατούν επικίνδυνο ηλεκτρικό φορτίο για πολλή ώρα.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1.2 · Μέτρα ασφαλείας υγείας, εξοπλισμού και χώρου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Τι είναι ο στατικός ηλεκτρισμός;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822960" cy="82296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230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4231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Είναι ηλεκτρικό φορτίο που μαζεύεται σε ένα σώμα, όταν τα άτομά του κερδίζουν ή χάνουν ηλεκτρόνια.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703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φορτίο «περιμένει» να αγγίξουμε κάτι αγώγιμο.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δημιουργείται;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754880" y="1737360"/>
            <a:ext cx="438912" cy="438912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84708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7099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Τριβή (περπάτημα σε μοκέτα, ρούχα)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754880" y="2304288"/>
            <a:ext cx="438912" cy="438912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41401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22768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Γρήγορη μεταφορά θερμότητας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754880" y="2871216"/>
            <a:ext cx="438912" cy="438912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980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49240" y="284378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Ακτινοβολία (UV, ακτίνες Χ, ισχυρά μαγνητικά πεδία)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754880" y="3438144"/>
            <a:ext cx="438912" cy="438912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54787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349240" y="34107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Κοπή μεταλλικών φύλλων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754880" y="4005072"/>
            <a:ext cx="438912" cy="438912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4114800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349240" y="39776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Επαγωγή (κοντά σε φορτισμένο σώμα)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1.2 · Μέτρα ασφαλείας υγείας, εξοπλισμού και χώρου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Ηλεκτροστατική εκφόρτιση (ESD)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φορτίο περνά από το σώμα μας στο εξάρτημα – η θερμότητα που αναπτύσσεται καίει μικροσκοπικές επαφές στο τσιπ.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A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~3.000 V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εκεί και πάνω νιώθουμε τη σπίθα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8288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δεκάδες V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926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Αρκούν για να χαλάσουν ένα ευαίσθητο εξάρτημα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αργότερα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9260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βλάβη μπορεί να φανεί μέρες μετά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Δηλαδή: μπορεί να χαλάσουμε ένα εξάρτημα χωρίς να νιώσουμε τίποτα.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1.2 · Μέτρα ασφαλείας υγείας, εξοπλισμού και χώρου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Πώς προστατεύουμε τα εξαρτήματα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A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Βασική αρχή: το σώμα μας να μην έχει φορτίο (γείωση ή ιονισμός).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0"/>
            <a:ext cx="594360" cy="59436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00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Αντιστατικό βραχιόλι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Κλιπ στο μεταλλικό κουτί ή στη γείωση του πάγκου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645920"/>
            <a:ext cx="594360" cy="59436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870" y="17945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1600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Αντιστατική επιφάνεια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Πατάκι πάγκου συνδεδεμένο στη γείωση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4630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1645920"/>
            <a:ext cx="594360" cy="59436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790" y="179451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1600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Αντιστατικές σακούλες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17220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Εκεί φυλάμε μνήμες, κάρτες, δίσκους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" y="3246120"/>
            <a:ext cx="594360" cy="59436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39471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Ρούχα, γάντια, υποδήματα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9436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Αντιστατικά – όχι συνθετικά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246120" y="30632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383280" y="3246120"/>
            <a:ext cx="594360" cy="59436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870" y="339471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11480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Αγώγιμο δάπεδο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38328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Όχι μοκέτα στο εργαστήριο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035040" y="30632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72200" y="3246120"/>
            <a:ext cx="594360" cy="59436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0790" y="339471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90372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Κρατάμε από τις άκρες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17220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αγγίζουμε επαφές και τσιπ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1.2 · Μέτρα ασφαλείας υγείας, εξοπλισμού και χώρου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UPS: αδιάλειπτη παροχή ενέργειας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0" cy="73152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Δίνει ρεύμα όταν κοπεί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508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Μέχρι να έρθει γεννήτρια, να επανέλθει το ρεύμα ή να κλείσουμε σωστά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731520" cy="73152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Προστατεύει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υπερτάσεις και πτώσεις τάσης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108960"/>
            <a:ext cx="731520" cy="73152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Φιλτράρει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Δίνει «καθαρό» ρεύμα στα 50–60 Hz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937760" y="118872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120640" y="14173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303520" y="175564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632704" y="175564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12648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Κόκκινες πρίζες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126480" y="17830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Είναι συνδεδεμένες σε UPS. Ένα UPS για όλο τον χώρο θα κόστιζε πολύ.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937760" y="3063240"/>
            <a:ext cx="3749040" cy="1463040"/>
          </a:xfrm>
          <a:prstGeom prst="roundRect">
            <a:avLst>
              <a:gd name="adj" fmla="val 6250"/>
            </a:avLst>
          </a:prstGeom>
          <a:solidFill>
            <a:srgbClr val="5E1F18"/>
          </a:solidFill>
          <a:ln w="12700">
            <a:solidFill>
              <a:srgbClr val="5E1F18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120640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τους πιο έμπειρους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120640" y="3474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(standby) – οικονομικό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Line-interactive – ρυθμίζει την τάση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(διπλής μετατροπής) – για servers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κεντρική προστασία από υπερτάσεις και κεραυνούς γίνεται στον ηλεκτρικό πίνακα.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1.2 · Μέτρα ασφαλείας υγείας, εξοπλισμού και χώρου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Ασφάλεια χώρου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685800" cy="68580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5430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716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Πυρασφάλεια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402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Πυροσβεστήρας σε εμφανές σημείο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Σχέδιο εκκένωσης, ελεύθερες έξοδοι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Όχι νερό σε ηλεκτρική φωτιά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Όχι πολύπριζο σε πολύπριζο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371600"/>
            <a:ext cx="685800" cy="68580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54305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6240" y="13716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Σεισμός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2402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Στερεωμένα ράφια και ντουλάπια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βαριά στα χαμηλά ράφια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Σκύψε – Κάλυψε – Κρατήσου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Γνωρίζω το σημείο συγκέντρωσης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18872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F6ECE9"/>
          </a:solidFill>
          <a:ln w="12700">
            <a:solidFill>
              <a:srgbClr val="F6ECE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371600"/>
            <a:ext cx="685800" cy="685800"/>
          </a:xfrm>
          <a:prstGeom prst="ellipse">
            <a:avLst/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370" y="154305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95160" y="13716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Απόβλητα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402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Μπαταρίες σε κάδους ανακύκλωσης μπαταριών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Ηλεκτρονικά (ΑΗΗΕ) σε ειδικούς κάδους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Toner/μελάνια επιστρέφονται για ανακύκλωση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Ποτέ στα κοινά σκουπίδια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1.2 · Μέτρα ασφαλείας υγείας, εξοπλισμού και χώρου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C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Ώρα για το φύλλο εργασίας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Ανοίξτε: Ώρα2_Φύλλο_Εργασίας.docx και Ώρα2_Εφαρμογή_Ασφάλεια.html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Ξεκινάω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Όλοι ξεκινούν από εδώ. «Ασφαλές ή επικίνδυνο;», αντιστατικό βραχιόλι, σωστό/λάθος.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91640"/>
            <a:ext cx="731520" cy="7315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Προχωράω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Βρες τους 8 κινδύνους, πού ανακυκλώνω, οδηγίες για σεισμό.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731520" cy="731520"/>
          </a:xfrm>
          <a:prstGeom prst="ellipse">
            <a:avLst/>
          </a:prstGeom>
          <a:solidFill>
            <a:srgbClr val="D8483B"/>
          </a:solidFill>
          <a:ln w="12700">
            <a:solidFill>
              <a:srgbClr val="D84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Υπολογισμός UPS και επιλογή μοντέλου, κανονισμός εργαστηρίου.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Τελειώσατε το Α; Συνεχίστε στο Β. Δεν χρειάζεται να τελειώσουν όλοι τα πάντα.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1.2 · Μέτρα ασφαλείας υγείας, εξοπλισμού και χώρου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E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Ανακεφαλαίωση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944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Πρώτα η δική μας ασφάλεια: ρεύμα έξω, ποτέ ανοιχτό τροφοδοτικό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08026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965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ESD: βραχιόλι, αντιστατικά, κρατάμε από τις άκρες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76606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για τα κρίσιμα, ελεύθερες έξοδοι, σωστή ανακύκλωση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8A2F24"/>
          </a:solidFill>
          <a:ln w="12700">
            <a:solidFill>
              <a:srgbClr val="8A2F2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εξόδου: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Ποιον κανόνα ασφαλείας δεν ξέρατε πριν από σήμερα και θα τον εφαρμόσετε και στο σπίτι;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Ώρα 2 – Μέτρα ασφαλείας</dc:title>
  <dc:subject>PptxGenJS Presentation</dc:subject>
  <dc:creator>PptxGenJS</dc:creator>
  <cp:lastModifiedBy>PptxGenJS</cp:lastModifiedBy>
  <cp:revision>1</cp:revision>
  <dcterms:created xsi:type="dcterms:W3CDTF">2026-09-16T14:28:31Z</dcterms:created>
  <dcterms:modified xsi:type="dcterms:W3CDTF">2026-09-16T14:28:31Z</dcterms:modified>
</cp:coreProperties>
</file>