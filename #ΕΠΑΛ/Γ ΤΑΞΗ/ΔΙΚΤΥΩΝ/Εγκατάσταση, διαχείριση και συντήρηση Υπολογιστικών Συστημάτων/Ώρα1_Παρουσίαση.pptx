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Καλωσόρισμα. Σήμερα μπαίνουμε στον ρόλο του τεχνικού: πού δουλεύει, τι χώρο χρειάζεται και ποια εργαλεία χρησιμοποιεί. Στο τέλος της ώρας θα δουλέψετε στον υπολογιστή με φύλλο εργασίας.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Αφόρμηση (3-5 λεπτά). Αφήστε 2-3 ενήλικες να πουν μια εμπειρία. Κρατήστε στον πίνακα λέξεις-κλειδιά (πάγκος, κατσαβίδια, «δεν μας άφηναν να μπούμε πίσω», κ.λπ.) – θα τις ξαναβρούμε στις επόμενες διαφάνειες.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Οι στόχοι είναι αυτοί του βιβλίου (1.1). Τονίστε ότι είναι πρακτικοί – έτσι δουλεύει και η αγορά εργασίας.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Ρωτήστε: σε ποια από τις τρεις περιπτώσεις θα θέλατε να δουλέψετε; Ποια διαφορά έχει στην καθημερινότητα;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Παράγραφος 1.1.1. Συνδέστε με την εμπειρία των μαθητών: ποια από αυτά υπάρχουν στο δικό μας εργαστήριο; (Δείξτε πυροσβεστήρα, έξοδο κινδύνου, κουτί Α΄ βοηθειών αν υπάρχουν.)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Αυτό θα το χρειαστούν οι μαθητές του επιπέδου Γ, που θα σχεδιάσουν κάτοψη καταστήματος.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Παράγραφος 1.1.2. Δεν χρειάζεται απομνημόνευση – οι μαθητές θα τα αντιστοιχίσουν στην εφαρμογή. Αν έχετε πραγματικά εργαλεία, περάστε τα από χέρι σε χέρι.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1.1.3.1. Αν γίνεται, δείξτε μια βίδα και δύο κατσαβίδια: ένα που ταιριάζει και ένα που «γλιστράει».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1.1.3.2 και 1.1.3.3. Τα εργαλεία αυτά κρατούν, κόβουν και απογυμνώνουν.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Διαδικασία τερματισμού UTP (1.1.3.3). Κράτημα βύσματος: κλιπ από κάτω, επαφές προς εμάς → θέση 1 αριστερά. Αν τα άκρα έχουν ίδιο πρότυπο (Β-Β) το καλώδιο είναι «ευθύ»· Α-Β είναι «χιαστί» (crossover) – αναφορά για τους πιο έμπειρους.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Οι έμπειροι μαθητές στο επίπεδο Γ θα ψάξουν σύγχρονα εργαλεία διάσωσης και πώς φτιάχνεται bootable USB (π.χ. με Rufus).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≈20 λεπτά. Κυκλοφορήστε πρώτα στους λιγότερο εξοικειωμένους. Οι γρήγοροι μπορούν να βοηθήσουν τον διπλανό τους αφού τελειώσουν το 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Οι απαντήσεις γράφονται στο τέλος του φύλλου εργασίας. Επόμενη ώρα: μέτρα ασφαλείας.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4C5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1005840" cy="1005840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" y="891540"/>
            <a:ext cx="502920" cy="5029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1874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ΚΕΦΑΛΑΙΟ 1 · 1η ΔΙΔΑΚΤΙΚΗ ΩΡΑ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24028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Το εργαστήριο συντήρησης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και τα εργαλεία του τεχνικού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1605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FE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Εγκατάσταση, Διαχείριση και Συντήρηση Υπολογιστικών Συστημάτων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3F0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731520"/>
            <a:ext cx="1097280" cy="1097280"/>
          </a:xfrm>
          <a:prstGeom prst="ellipse">
            <a:avLst/>
          </a:prstGeom>
          <a:solidFill>
            <a:srgbClr val="0F5E63"/>
          </a:solidFill>
          <a:ln w="12700">
            <a:solidFill>
              <a:srgbClr val="0F5E63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005840"/>
            <a:ext cx="548640" cy="5486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920240" y="8686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F5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Ας ξεκινήσουμε με μια ερώτηση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1920240" y="1371600"/>
            <a:ext cx="6766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D2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Σας έχει χαλάσει ποτέ υπολογιστής ή κινητό;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1D2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Πού τον πήγατε – και τι είδατε εκεί;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48640" y="3246120"/>
            <a:ext cx="256032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31520" y="3474720"/>
            <a:ext cx="640080" cy="640080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540" y="3634740"/>
            <a:ext cx="320040" cy="32004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508760" y="347472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Πώς ήταν ο χώρος;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3337560" y="3246120"/>
            <a:ext cx="256032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3520440" y="3474720"/>
            <a:ext cx="640080" cy="640080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0460" y="363474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4297680" y="347472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Τι έκανε ο τεχνικός;</a:t>
            </a:r>
            <a:endParaRPr lang="en-US" sz="1600" dirty="0"/>
          </a:p>
        </p:txBody>
      </p:sp>
      <p:sp>
        <p:nvSpPr>
          <p:cNvPr id="14" name="Shape 9"/>
          <p:cNvSpPr/>
          <p:nvPr/>
        </p:nvSpPr>
        <p:spPr>
          <a:xfrm>
            <a:off x="6126480" y="3246120"/>
            <a:ext cx="256032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6309360" y="3474720"/>
            <a:ext cx="640080" cy="640080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9380" y="363474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7086600" y="347472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Τι εργαλεία είδατε;</a:t>
            </a:r>
            <a:endParaRPr lang="en-US" sz="1600" dirty="0"/>
          </a:p>
        </p:txBody>
      </p:sp>
      <p:sp>
        <p:nvSpPr>
          <p:cNvPr id="18" name="Text 12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8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Κεφ. 1.1 · Το εργαστήριο συντήρησης υπολογιστικών συσκευών</a:t>
            </a:r>
            <a:endParaRPr lang="en-US" sz="1000" dirty="0"/>
          </a:p>
        </p:txBody>
      </p:sp>
      <p:sp>
        <p:nvSpPr>
          <p:cNvPr id="19" name="Text 13"/>
          <p:cNvSpPr txBox="1"/>
          <p:nvPr/>
        </p:nvSpPr>
        <p:spPr>
          <a:xfrm>
            <a:off x="8138160" y="48006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4C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Στόχοι: τι θα μπορείτε να κάνετε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280160"/>
            <a:ext cx="777240" cy="777240"/>
          </a:xfrm>
          <a:prstGeom prst="ellipse">
            <a:avLst/>
          </a:prstGeom>
          <a:solidFill>
            <a:srgbClr val="0F5E63"/>
          </a:solidFill>
          <a:ln w="12700">
            <a:solidFill>
              <a:srgbClr val="0F5E63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4390" y="1474470"/>
            <a:ext cx="388620" cy="3886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645920" y="128016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D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Να αναφέρετε τα κύρια χαρακτηριστικά ενός εργαστηρίου συντήρησης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640080" y="2377440"/>
            <a:ext cx="777240" cy="777240"/>
          </a:xfrm>
          <a:prstGeom prst="ellipse">
            <a:avLst/>
          </a:prstGeom>
          <a:solidFill>
            <a:srgbClr val="0F5E63"/>
          </a:solidFill>
          <a:ln w="12700">
            <a:solidFill>
              <a:srgbClr val="0F5E63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390" y="2571750"/>
            <a:ext cx="388620" cy="3886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645920" y="237744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D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Να οργανώσετε (σχεδιάσετε) ένα εργαστήριο συντήρησης υπολογιστών</a:t>
            </a:r>
            <a:endParaRPr lang="en-US" sz="2000" dirty="0"/>
          </a:p>
        </p:txBody>
      </p:sp>
      <p:sp>
        <p:nvSpPr>
          <p:cNvPr id="9" name="Shape 5"/>
          <p:cNvSpPr/>
          <p:nvPr/>
        </p:nvSpPr>
        <p:spPr>
          <a:xfrm>
            <a:off x="640080" y="3474720"/>
            <a:ext cx="777240" cy="777240"/>
          </a:xfrm>
          <a:prstGeom prst="ellipse">
            <a:avLst/>
          </a:prstGeom>
          <a:solidFill>
            <a:srgbClr val="0F5E63"/>
          </a:solidFill>
          <a:ln w="12700">
            <a:solidFill>
              <a:srgbClr val="0F5E63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390" y="3669030"/>
            <a:ext cx="388620" cy="38862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645920" y="347472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D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Να αναγνωρίζετε τα εργαλεία και να τα χρησιμοποιείτε με ασφάλεια</a:t>
            </a:r>
            <a:endParaRPr lang="en-US" sz="2000" dirty="0"/>
          </a:p>
        </p:txBody>
      </p:sp>
      <p:sp>
        <p:nvSpPr>
          <p:cNvPr id="12" name="Text 7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8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Κεφ. 1.1 · Το εργαστήριο συντήρησης υπολογιστικών συσκευών</a:t>
            </a:r>
            <a:endParaRPr lang="en-US" sz="1000" dirty="0"/>
          </a:p>
        </p:txBody>
      </p:sp>
      <p:sp>
        <p:nvSpPr>
          <p:cNvPr id="13" name="Text 8"/>
          <p:cNvSpPr txBox="1"/>
          <p:nvPr/>
        </p:nvSpPr>
        <p:spPr>
          <a:xfrm>
            <a:off x="8138160" y="48006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4C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Πού υπάρχει εργαστήριο συντήρησης;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2606040" cy="3017520"/>
          </a:xfrm>
          <a:prstGeom prst="roundRect">
            <a:avLst>
              <a:gd name="adj" fmla="val 4211"/>
            </a:avLst>
          </a:prstGeom>
          <a:solidFill>
            <a:srgbClr val="E3F0EE"/>
          </a:solidFill>
          <a:ln w="12700">
            <a:solidFill>
              <a:srgbClr val="E3F0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25880" y="1463040"/>
            <a:ext cx="868680" cy="868680"/>
          </a:xfrm>
          <a:prstGeom prst="ellipse">
            <a:avLst/>
          </a:prstGeom>
          <a:solidFill>
            <a:srgbClr val="0F5E63"/>
          </a:solidFill>
          <a:ln w="12700">
            <a:solidFill>
              <a:srgbClr val="0F5E63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3050" y="1680210"/>
            <a:ext cx="434340" cy="4343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251460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4C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Σε κατάστημα υπολογιστών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15468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D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Τμήμα μιας εταιρείας που πουλάει υπολογιστές (service).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246120" y="1234440"/>
            <a:ext cx="2606040" cy="3017520"/>
          </a:xfrm>
          <a:prstGeom prst="roundRect">
            <a:avLst>
              <a:gd name="adj" fmla="val 4211"/>
            </a:avLst>
          </a:prstGeom>
          <a:solidFill>
            <a:srgbClr val="E3F0EE"/>
          </a:solidFill>
          <a:ln w="12700">
            <a:solidFill>
              <a:srgbClr val="E3F0E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114800" y="1463040"/>
            <a:ext cx="868680" cy="868680"/>
          </a:xfrm>
          <a:prstGeom prst="ellipse">
            <a:avLst/>
          </a:prstGeom>
          <a:solidFill>
            <a:srgbClr val="0F5E63"/>
          </a:solidFill>
          <a:ln w="12700">
            <a:solidFill>
              <a:srgbClr val="0F5E63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1970" y="1680210"/>
            <a:ext cx="434340" cy="4343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429000" y="251460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4C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Μέσα σε μεγάλη εταιρεία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3429000" y="315468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D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Τμήμα υποστήριξης σε τράπεζα, ναυτιλιακή κ.ά. που έχει πολλούς υπολογιστές.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6035040" y="1234440"/>
            <a:ext cx="2606040" cy="3017520"/>
          </a:xfrm>
          <a:prstGeom prst="roundRect">
            <a:avLst>
              <a:gd name="adj" fmla="val 4211"/>
            </a:avLst>
          </a:prstGeom>
          <a:solidFill>
            <a:srgbClr val="E3F0EE"/>
          </a:solidFill>
          <a:ln w="12700">
            <a:solidFill>
              <a:srgbClr val="E3F0EE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903720" y="1463040"/>
            <a:ext cx="868680" cy="868680"/>
          </a:xfrm>
          <a:prstGeom prst="ellipse">
            <a:avLst/>
          </a:prstGeom>
          <a:solidFill>
            <a:srgbClr val="0F5E63"/>
          </a:solidFill>
          <a:ln w="12700">
            <a:solidFill>
              <a:srgbClr val="0F5E63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0890" y="1680210"/>
            <a:ext cx="434340" cy="43434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217920" y="251460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4C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Ανεξάρτητη μικρή εταιρεία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6217920" y="315468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D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Επιχείρηση που κάνει μόνο υποστήριξη και επισκευές.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457200" y="4389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Ο ρόλος του εργαστηρίου καθορίζει και τον τρόπο που οργανώνεται.</a:t>
            </a:r>
            <a:endParaRPr lang="en-US" sz="1400" dirty="0"/>
          </a:p>
        </p:txBody>
      </p:sp>
      <p:sp>
        <p:nvSpPr>
          <p:cNvPr id="19" name="Text 14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8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Κεφ. 1.1 · Το εργαστήριο συντήρησης υπολογιστικών συσκευών</a:t>
            </a:r>
            <a:endParaRPr lang="en-US" sz="1000" dirty="0"/>
          </a:p>
        </p:txBody>
      </p:sp>
      <p:sp>
        <p:nvSpPr>
          <p:cNvPr id="20" name="Text 15"/>
          <p:cNvSpPr txBox="1"/>
          <p:nvPr/>
        </p:nvSpPr>
        <p:spPr>
          <a:xfrm>
            <a:off x="8138160" y="48006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4C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Ο χώρος: ελάχιστες προδιαγραφές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920240" cy="1645920"/>
          </a:xfrm>
          <a:prstGeom prst="roundRect">
            <a:avLst>
              <a:gd name="adj" fmla="val 5556"/>
            </a:avLst>
          </a:prstGeom>
          <a:solidFill>
            <a:srgbClr val="E3F0EE"/>
          </a:solidFill>
          <a:ln w="12700">
            <a:solidFill>
              <a:srgbClr val="E3F0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1325880"/>
            <a:ext cx="548640" cy="548640"/>
          </a:xfrm>
          <a:prstGeom prst="ellipse">
            <a:avLst/>
          </a:prstGeom>
          <a:solidFill>
            <a:srgbClr val="0F5E63"/>
          </a:solidFill>
          <a:ln w="12700">
            <a:solidFill>
              <a:srgbClr val="0F5E63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6304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94360" y="196596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4C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Στατικότητα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594360" y="22860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D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Μελέτη μηχανικού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2542032" y="1188720"/>
            <a:ext cx="1920240" cy="1645920"/>
          </a:xfrm>
          <a:prstGeom prst="roundRect">
            <a:avLst>
              <a:gd name="adj" fmla="val 5556"/>
            </a:avLst>
          </a:prstGeom>
          <a:solidFill>
            <a:srgbClr val="E3F0EE"/>
          </a:solidFill>
          <a:ln w="12700">
            <a:solidFill>
              <a:srgbClr val="E3F0E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679192" y="1325880"/>
            <a:ext cx="548640" cy="548640"/>
          </a:xfrm>
          <a:prstGeom prst="ellipse">
            <a:avLst/>
          </a:prstGeom>
          <a:solidFill>
            <a:srgbClr val="0F5E63"/>
          </a:solidFill>
          <a:ln w="12700">
            <a:solidFill>
              <a:srgbClr val="0F5E63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146304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679192" y="196596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4C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Ηλεκτρολογικά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2679192" y="22860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D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Γείωση, προστασία από ηλεκτροπληξία &amp; κεραυνούς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4626864" y="1188720"/>
            <a:ext cx="1920240" cy="1645920"/>
          </a:xfrm>
          <a:prstGeom prst="roundRect">
            <a:avLst>
              <a:gd name="adj" fmla="val 5556"/>
            </a:avLst>
          </a:prstGeom>
          <a:solidFill>
            <a:srgbClr val="E3F0EE"/>
          </a:solidFill>
          <a:ln w="12700">
            <a:solidFill>
              <a:srgbClr val="E3F0EE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4764024" y="1325880"/>
            <a:ext cx="548640" cy="548640"/>
          </a:xfrm>
          <a:prstGeom prst="ellipse">
            <a:avLst/>
          </a:prstGeom>
          <a:solidFill>
            <a:srgbClr val="0F5E63"/>
          </a:solidFill>
          <a:ln w="12700">
            <a:solidFill>
              <a:srgbClr val="0F5E63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1184" y="1463040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4764024" y="196596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4C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Έξοδοι κινδύνου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4764024" y="22860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D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Διάδρομοι πάντα ελεύθεροι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6711696" y="1188720"/>
            <a:ext cx="1920240" cy="1645920"/>
          </a:xfrm>
          <a:prstGeom prst="roundRect">
            <a:avLst>
              <a:gd name="adj" fmla="val 5556"/>
            </a:avLst>
          </a:prstGeom>
          <a:solidFill>
            <a:srgbClr val="E3F0EE"/>
          </a:solidFill>
          <a:ln w="12700">
            <a:solidFill>
              <a:srgbClr val="E3F0EE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848856" y="1325880"/>
            <a:ext cx="548640" cy="548640"/>
          </a:xfrm>
          <a:prstGeom prst="ellipse">
            <a:avLst/>
          </a:prstGeom>
          <a:solidFill>
            <a:srgbClr val="0F5E63"/>
          </a:solidFill>
          <a:ln w="12700">
            <a:solidFill>
              <a:srgbClr val="0F5E63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6016" y="1463040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848856" y="196596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4C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Πυρανίχνευση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6848856" y="22860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D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Ανίχνευση καπνού/αερίων 24 ώρες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457200" y="2971800"/>
            <a:ext cx="1920240" cy="1645920"/>
          </a:xfrm>
          <a:prstGeom prst="roundRect">
            <a:avLst>
              <a:gd name="adj" fmla="val 5556"/>
            </a:avLst>
          </a:prstGeom>
          <a:solidFill>
            <a:srgbClr val="E3F0EE"/>
          </a:solidFill>
          <a:ln w="12700">
            <a:solidFill>
              <a:srgbClr val="E3F0EE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594360" y="3108960"/>
            <a:ext cx="548640" cy="548640"/>
          </a:xfrm>
          <a:prstGeom prst="ellipse">
            <a:avLst/>
          </a:prstGeom>
          <a:solidFill>
            <a:srgbClr val="0F5E63"/>
          </a:solidFill>
          <a:ln w="12700">
            <a:solidFill>
              <a:srgbClr val="0F5E63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3246120"/>
            <a:ext cx="274320" cy="27432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594360" y="37490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4C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Εξαερισμός</a:t>
            </a:r>
            <a:endParaRPr lang="en-US" sz="1500" dirty="0"/>
          </a:p>
        </p:txBody>
      </p:sp>
      <p:sp>
        <p:nvSpPr>
          <p:cNvPr id="27" name="Text 20"/>
          <p:cNvSpPr txBox="1"/>
          <p:nvPr/>
        </p:nvSpPr>
        <p:spPr>
          <a:xfrm>
            <a:off x="594360" y="406908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D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Απαγωγή σκόνης &amp; αναθυμιάσεων</a:t>
            </a:r>
            <a:endParaRPr lang="en-US" sz="1200" dirty="0"/>
          </a:p>
        </p:txBody>
      </p:sp>
      <p:sp>
        <p:nvSpPr>
          <p:cNvPr id="28" name="Shape 21"/>
          <p:cNvSpPr/>
          <p:nvPr/>
        </p:nvSpPr>
        <p:spPr>
          <a:xfrm>
            <a:off x="2542032" y="2971800"/>
            <a:ext cx="1920240" cy="1645920"/>
          </a:xfrm>
          <a:prstGeom prst="roundRect">
            <a:avLst>
              <a:gd name="adj" fmla="val 5556"/>
            </a:avLst>
          </a:prstGeom>
          <a:solidFill>
            <a:srgbClr val="E3F0EE"/>
          </a:solidFill>
          <a:ln w="12700">
            <a:solidFill>
              <a:srgbClr val="E3F0EE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2679192" y="3108960"/>
            <a:ext cx="548640" cy="548640"/>
          </a:xfrm>
          <a:prstGeom prst="ellipse">
            <a:avLst/>
          </a:prstGeom>
          <a:solidFill>
            <a:srgbClr val="0F5E63"/>
          </a:solidFill>
          <a:ln w="12700">
            <a:solidFill>
              <a:srgbClr val="0F5E63"/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16352" y="3246120"/>
            <a:ext cx="274320" cy="27432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2679192" y="37490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4C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Κλίμα</a:t>
            </a:r>
            <a:endParaRPr lang="en-US" sz="1500" dirty="0"/>
          </a:p>
        </p:txBody>
      </p:sp>
      <p:sp>
        <p:nvSpPr>
          <p:cNvPr id="32" name="Text 24"/>
          <p:cNvSpPr txBox="1"/>
          <p:nvPr/>
        </p:nvSpPr>
        <p:spPr>
          <a:xfrm>
            <a:off x="2679192" y="406908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D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Σταθερή θερμοκρασία &amp; υγρασία 24ωρο</a:t>
            </a:r>
            <a:endParaRPr lang="en-US" sz="1200" dirty="0"/>
          </a:p>
        </p:txBody>
      </p:sp>
      <p:sp>
        <p:nvSpPr>
          <p:cNvPr id="33" name="Shape 25"/>
          <p:cNvSpPr/>
          <p:nvPr/>
        </p:nvSpPr>
        <p:spPr>
          <a:xfrm>
            <a:off x="4626864" y="2971800"/>
            <a:ext cx="1920240" cy="1645920"/>
          </a:xfrm>
          <a:prstGeom prst="roundRect">
            <a:avLst>
              <a:gd name="adj" fmla="val 5556"/>
            </a:avLst>
          </a:prstGeom>
          <a:solidFill>
            <a:srgbClr val="E3F0EE"/>
          </a:solidFill>
          <a:ln w="12700">
            <a:solidFill>
              <a:srgbClr val="E3F0EE"/>
            </a:solidFill>
            <a:prstDash val="solid"/>
          </a:ln>
        </p:spPr>
      </p:sp>
      <p:sp>
        <p:nvSpPr>
          <p:cNvPr id="34" name="Shape 26"/>
          <p:cNvSpPr/>
          <p:nvPr/>
        </p:nvSpPr>
        <p:spPr>
          <a:xfrm>
            <a:off x="4764024" y="3108960"/>
            <a:ext cx="548640" cy="548640"/>
          </a:xfrm>
          <a:prstGeom prst="ellipse">
            <a:avLst/>
          </a:prstGeom>
          <a:solidFill>
            <a:srgbClr val="0F5E63"/>
          </a:solidFill>
          <a:ln w="12700">
            <a:solidFill>
              <a:srgbClr val="0F5E63"/>
            </a:solidFill>
            <a:prstDash val="solid"/>
          </a:ln>
        </p:spPr>
      </p:sp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01184" y="3246120"/>
            <a:ext cx="274320" cy="274320"/>
          </a:xfrm>
          <a:prstGeom prst="rect">
            <a:avLst/>
          </a:prstGeom>
        </p:spPr>
      </p:pic>
      <p:sp>
        <p:nvSpPr>
          <p:cNvPr id="36" name="Text 27"/>
          <p:cNvSpPr txBox="1"/>
          <p:nvPr/>
        </p:nvSpPr>
        <p:spPr>
          <a:xfrm>
            <a:off x="4764024" y="37490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4C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Φωτισμός</a:t>
            </a:r>
            <a:endParaRPr lang="en-US" sz="1500" dirty="0"/>
          </a:p>
        </p:txBody>
      </p:sp>
      <p:sp>
        <p:nvSpPr>
          <p:cNvPr id="37" name="Text 28"/>
          <p:cNvSpPr txBox="1"/>
          <p:nvPr/>
        </p:nvSpPr>
        <p:spPr>
          <a:xfrm>
            <a:off x="4764024" y="406908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D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Φυσικός + επιπλέον στον πάγκο</a:t>
            </a:r>
            <a:endParaRPr lang="en-US" sz="1200" dirty="0"/>
          </a:p>
        </p:txBody>
      </p:sp>
      <p:sp>
        <p:nvSpPr>
          <p:cNvPr id="38" name="Shape 29"/>
          <p:cNvSpPr/>
          <p:nvPr/>
        </p:nvSpPr>
        <p:spPr>
          <a:xfrm>
            <a:off x="6711696" y="2971800"/>
            <a:ext cx="1920240" cy="1645920"/>
          </a:xfrm>
          <a:prstGeom prst="roundRect">
            <a:avLst>
              <a:gd name="adj" fmla="val 5556"/>
            </a:avLst>
          </a:prstGeom>
          <a:solidFill>
            <a:srgbClr val="E3F0EE"/>
          </a:solidFill>
          <a:ln w="12700">
            <a:solidFill>
              <a:srgbClr val="E3F0EE"/>
            </a:solidFill>
            <a:prstDash val="solid"/>
          </a:ln>
        </p:spPr>
      </p:sp>
      <p:sp>
        <p:nvSpPr>
          <p:cNvPr id="39" name="Shape 30"/>
          <p:cNvSpPr/>
          <p:nvPr/>
        </p:nvSpPr>
        <p:spPr>
          <a:xfrm>
            <a:off x="6848856" y="3108960"/>
            <a:ext cx="548640" cy="548640"/>
          </a:xfrm>
          <a:prstGeom prst="ellipse">
            <a:avLst/>
          </a:prstGeom>
          <a:solidFill>
            <a:srgbClr val="0F5E63"/>
          </a:solidFill>
          <a:ln w="12700">
            <a:solidFill>
              <a:srgbClr val="0F5E63"/>
            </a:solidFill>
            <a:prstDash val="solid"/>
          </a:ln>
        </p:spPr>
      </p:sp>
      <p:pic>
        <p:nvPicPr>
          <p:cNvPr id="4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86016" y="3246120"/>
            <a:ext cx="274320" cy="274320"/>
          </a:xfrm>
          <a:prstGeom prst="rect">
            <a:avLst/>
          </a:prstGeom>
        </p:spPr>
      </p:pic>
      <p:sp>
        <p:nvSpPr>
          <p:cNvPr id="41" name="Text 31"/>
          <p:cNvSpPr txBox="1"/>
          <p:nvPr/>
        </p:nvSpPr>
        <p:spPr>
          <a:xfrm>
            <a:off x="6848856" y="37490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4C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Πρώτες βοήθειες</a:t>
            </a:r>
            <a:endParaRPr lang="en-US" sz="1500" dirty="0"/>
          </a:p>
        </p:txBody>
      </p:sp>
      <p:sp>
        <p:nvSpPr>
          <p:cNvPr id="42" name="Text 32"/>
          <p:cNvSpPr txBox="1"/>
          <p:nvPr/>
        </p:nvSpPr>
        <p:spPr>
          <a:xfrm>
            <a:off x="6848856" y="406908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D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Κουτί σε εύκολο σημείο</a:t>
            </a:r>
            <a:endParaRPr lang="en-US" sz="1200" dirty="0"/>
          </a:p>
        </p:txBody>
      </p:sp>
      <p:sp>
        <p:nvSpPr>
          <p:cNvPr id="43" name="Text 33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8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Κεφ. 1.1 · Το εργαστήριο συντήρησης υπολογιστικών συσκευών</a:t>
            </a:r>
            <a:endParaRPr lang="en-US" sz="1000" dirty="0"/>
          </a:p>
        </p:txBody>
      </p:sp>
      <p:sp>
        <p:nvSpPr>
          <p:cNvPr id="44" name="Text 34"/>
          <p:cNvSpPr txBox="1"/>
          <p:nvPr/>
        </p:nvSpPr>
        <p:spPr>
          <a:xfrm>
            <a:off x="8138160" y="48006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4C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Η διαδρομή ενός υπολογιστή στο service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868680" y="1325880"/>
            <a:ext cx="1005840" cy="1005840"/>
          </a:xfrm>
          <a:prstGeom prst="ellipse">
            <a:avLst/>
          </a:prstGeom>
          <a:solidFill>
            <a:srgbClr val="0F5E63"/>
          </a:solidFill>
          <a:ln w="12700">
            <a:solidFill>
              <a:srgbClr val="0F5E63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0140" y="1577340"/>
            <a:ext cx="502920" cy="502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11480" y="24688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4C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Υποδοχή πελατών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2103120" y="1691640"/>
            <a:ext cx="411480" cy="274320"/>
          </a:xfrm>
          <a:prstGeom prst="rightArrow">
            <a:avLst/>
          </a:prstGeom>
          <a:solidFill>
            <a:srgbClr val="B9CBC8"/>
          </a:solidFill>
          <a:ln w="12700">
            <a:solidFill>
              <a:srgbClr val="B9CBC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017520" y="1325880"/>
            <a:ext cx="1005840" cy="1005840"/>
          </a:xfrm>
          <a:prstGeom prst="ellipse">
            <a:avLst/>
          </a:prstGeom>
          <a:solidFill>
            <a:srgbClr val="0F5E63"/>
          </a:solidFill>
          <a:ln w="12700">
            <a:solidFill>
              <a:srgbClr val="0F5E63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8980" y="1577340"/>
            <a:ext cx="502920" cy="5029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2560320" y="24688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4C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Χώρος εισερχομένων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4251960" y="1691640"/>
            <a:ext cx="411480" cy="274320"/>
          </a:xfrm>
          <a:prstGeom prst="rightArrow">
            <a:avLst/>
          </a:prstGeom>
          <a:solidFill>
            <a:srgbClr val="B9CBC8"/>
          </a:solidFill>
          <a:ln w="12700">
            <a:solidFill>
              <a:srgbClr val="B9CBC8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5166360" y="1325880"/>
            <a:ext cx="1005840" cy="1005840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7820" y="1577340"/>
            <a:ext cx="502920" cy="5029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4709160" y="24688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4C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Χώρος συντήρησης</a:t>
            </a:r>
            <a:endParaRPr lang="en-US" sz="1600" dirty="0"/>
          </a:p>
        </p:txBody>
      </p:sp>
      <p:sp>
        <p:nvSpPr>
          <p:cNvPr id="14" name="Shape 9"/>
          <p:cNvSpPr/>
          <p:nvPr/>
        </p:nvSpPr>
        <p:spPr>
          <a:xfrm>
            <a:off x="6400800" y="1691640"/>
            <a:ext cx="411480" cy="274320"/>
          </a:xfrm>
          <a:prstGeom prst="rightArrow">
            <a:avLst/>
          </a:prstGeom>
          <a:solidFill>
            <a:srgbClr val="B9CBC8"/>
          </a:solidFill>
          <a:ln w="12700">
            <a:solidFill>
              <a:srgbClr val="B9CBC8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7315200" y="1325880"/>
            <a:ext cx="1005840" cy="1005840"/>
          </a:xfrm>
          <a:prstGeom prst="ellipse">
            <a:avLst/>
          </a:prstGeom>
          <a:solidFill>
            <a:srgbClr val="0F5E63"/>
          </a:solidFill>
          <a:ln w="12700">
            <a:solidFill>
              <a:srgbClr val="0F5E63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6660" y="1577340"/>
            <a:ext cx="502920" cy="50292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6858000" y="24688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4C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Χώρος εξερχομένων</a:t>
            </a:r>
            <a:endParaRPr lang="en-US" sz="1600" dirty="0"/>
          </a:p>
        </p:txBody>
      </p:sp>
      <p:sp>
        <p:nvSpPr>
          <p:cNvPr id="18" name="Shape 12"/>
          <p:cNvSpPr/>
          <p:nvPr/>
        </p:nvSpPr>
        <p:spPr>
          <a:xfrm>
            <a:off x="502920" y="3246120"/>
            <a:ext cx="8138160" cy="1280160"/>
          </a:xfrm>
          <a:prstGeom prst="roundRect">
            <a:avLst>
              <a:gd name="adj" fmla="val 7143"/>
            </a:avLst>
          </a:prstGeom>
          <a:solidFill>
            <a:srgbClr val="E3F0EE"/>
          </a:solidFill>
          <a:ln w="12700">
            <a:solidFill>
              <a:srgbClr val="E3F0EE"/>
            </a:solidFill>
            <a:prstDash val="solid"/>
          </a:ln>
        </p:spPr>
      </p:sp>
      <p:sp>
        <p:nvSpPr>
          <p:cNvPr id="19" name="Text 13"/>
          <p:cNvSpPr txBox="1"/>
          <p:nvPr/>
        </p:nvSpPr>
        <p:spPr>
          <a:xfrm>
            <a:off x="731520" y="338328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D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Ο χώρος συντήρησης είναι κλειστός για τους πελάτες 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D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(συχνά με τζαμαρία, για να βλέπουν).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D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Χρειάζονται επίσης: ντουλάπες, εργαλειοθήκες και ράφια · γραφεία · αποθήκες.</a:t>
            </a:r>
            <a:endParaRPr lang="en-US" sz="1600" dirty="0"/>
          </a:p>
        </p:txBody>
      </p:sp>
      <p:sp>
        <p:nvSpPr>
          <p:cNvPr id="20" name="Text 14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8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Κεφ. 1.1 · Το εργαστήριο συντήρησης υπολογιστικών συσκευών</a:t>
            </a:r>
            <a:endParaRPr lang="en-US" sz="1000" dirty="0"/>
          </a:p>
        </p:txBody>
      </p:sp>
      <p:sp>
        <p:nvSpPr>
          <p:cNvPr id="21" name="Text 15"/>
          <p:cNvSpPr txBox="1"/>
          <p:nvPr/>
        </p:nvSpPr>
        <p:spPr>
          <a:xfrm>
            <a:off x="8138160" y="48006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4C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Τα εργαλεία σε 5 κατηγορίες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1554480" cy="3291840"/>
          </a:xfrm>
          <a:prstGeom prst="roundRect">
            <a:avLst>
              <a:gd name="adj" fmla="val 5882"/>
            </a:avLst>
          </a:prstGeom>
          <a:solidFill>
            <a:srgbClr val="E3F0EE"/>
          </a:solidFill>
          <a:ln w="12700">
            <a:solidFill>
              <a:srgbClr val="E3F0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" y="1417320"/>
            <a:ext cx="731520" cy="731520"/>
          </a:xfrm>
          <a:prstGeom prst="ellipse">
            <a:avLst/>
          </a:prstGeom>
          <a:solidFill>
            <a:srgbClr val="0F5E63"/>
          </a:solidFill>
          <a:ln w="12700">
            <a:solidFill>
              <a:srgbClr val="0F5E63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1600200"/>
            <a:ext cx="365760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228600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4C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Χειρός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566928" y="2926080"/>
            <a:ext cx="133502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D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κατσαβίδια, πένσες, μυτοτσίμπιδα, κοπτάκια, πρέσα RJ45, Krone, φακός, πεπιεσμένος αέρας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2121408" y="1234440"/>
            <a:ext cx="1554480" cy="32918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3F0E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532888" y="1417320"/>
            <a:ext cx="731520" cy="731520"/>
          </a:xfrm>
          <a:prstGeom prst="ellipse">
            <a:avLst/>
          </a:prstGeom>
          <a:solidFill>
            <a:srgbClr val="0F5E63"/>
          </a:solidFill>
          <a:ln w="12700">
            <a:solidFill>
              <a:srgbClr val="0F5E63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5768" y="160020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212848" y="228600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4C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Ηλεκτρικά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2231136" y="2926080"/>
            <a:ext cx="133502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D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πολύμετρο, ελεγκτής δικτύου &amp; τροφοδοτικών, κολλητήρι, φυσητήρας, τρυπάνι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3785616" y="1234440"/>
            <a:ext cx="1554480" cy="3291840"/>
          </a:xfrm>
          <a:prstGeom prst="roundRect">
            <a:avLst>
              <a:gd name="adj" fmla="val 5882"/>
            </a:avLst>
          </a:prstGeom>
          <a:solidFill>
            <a:srgbClr val="E3F0EE"/>
          </a:solidFill>
          <a:ln w="12700">
            <a:solidFill>
              <a:srgbClr val="E3F0EE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4197096" y="1417320"/>
            <a:ext cx="731520" cy="731520"/>
          </a:xfrm>
          <a:prstGeom prst="ellipse">
            <a:avLst/>
          </a:prstGeom>
          <a:solidFill>
            <a:srgbClr val="0F5E63"/>
          </a:solidFill>
          <a:ln w="12700">
            <a:solidFill>
              <a:srgbClr val="0F5E63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9976" y="1600200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3877056" y="228600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4C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Κάρτες &amp; υλικά δοκιμών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3895344" y="2926080"/>
            <a:ext cx="133502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D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κάρτες γραφικών/δικτύου, δίσκοι, USB, POST card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5449824" y="1234440"/>
            <a:ext cx="1554480" cy="32918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3F0EE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5861304" y="1417320"/>
            <a:ext cx="731520" cy="731520"/>
          </a:xfrm>
          <a:prstGeom prst="ellipse">
            <a:avLst/>
          </a:prstGeom>
          <a:solidFill>
            <a:srgbClr val="0F5E63"/>
          </a:solidFill>
          <a:ln w="12700">
            <a:solidFill>
              <a:srgbClr val="0F5E63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4184" y="1600200"/>
            <a:ext cx="365760" cy="36576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541264" y="228600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4C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Λογισμικό διάσωσης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5559552" y="2926080"/>
            <a:ext cx="133502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D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εκκίνηση από USB/DVD για ιούς και χαλασμένους δίσκους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7114032" y="1234440"/>
            <a:ext cx="1554480" cy="3291840"/>
          </a:xfrm>
          <a:prstGeom prst="roundRect">
            <a:avLst>
              <a:gd name="adj" fmla="val 5882"/>
            </a:avLst>
          </a:prstGeom>
          <a:solidFill>
            <a:srgbClr val="E3F0EE"/>
          </a:solidFill>
          <a:ln w="12700">
            <a:solidFill>
              <a:srgbClr val="E3F0EE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7525512" y="1417320"/>
            <a:ext cx="731520" cy="731520"/>
          </a:xfrm>
          <a:prstGeom prst="ellipse">
            <a:avLst/>
          </a:prstGeom>
          <a:solidFill>
            <a:srgbClr val="0F5E63"/>
          </a:solidFill>
          <a:ln w="12700">
            <a:solidFill>
              <a:srgbClr val="0F5E63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08392" y="1600200"/>
            <a:ext cx="365760" cy="36576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7205472" y="228600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4C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Άλλες συσκευές</a:t>
            </a:r>
            <a:endParaRPr lang="en-US" sz="1500" dirty="0"/>
          </a:p>
        </p:txBody>
      </p:sp>
      <p:sp>
        <p:nvSpPr>
          <p:cNvPr id="27" name="Text 20"/>
          <p:cNvSpPr txBox="1"/>
          <p:nvPr/>
        </p:nvSpPr>
        <p:spPr>
          <a:xfrm>
            <a:off x="7223760" y="2926080"/>
            <a:ext cx="133502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D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φορητός, switch, router ADSL, access point</a:t>
            </a:r>
            <a:endParaRPr lang="en-US" sz="1200" dirty="0"/>
          </a:p>
        </p:txBody>
      </p:sp>
      <p:sp>
        <p:nvSpPr>
          <p:cNvPr id="28" name="Text 21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8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Κεφ. 1.1 · Το εργαστήριο συντήρησης υπολογιστικών συσκευών</a:t>
            </a:r>
            <a:endParaRPr lang="en-US" sz="1000" dirty="0"/>
          </a:p>
        </p:txBody>
      </p:sp>
      <p:sp>
        <p:nvSpPr>
          <p:cNvPr id="29" name="Text 22"/>
          <p:cNvSpPr txBox="1"/>
          <p:nvPr/>
        </p:nvSpPr>
        <p:spPr>
          <a:xfrm>
            <a:off x="8138160" y="48006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4C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Το κατσαβίδι: το πιο βασικό εργαλείο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1920240" cy="2331720"/>
          </a:xfrm>
          <a:prstGeom prst="roundRect">
            <a:avLst>
              <a:gd name="adj" fmla="val 4762"/>
            </a:avLst>
          </a:prstGeom>
          <a:solidFill>
            <a:srgbClr val="E3F0EE"/>
          </a:solidFill>
          <a:ln w="12700">
            <a:solidFill>
              <a:srgbClr val="E3F0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5840" y="1417320"/>
            <a:ext cx="822960" cy="822960"/>
          </a:xfrm>
          <a:prstGeom prst="ellipse">
            <a:avLst/>
          </a:prstGeom>
          <a:solidFill>
            <a:srgbClr val="B8C4C2"/>
          </a:solidFill>
          <a:ln w="25400">
            <a:solidFill>
              <a:srgbClr val="7E8C8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43000" y="1773936"/>
            <a:ext cx="548640" cy="109728"/>
          </a:xfrm>
          <a:prstGeom prst="rect">
            <a:avLst/>
          </a:prstGeom>
          <a:solidFill>
            <a:srgbClr val="0F4C51"/>
          </a:solidFill>
          <a:ln w="12700">
            <a:solidFill>
              <a:srgbClr val="0F4C5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62456" y="1554480"/>
            <a:ext cx="109728" cy="548640"/>
          </a:xfrm>
          <a:prstGeom prst="rect">
            <a:avLst/>
          </a:prstGeom>
          <a:solidFill>
            <a:srgbClr val="0F4C51"/>
          </a:solidFill>
          <a:ln w="12700">
            <a:solidFill>
              <a:srgbClr val="0F4C5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3774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4C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Σταυρός (Phillips)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88036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D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Η πιο συνηθισμένη βίδα στα κουτιά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542032" y="1234440"/>
            <a:ext cx="1920240" cy="2331720"/>
          </a:xfrm>
          <a:prstGeom prst="roundRect">
            <a:avLst>
              <a:gd name="adj" fmla="val 4762"/>
            </a:avLst>
          </a:prstGeom>
          <a:solidFill>
            <a:srgbClr val="E3F0EE"/>
          </a:solidFill>
          <a:ln w="12700">
            <a:solidFill>
              <a:srgbClr val="E3F0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090672" y="1417320"/>
            <a:ext cx="822960" cy="822960"/>
          </a:xfrm>
          <a:prstGeom prst="ellipse">
            <a:avLst/>
          </a:prstGeom>
          <a:solidFill>
            <a:srgbClr val="B8C4C2"/>
          </a:solidFill>
          <a:ln w="25400">
            <a:solidFill>
              <a:srgbClr val="7E8C8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0" y="1773936"/>
            <a:ext cx="603504" cy="109728"/>
          </a:xfrm>
          <a:prstGeom prst="rect">
            <a:avLst/>
          </a:prstGeom>
          <a:solidFill>
            <a:srgbClr val="0F4C51"/>
          </a:solidFill>
          <a:ln w="12700">
            <a:solidFill>
              <a:srgbClr val="0F4C5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633472" y="23774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4C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Ίσιο (Slotted)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2633472" y="288036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D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Μία ίσια σχισμή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26864" y="1234440"/>
            <a:ext cx="1920240" cy="2331720"/>
          </a:xfrm>
          <a:prstGeom prst="roundRect">
            <a:avLst>
              <a:gd name="adj" fmla="val 4762"/>
            </a:avLst>
          </a:prstGeom>
          <a:solidFill>
            <a:srgbClr val="E3F0EE"/>
          </a:solidFill>
          <a:ln w="12700">
            <a:solidFill>
              <a:srgbClr val="E3F0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75504" y="1417320"/>
            <a:ext cx="822960" cy="822960"/>
          </a:xfrm>
          <a:prstGeom prst="ellipse">
            <a:avLst/>
          </a:prstGeom>
          <a:solidFill>
            <a:srgbClr val="B8C4C2"/>
          </a:solidFill>
          <a:ln w="25400">
            <a:solidFill>
              <a:srgbClr val="7E8C8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12664" y="1554480"/>
            <a:ext cx="548640" cy="548640"/>
          </a:xfrm>
          <a:prstGeom prst="star6">
            <a:avLst/>
          </a:prstGeom>
          <a:solidFill>
            <a:srgbClr val="0F4C51"/>
          </a:solidFill>
          <a:ln w="12700">
            <a:solidFill>
              <a:srgbClr val="0F4C5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513832" y="1755648"/>
            <a:ext cx="146304" cy="146304"/>
          </a:xfrm>
          <a:prstGeom prst="ellipse">
            <a:avLst/>
          </a:prstGeom>
          <a:solidFill>
            <a:srgbClr val="B8C4C2"/>
          </a:solidFill>
          <a:ln w="12700">
            <a:solidFill>
              <a:srgbClr val="B8C4C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718304" y="23774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4C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Ασφαλείας (Security T)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4718304" y="288036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D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Αστέρι με τρύπα – σε laptop &amp; συσκευές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711696" y="1234440"/>
            <a:ext cx="1920240" cy="2331720"/>
          </a:xfrm>
          <a:prstGeom prst="roundRect">
            <a:avLst>
              <a:gd name="adj" fmla="val 4762"/>
            </a:avLst>
          </a:prstGeom>
          <a:solidFill>
            <a:srgbClr val="E3F0EE"/>
          </a:solidFill>
          <a:ln w="12700">
            <a:solidFill>
              <a:srgbClr val="E3F0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260336" y="1417320"/>
            <a:ext cx="822960" cy="822960"/>
          </a:xfrm>
          <a:prstGeom prst="ellipse">
            <a:avLst/>
          </a:prstGeom>
          <a:solidFill>
            <a:srgbClr val="B8C4C2"/>
          </a:solidFill>
          <a:ln w="25400">
            <a:solidFill>
              <a:srgbClr val="7E8C8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260336" y="1417320"/>
            <a:ext cx="822960" cy="822960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6076" y="1623060"/>
            <a:ext cx="411480" cy="411480"/>
          </a:xfrm>
          <a:prstGeom prst="rect">
            <a:avLst/>
          </a:prstGeom>
        </p:spPr>
      </p:pic>
      <p:sp>
        <p:nvSpPr>
          <p:cNvPr id="24" name="Text 21"/>
          <p:cNvSpPr txBox="1"/>
          <p:nvPr/>
        </p:nvSpPr>
        <p:spPr>
          <a:xfrm>
            <a:off x="6803136" y="23774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4C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Δοκιμαστικό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6803136" y="288036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D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Ανάβει λαμπάκι όταν υπάρχει τάση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457200" y="3749040"/>
            <a:ext cx="8229600" cy="868680"/>
          </a:xfrm>
          <a:prstGeom prst="roundRect">
            <a:avLst>
              <a:gd name="adj" fmla="val 10526"/>
            </a:avLst>
          </a:prstGeom>
          <a:solidFill>
            <a:srgbClr val="0F4C51"/>
          </a:solidFill>
          <a:ln w="12700">
            <a:solidFill>
              <a:srgbClr val="0F4C51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85800" y="379476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Κανόνας: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σωστός τύπος και σωστό μέγεθος μύτης. Με λάθος κατσαβίδι «γδέρνουμε» τη βίδα και μπορεί να προκαλέσουμε βλάβη. Το ηλεκτρικό κατσαβίδι δεν είναι απαραίτητο, αλλά κερδίζει χρόνο.</a:t>
            </a:r>
            <a:endParaRPr lang="en-US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8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Κεφ. 1.1 · Το εργαστήριο συντήρησης υπολογιστικών συσκευών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8138160" y="48006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4C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Πένσες, μυτοτσίμπιδα και πρέσα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325880"/>
            <a:ext cx="868680" cy="868680"/>
          </a:xfrm>
          <a:prstGeom prst="ellipse">
            <a:avLst/>
          </a:prstGeom>
          <a:solidFill>
            <a:srgbClr val="0F5E63"/>
          </a:solidFill>
          <a:ln w="12700">
            <a:solidFill>
              <a:srgbClr val="0F5E63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4370" y="1543050"/>
            <a:ext cx="434340" cy="4343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508760" y="12801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F4C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Πένσα</a:t>
            </a:r>
            <a:endParaRPr lang="en-US" sz="1900" dirty="0"/>
          </a:p>
        </p:txBody>
      </p:sp>
      <p:sp>
        <p:nvSpPr>
          <p:cNvPr id="6" name="Text 3"/>
          <p:cNvSpPr txBox="1"/>
          <p:nvPr/>
        </p:nvSpPr>
        <p:spPr>
          <a:xfrm>
            <a:off x="1508760" y="169164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D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Κρατάμε, λυγίζουμε, κόβουμε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4663440" y="1325880"/>
            <a:ext cx="868680" cy="868680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0610" y="1543050"/>
            <a:ext cx="434340" cy="43434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715000" y="12801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F4C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Μυτοτσίμπιδο</a:t>
            </a:r>
            <a:endParaRPr lang="en-US" sz="1900" dirty="0"/>
          </a:p>
        </p:txBody>
      </p:sp>
      <p:sp>
        <p:nvSpPr>
          <p:cNvPr id="10" name="Text 6"/>
          <p:cNvSpPr txBox="1"/>
          <p:nvPr/>
        </p:nvSpPr>
        <p:spPr>
          <a:xfrm>
            <a:off x="5715000" y="169164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D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Πιάνουμε μικρά κομμάτια σε στενά σημεία (π.χ. jumper)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457200" y="2971800"/>
            <a:ext cx="868680" cy="868680"/>
          </a:xfrm>
          <a:prstGeom prst="ellipse">
            <a:avLst/>
          </a:prstGeom>
          <a:solidFill>
            <a:srgbClr val="0F5E63"/>
          </a:solidFill>
          <a:ln w="12700">
            <a:solidFill>
              <a:srgbClr val="0F5E63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370" y="3188970"/>
            <a:ext cx="434340" cy="43434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508760" y="29260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F4C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Απογυμνωτής / κοπτάκι</a:t>
            </a:r>
            <a:endParaRPr lang="en-US" sz="1900" dirty="0"/>
          </a:p>
        </p:txBody>
      </p:sp>
      <p:sp>
        <p:nvSpPr>
          <p:cNvPr id="14" name="Text 9"/>
          <p:cNvSpPr txBox="1"/>
          <p:nvPr/>
        </p:nvSpPr>
        <p:spPr>
          <a:xfrm>
            <a:off x="1508760" y="333756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D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Βγάζουμε τη μόνωση, κόβουμε καλώδια</a:t>
            </a:r>
            <a:endParaRPr lang="en-US" sz="1500" dirty="0"/>
          </a:p>
        </p:txBody>
      </p:sp>
      <p:sp>
        <p:nvSpPr>
          <p:cNvPr id="15" name="Shape 10"/>
          <p:cNvSpPr/>
          <p:nvPr/>
        </p:nvSpPr>
        <p:spPr>
          <a:xfrm>
            <a:off x="4663440" y="2971800"/>
            <a:ext cx="868680" cy="868680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0610" y="3188970"/>
            <a:ext cx="434340" cy="43434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5715000" y="29260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F4C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Πρέσα RJ45</a:t>
            </a:r>
            <a:endParaRPr lang="en-US" sz="1900" dirty="0"/>
          </a:p>
        </p:txBody>
      </p:sp>
      <p:sp>
        <p:nvSpPr>
          <p:cNvPr id="18" name="Text 12"/>
          <p:cNvSpPr txBox="1"/>
          <p:nvPr/>
        </p:nvSpPr>
        <p:spPr>
          <a:xfrm>
            <a:off x="5715000" y="333756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D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Φτιάχνουμε καλώδιο δικτύου στο μήκος που θέλουμε</a:t>
            </a:r>
            <a:endParaRPr lang="en-US" sz="1500" dirty="0"/>
          </a:p>
        </p:txBody>
      </p:sp>
      <p:sp>
        <p:nvSpPr>
          <p:cNvPr id="19" name="Text 13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8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Κεφ. 1.1 · Το εργαστήριο συντήρησης υπολογιστικών συσκευών</a:t>
            </a:r>
            <a:endParaRPr lang="en-US" sz="1000" dirty="0"/>
          </a:p>
        </p:txBody>
      </p:sp>
      <p:sp>
        <p:nvSpPr>
          <p:cNvPr id="20" name="Text 14"/>
          <p:cNvSpPr txBox="1"/>
          <p:nvPr/>
        </p:nvSpPr>
        <p:spPr>
          <a:xfrm>
            <a:off x="8138160" y="48006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4C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Φτιάχνουμε καλώδιο δικτύου UTP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411480" cy="411480"/>
          </a:xfrm>
          <a:prstGeom prst="ellipse">
            <a:avLst/>
          </a:prstGeom>
          <a:solidFill>
            <a:srgbClr val="0F5E63"/>
          </a:solidFill>
          <a:ln w="12700">
            <a:solidFill>
              <a:srgbClr val="0F5E6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43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111556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D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Κόβουμε το μήκος που θέλουμε + ~10 εκ. περιθώριο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709928"/>
            <a:ext cx="411480" cy="411480"/>
          </a:xfrm>
          <a:prstGeom prst="ellipse">
            <a:avLst/>
          </a:prstGeom>
          <a:solidFill>
            <a:srgbClr val="0F5E63"/>
          </a:solidFill>
          <a:ln w="12700">
            <a:solidFill>
              <a:srgbClr val="0F5E6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7099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1682496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D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Απογυμνώνουμε την εξωτερική μόνωση (~2 εκ.)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276856"/>
            <a:ext cx="411480" cy="411480"/>
          </a:xfrm>
          <a:prstGeom prst="ellipse">
            <a:avLst/>
          </a:prstGeom>
          <a:solidFill>
            <a:srgbClr val="0F5E63"/>
          </a:solidFill>
          <a:ln w="12700">
            <a:solidFill>
              <a:srgbClr val="0F5E6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27685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2249424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D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Ισιώνουμε και βάζουμε τα 8 καλωδιάκια στη σειρά του προτύπου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843784"/>
            <a:ext cx="411480" cy="411480"/>
          </a:xfrm>
          <a:prstGeom prst="ellipse">
            <a:avLst/>
          </a:prstGeom>
          <a:solidFill>
            <a:srgbClr val="0F5E63"/>
          </a:solidFill>
          <a:ln w="12700">
            <a:solidFill>
              <a:srgbClr val="0F5E6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284378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005840" y="2816352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D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Τα κόβουμε ίσια, να μείνει ~1 εκ.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3410712"/>
            <a:ext cx="411480" cy="411480"/>
          </a:xfrm>
          <a:prstGeom prst="ellipse">
            <a:avLst/>
          </a:prstGeom>
          <a:solidFill>
            <a:srgbClr val="0F5E63"/>
          </a:solidFill>
          <a:ln w="12700">
            <a:solidFill>
              <a:srgbClr val="0F5E6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34107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005840" y="338328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D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Τα σπρώχνουμε μέσα στο βύσμα RJ45 μέχρι τέρμα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3977640"/>
            <a:ext cx="411480" cy="411480"/>
          </a:xfrm>
          <a:prstGeom prst="ellipse">
            <a:avLst/>
          </a:prstGeom>
          <a:solidFill>
            <a:srgbClr val="0F5E63"/>
          </a:solidFill>
          <a:ln w="12700">
            <a:solidFill>
              <a:srgbClr val="0F5E6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7200" y="3977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1005840" y="395020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D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Πρεσάρουμε και ελέγχουμε με ελεγκτή καλωδίων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120640" y="1143000"/>
            <a:ext cx="3566160" cy="3429000"/>
          </a:xfrm>
          <a:prstGeom prst="roundRect">
            <a:avLst>
              <a:gd name="adj" fmla="val 2667"/>
            </a:avLst>
          </a:prstGeom>
          <a:solidFill>
            <a:srgbClr val="E3F0EE"/>
          </a:solidFill>
          <a:ln w="12700">
            <a:solidFill>
              <a:srgbClr val="E3F0E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303520" y="12344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4C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Σειρά T568B (θέσεις 1 → 8)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5349240" y="1737360"/>
            <a:ext cx="27432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88888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349240" y="1828800"/>
            <a:ext cx="274320" cy="109728"/>
          </a:xfrm>
          <a:prstGeom prst="rect">
            <a:avLst/>
          </a:prstGeom>
          <a:solidFill>
            <a:srgbClr val="F28C1E"/>
          </a:solidFill>
          <a:ln w="12700">
            <a:solidFill>
              <a:srgbClr val="F28C1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349240" y="2103120"/>
            <a:ext cx="274320" cy="109728"/>
          </a:xfrm>
          <a:prstGeom prst="rect">
            <a:avLst/>
          </a:prstGeom>
          <a:solidFill>
            <a:srgbClr val="F28C1E"/>
          </a:solidFill>
          <a:ln w="12700">
            <a:solidFill>
              <a:srgbClr val="F28C1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349240" y="2377440"/>
            <a:ext cx="274320" cy="109728"/>
          </a:xfrm>
          <a:prstGeom prst="rect">
            <a:avLst/>
          </a:prstGeom>
          <a:solidFill>
            <a:srgbClr val="F28C1E"/>
          </a:solidFill>
          <a:ln w="12700">
            <a:solidFill>
              <a:srgbClr val="F28C1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349240" y="2651760"/>
            <a:ext cx="274320" cy="109728"/>
          </a:xfrm>
          <a:prstGeom prst="rect">
            <a:avLst/>
          </a:prstGeom>
          <a:solidFill>
            <a:srgbClr val="F28C1E"/>
          </a:solidFill>
          <a:ln w="12700">
            <a:solidFill>
              <a:srgbClr val="F28C1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349240" y="2926080"/>
            <a:ext cx="274320" cy="109728"/>
          </a:xfrm>
          <a:prstGeom prst="rect">
            <a:avLst/>
          </a:prstGeom>
          <a:solidFill>
            <a:srgbClr val="F28C1E"/>
          </a:solidFill>
          <a:ln w="12700">
            <a:solidFill>
              <a:srgbClr val="F28C1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349240" y="3200400"/>
            <a:ext cx="274320" cy="109728"/>
          </a:xfrm>
          <a:prstGeom prst="rect">
            <a:avLst/>
          </a:prstGeom>
          <a:solidFill>
            <a:srgbClr val="F28C1E"/>
          </a:solidFill>
          <a:ln w="12700">
            <a:solidFill>
              <a:srgbClr val="F28C1E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349240" y="35204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4C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742432" y="1737360"/>
            <a:ext cx="274320" cy="1737360"/>
          </a:xfrm>
          <a:prstGeom prst="rect">
            <a:avLst/>
          </a:prstGeom>
          <a:solidFill>
            <a:srgbClr val="F28C1E"/>
          </a:solidFill>
          <a:ln w="9525">
            <a:solidFill>
              <a:srgbClr val="88888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742432" y="35204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4C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135624" y="1737360"/>
            <a:ext cx="27432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88888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135624" y="1828800"/>
            <a:ext cx="274320" cy="109728"/>
          </a:xfrm>
          <a:prstGeom prst="rect">
            <a:avLst/>
          </a:prstGeom>
          <a:solidFill>
            <a:srgbClr val="2F9E44"/>
          </a:solidFill>
          <a:ln w="12700">
            <a:solidFill>
              <a:srgbClr val="2F9E4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135624" y="2103120"/>
            <a:ext cx="274320" cy="109728"/>
          </a:xfrm>
          <a:prstGeom prst="rect">
            <a:avLst/>
          </a:prstGeom>
          <a:solidFill>
            <a:srgbClr val="2F9E44"/>
          </a:solidFill>
          <a:ln w="12700">
            <a:solidFill>
              <a:srgbClr val="2F9E4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135624" y="2377440"/>
            <a:ext cx="274320" cy="109728"/>
          </a:xfrm>
          <a:prstGeom prst="rect">
            <a:avLst/>
          </a:prstGeom>
          <a:solidFill>
            <a:srgbClr val="2F9E44"/>
          </a:solidFill>
          <a:ln w="12700">
            <a:solidFill>
              <a:srgbClr val="2F9E4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135624" y="2651760"/>
            <a:ext cx="274320" cy="109728"/>
          </a:xfrm>
          <a:prstGeom prst="rect">
            <a:avLst/>
          </a:prstGeom>
          <a:solidFill>
            <a:srgbClr val="2F9E44"/>
          </a:solidFill>
          <a:ln w="12700">
            <a:solidFill>
              <a:srgbClr val="2F9E4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135624" y="2926080"/>
            <a:ext cx="274320" cy="109728"/>
          </a:xfrm>
          <a:prstGeom prst="rect">
            <a:avLst/>
          </a:prstGeom>
          <a:solidFill>
            <a:srgbClr val="2F9E44"/>
          </a:solidFill>
          <a:ln w="12700">
            <a:solidFill>
              <a:srgbClr val="2F9E4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135624" y="3200400"/>
            <a:ext cx="274320" cy="109728"/>
          </a:xfrm>
          <a:prstGeom prst="rect">
            <a:avLst/>
          </a:prstGeom>
          <a:solidFill>
            <a:srgbClr val="2F9E44"/>
          </a:solidFill>
          <a:ln w="12700">
            <a:solidFill>
              <a:srgbClr val="2F9E44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135624" y="35204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4C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6528816" y="1737360"/>
            <a:ext cx="274320" cy="1737360"/>
          </a:xfrm>
          <a:prstGeom prst="rect">
            <a:avLst/>
          </a:prstGeom>
          <a:solidFill>
            <a:srgbClr val="1F5FBF"/>
          </a:solidFill>
          <a:ln w="9525">
            <a:solidFill>
              <a:srgbClr val="888888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528816" y="35204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4C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6922008" y="1737360"/>
            <a:ext cx="27432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88888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922008" y="1828800"/>
            <a:ext cx="274320" cy="109728"/>
          </a:xfrm>
          <a:prstGeom prst="rect">
            <a:avLst/>
          </a:prstGeom>
          <a:solidFill>
            <a:srgbClr val="1F5FBF"/>
          </a:solidFill>
          <a:ln w="12700">
            <a:solidFill>
              <a:srgbClr val="1F5FB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922008" y="2103120"/>
            <a:ext cx="274320" cy="109728"/>
          </a:xfrm>
          <a:prstGeom prst="rect">
            <a:avLst/>
          </a:prstGeom>
          <a:solidFill>
            <a:srgbClr val="1F5FBF"/>
          </a:solidFill>
          <a:ln w="12700">
            <a:solidFill>
              <a:srgbClr val="1F5FB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922008" y="2377440"/>
            <a:ext cx="274320" cy="109728"/>
          </a:xfrm>
          <a:prstGeom prst="rect">
            <a:avLst/>
          </a:prstGeom>
          <a:solidFill>
            <a:srgbClr val="1F5FBF"/>
          </a:solidFill>
          <a:ln w="12700">
            <a:solidFill>
              <a:srgbClr val="1F5FB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922008" y="2651760"/>
            <a:ext cx="274320" cy="109728"/>
          </a:xfrm>
          <a:prstGeom prst="rect">
            <a:avLst/>
          </a:prstGeom>
          <a:solidFill>
            <a:srgbClr val="1F5FBF"/>
          </a:solidFill>
          <a:ln w="12700">
            <a:solidFill>
              <a:srgbClr val="1F5FB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922008" y="2926080"/>
            <a:ext cx="274320" cy="109728"/>
          </a:xfrm>
          <a:prstGeom prst="rect">
            <a:avLst/>
          </a:prstGeom>
          <a:solidFill>
            <a:srgbClr val="1F5FBF"/>
          </a:solidFill>
          <a:ln w="12700">
            <a:solidFill>
              <a:srgbClr val="1F5FB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922008" y="3200400"/>
            <a:ext cx="274320" cy="109728"/>
          </a:xfrm>
          <a:prstGeom prst="rect">
            <a:avLst/>
          </a:prstGeom>
          <a:solidFill>
            <a:srgbClr val="1F5FBF"/>
          </a:solidFill>
          <a:ln w="12700">
            <a:solidFill>
              <a:srgbClr val="1F5FBF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6922008" y="35204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4C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7315200" y="1737360"/>
            <a:ext cx="274320" cy="1737360"/>
          </a:xfrm>
          <a:prstGeom prst="rect">
            <a:avLst/>
          </a:prstGeom>
          <a:solidFill>
            <a:srgbClr val="2F9E44"/>
          </a:solidFill>
          <a:ln w="9525">
            <a:solidFill>
              <a:srgbClr val="888888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7315200" y="35204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4C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7708392" y="1737360"/>
            <a:ext cx="27432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888888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08392" y="1828800"/>
            <a:ext cx="274320" cy="109728"/>
          </a:xfrm>
          <a:prstGeom prst="rect">
            <a:avLst/>
          </a:prstGeom>
          <a:solidFill>
            <a:srgbClr val="7A4A21"/>
          </a:solidFill>
          <a:ln w="12700">
            <a:solidFill>
              <a:srgbClr val="7A4A21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708392" y="2103120"/>
            <a:ext cx="274320" cy="109728"/>
          </a:xfrm>
          <a:prstGeom prst="rect">
            <a:avLst/>
          </a:prstGeom>
          <a:solidFill>
            <a:srgbClr val="7A4A21"/>
          </a:solidFill>
          <a:ln w="12700">
            <a:solidFill>
              <a:srgbClr val="7A4A21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708392" y="2377440"/>
            <a:ext cx="274320" cy="109728"/>
          </a:xfrm>
          <a:prstGeom prst="rect">
            <a:avLst/>
          </a:prstGeom>
          <a:solidFill>
            <a:srgbClr val="7A4A21"/>
          </a:solidFill>
          <a:ln w="12700">
            <a:solidFill>
              <a:srgbClr val="7A4A21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708392" y="2651760"/>
            <a:ext cx="274320" cy="109728"/>
          </a:xfrm>
          <a:prstGeom prst="rect">
            <a:avLst/>
          </a:prstGeom>
          <a:solidFill>
            <a:srgbClr val="7A4A21"/>
          </a:solidFill>
          <a:ln w="12700">
            <a:solidFill>
              <a:srgbClr val="7A4A21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708392" y="2926080"/>
            <a:ext cx="274320" cy="109728"/>
          </a:xfrm>
          <a:prstGeom prst="rect">
            <a:avLst/>
          </a:prstGeom>
          <a:solidFill>
            <a:srgbClr val="7A4A21"/>
          </a:solidFill>
          <a:ln w="12700">
            <a:solidFill>
              <a:srgbClr val="7A4A21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708392" y="3200400"/>
            <a:ext cx="274320" cy="109728"/>
          </a:xfrm>
          <a:prstGeom prst="rect">
            <a:avLst/>
          </a:prstGeom>
          <a:solidFill>
            <a:srgbClr val="7A4A21"/>
          </a:solidFill>
          <a:ln w="12700">
            <a:solidFill>
              <a:srgbClr val="7A4A21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7708392" y="35204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4C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61" name="Shape 59"/>
          <p:cNvSpPr/>
          <p:nvPr/>
        </p:nvSpPr>
        <p:spPr>
          <a:xfrm>
            <a:off x="8101584" y="1737360"/>
            <a:ext cx="274320" cy="1737360"/>
          </a:xfrm>
          <a:prstGeom prst="rect">
            <a:avLst/>
          </a:prstGeom>
          <a:solidFill>
            <a:srgbClr val="7A4A21"/>
          </a:solidFill>
          <a:ln w="9525">
            <a:solidFill>
              <a:srgbClr val="888888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8101584" y="35204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4C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63" name="Text 61"/>
          <p:cNvSpPr txBox="1"/>
          <p:nvPr/>
        </p:nvSpPr>
        <p:spPr>
          <a:xfrm>
            <a:off x="5303520" y="384048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D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Άσπρα-ριγέ στις μονές θέσεις. Το T568A αλλάζει μεταξύ τους το πορτοκαλί και το πράσινο ζευγάρι.</a:t>
            </a:r>
            <a:endParaRPr lang="en-US" sz="1200" dirty="0"/>
          </a:p>
        </p:txBody>
      </p:sp>
      <p:sp>
        <p:nvSpPr>
          <p:cNvPr id="64" name="Text 62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8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Κεφ. 1.1 · Το εργαστήριο συντήρησης υπολογιστικών συσκευών</a:t>
            </a:r>
            <a:endParaRPr lang="en-US" sz="1000" dirty="0"/>
          </a:p>
        </p:txBody>
      </p:sp>
      <p:sp>
        <p:nvSpPr>
          <p:cNvPr id="65" name="Text 63"/>
          <p:cNvSpPr txBox="1"/>
          <p:nvPr/>
        </p:nvSpPr>
        <p:spPr>
          <a:xfrm>
            <a:off x="8138160" y="48006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4C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Όταν ο υπολογιστής δεν ξεκινά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4023360" cy="3291840"/>
          </a:xfrm>
          <a:prstGeom prst="roundRect">
            <a:avLst>
              <a:gd name="adj" fmla="val 2778"/>
            </a:avLst>
          </a:prstGeom>
          <a:solidFill>
            <a:srgbClr val="E3F0EE"/>
          </a:solidFill>
          <a:ln w="19050">
            <a:solidFill>
              <a:srgbClr val="E3F0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663440" y="1234440"/>
            <a:ext cx="402336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9050">
            <a:solidFill>
              <a:srgbClr val="E3F0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463040"/>
            <a:ext cx="822960" cy="822960"/>
          </a:xfrm>
          <a:prstGeom prst="ellipse">
            <a:avLst/>
          </a:prstGeom>
          <a:solidFill>
            <a:srgbClr val="0F5E63"/>
          </a:solidFill>
          <a:ln w="12700">
            <a:solidFill>
              <a:srgbClr val="0F5E63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" y="1668780"/>
            <a:ext cx="411480" cy="4114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91640" y="155448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4C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Λογισμικό διάσωσης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514600"/>
            <a:ext cx="3566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D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Ξεκινά από USB ή DVD, χωρίς τα Windows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D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Καθαρίζει ιούς, σώζει αρχεία, ελέγχει δίσκους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D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Βιβλίο: Trinity, Hiren's Boot CD, Parted Magic, Kaspersky Rescue Disk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892040" y="1463040"/>
            <a:ext cx="822960" cy="822960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7780" y="166878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897880" y="155448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4C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Κάρτα ελέγχου POST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4937760" y="2514600"/>
            <a:ext cx="3566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D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Μπαίνει σε υποδοχή της μητρικής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D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Δείχνει κωδικό για το σημείο όπου «κολλάει» ο αρχικός έλεγχος (POST)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D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Χρήσιμη όταν δεν έχουμε ούτε εικόνα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8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Κεφ. 1.1 · Το εργαστήριο συντήρησης υπολογιστικών συσκευών</a:t>
            </a:r>
            <a:endParaRPr lang="en-US" sz="1000" dirty="0"/>
          </a:p>
        </p:txBody>
      </p:sp>
      <p:sp>
        <p:nvSpPr>
          <p:cNvPr id="14" name="Text 10"/>
          <p:cNvSpPr txBox="1"/>
          <p:nvPr/>
        </p:nvSpPr>
        <p:spPr>
          <a:xfrm>
            <a:off x="8138160" y="48006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3F0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4C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Ώρα για το φύλλο εργασίας 1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Ανοίξτε: Ώρα1_Φύλλο_Εργασίας.docx και Ώρα1_Εφαρμογή_Εργαλεία.html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2606040" cy="278892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691640"/>
            <a:ext cx="731520" cy="731520"/>
          </a:xfrm>
          <a:prstGeom prst="ellipse">
            <a:avLst/>
          </a:prstGeom>
          <a:solidFill>
            <a:srgbClr val="2E9E5B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6916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Α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17830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4C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Ξεκινάω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651760"/>
            <a:ext cx="2240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D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Όλοι ξεκινούν από εδώ. Αντιστοίχιση εργαλείων, αναζήτηση εικόνων, σωστό/λάθος.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46120" y="1508760"/>
            <a:ext cx="2606040" cy="278892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29000" y="1691640"/>
            <a:ext cx="731520" cy="731520"/>
          </a:xfrm>
          <a:prstGeom prst="ellipse">
            <a:avLst/>
          </a:prstGeom>
          <a:solidFill>
            <a:srgbClr val="E0A100"/>
          </a:solidFill>
          <a:ln w="12700">
            <a:solidFill>
              <a:srgbClr val="E0A10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29000" y="16916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Β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4297680" y="17830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4C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Προχωράω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3429000" y="2651760"/>
            <a:ext cx="2240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D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Καλώδιο T568B στην εφαρμογή, έρευνα τιμών εργαλείων, POST card.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035040" y="1508760"/>
            <a:ext cx="2606040" cy="278892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17920" y="1691640"/>
            <a:ext cx="731520" cy="731520"/>
          </a:xfrm>
          <a:prstGeom prst="ellipse">
            <a:avLst/>
          </a:prstGeom>
          <a:solidFill>
            <a:srgbClr val="D8483B"/>
          </a:solidFill>
          <a:ln w="12700">
            <a:solidFill>
              <a:srgbClr val="D8483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17920" y="16916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Γ</a:t>
            </a:r>
            <a:endParaRPr lang="en-US" sz="3000" dirty="0"/>
          </a:p>
        </p:txBody>
      </p:sp>
      <p:sp>
        <p:nvSpPr>
          <p:cNvPr id="17" name="Text 15"/>
          <p:cNvSpPr txBox="1"/>
          <p:nvPr/>
        </p:nvSpPr>
        <p:spPr>
          <a:xfrm>
            <a:off x="7086600" y="17830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4C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Πρόκληση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6217920" y="2651760"/>
            <a:ext cx="2240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D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Σενάρια τεχνικού, κάτοψη καταστήματος, bootable USB διάσωσης.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4389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0F4C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Τελειώσατε το Α; Συνεχίστε στο Β. Δεν χρειάζεται να τελειώσουν όλοι τα πάντα.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8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Κεφ. 1.1 · Το εργαστήριο συντήρησης υπολογιστικών συσκευών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8138160" y="48006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4C5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Ανακεφαλαίωση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457200" cy="457200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940" y="1394460"/>
            <a:ext cx="228600" cy="2286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88720" y="12801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Εργαστήριο = ασφαλής, οργανωμένος χώρος με ζώνες</a:t>
            </a:r>
            <a:endParaRPr lang="en-US" sz="1900" dirty="0"/>
          </a:p>
        </p:txBody>
      </p:sp>
      <p:sp>
        <p:nvSpPr>
          <p:cNvPr id="6" name="Shape 3"/>
          <p:cNvSpPr/>
          <p:nvPr/>
        </p:nvSpPr>
        <p:spPr>
          <a:xfrm>
            <a:off x="548640" y="1965960"/>
            <a:ext cx="457200" cy="457200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" y="2080260"/>
            <a:ext cx="228600" cy="22860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188720" y="19659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Σωστό εργαλείο για κάθε δουλειά</a:t>
            </a:r>
            <a:endParaRPr lang="en-US" sz="1900" dirty="0"/>
          </a:p>
        </p:txBody>
      </p:sp>
      <p:sp>
        <p:nvSpPr>
          <p:cNvPr id="9" name="Shape 5"/>
          <p:cNvSpPr/>
          <p:nvPr/>
        </p:nvSpPr>
        <p:spPr>
          <a:xfrm>
            <a:off x="548640" y="2651760"/>
            <a:ext cx="457200" cy="457200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" y="2766060"/>
            <a:ext cx="228600" cy="22860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188720" y="26517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Καλώδιο UTP: σειρά T568B, πρέσα, έλεγχος</a:t>
            </a:r>
            <a:endParaRPr lang="en-US" sz="1900" dirty="0"/>
          </a:p>
        </p:txBody>
      </p:sp>
      <p:sp>
        <p:nvSpPr>
          <p:cNvPr id="12" name="Shape 7"/>
          <p:cNvSpPr/>
          <p:nvPr/>
        </p:nvSpPr>
        <p:spPr>
          <a:xfrm>
            <a:off x="548640" y="3474720"/>
            <a:ext cx="8046720" cy="1005840"/>
          </a:xfrm>
          <a:prstGeom prst="roundRect">
            <a:avLst>
              <a:gd name="adj" fmla="val 9091"/>
            </a:avLst>
          </a:prstGeom>
          <a:solidFill>
            <a:srgbClr val="0F5E63"/>
          </a:solidFill>
          <a:ln w="12700">
            <a:solidFill>
              <a:srgbClr val="0F5E63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777240" y="3520440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Ερώτηση εξόδου: 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Αν ανοίγατε αύριο δικό σας μικρό service, ποια 3 εργαλεία θα αγοράζατε πρώτα και γιατί;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Ώρα 1 – Το εργαστήριο και τα εργαλεία</dc:title>
  <dc:subject>PptxGenJS Presentation</dc:subject>
  <dc:creator>PptxGenJS</dc:creator>
  <cp:lastModifiedBy>PptxGenJS</cp:lastModifiedBy>
  <cp:revision>1</cp:revision>
  <dcterms:created xsi:type="dcterms:W3CDTF">2026-09-16T14:26:33Z</dcterms:created>
  <dcterms:modified xsi:type="dcterms:W3CDTF">2026-09-16T14:26:33Z</dcterms:modified>
</cp:coreProperties>
</file>