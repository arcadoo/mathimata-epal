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Σύντομη σύνδεση με την προηγούμενη ώρα και παρουσίαση του θέματος.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Αφόρμηση (3-5 λεπτά). Ζητήστε να απαριθμήσουν συσκευές: κινητό, ρολόι, τηλεόραση, αυτοκίνητο, πλυντήριο. Κρατήστε τη λίστα στον πίνακα – θα την κατατάξουμε σε κατηγορίες.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Οι στόχοι του βιβλίου (§2.1). Το κόστος δεν δίνεται στο βιβλίο – θα το βρουν οι ίδιοι στο φύλλο εργασίας.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Ρωτήστε: είναι υπολογιστικές συσκευές το ηλεκτρονικό ρολόι, η έξυπνη τηλεόραση, το έξυπνο ψυγείο, το έξυπνο αυτοκίνητο; (δραστηριότητα βιβλίου).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Προαιρετικά: σύντομο βίντεο για το IoT (το βιβλίο προτείνει δύο στο YouTube).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Τα xxPi χρησιμοποιούνται συχνά σε infokiosks (διαδραστικά συστήματα πληροφόρησης).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Κοινό χαρακτηριστικό των φορητών: ενσωματωμένη ενεργειακή αυτονομία.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Συνδέστε με τον 2ο στόχο: κατηγορία ↔ χρήση.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Τα επόμενα μαθήματα του κεφαλαίου αφορούν το εσωτερικό του επιτραπέζιου υπολογιστή.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Η δεξιά στήλη είναι επικαιροποίηση, όχι περιεχόμενο του βιβλίου.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≈20 λεπτά. Κυκλοφορήστε πρώτα στους λιγότερο εξοικειωμένους. Οι γρήγοροι μπορούν να βοηθήσουν τον διπλανό τους αφού τελειώσουν το 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Οι απαντήσεις γράφονται στο τέλος του φύλλου εργασίας.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30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005840" cy="1005840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8915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874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B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ΚΕΦΑΛΑΙΟ 2 · 1η ΔΙΔΑΚΤΙΚΗ ΩΡΑ · §2.1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402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Υπολογιστικά συστήματα: κατηγορίες και χρήσεις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60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Εγκατάσταση, Διαχείριση και Συντήρηση Υπολογιστικών Συστημάτων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1097280" cy="1097280"/>
          </a:xfrm>
          <a:prstGeom prst="ellipse">
            <a:avLst/>
          </a:prstGeom>
          <a:solidFill>
            <a:srgbClr val="34459A"/>
          </a:solidFill>
          <a:ln w="12700">
            <a:solidFill>
              <a:srgbClr val="34459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058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920240" y="8686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44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Ας ξεκινήσουμε με μια ερώτηση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1920240" y="1371600"/>
            <a:ext cx="6766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Πόσοι «υπολογιστές» υπάρχουν γύρω σας αυτή τη στιγμή;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3246120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3474720"/>
            <a:ext cx="640080" cy="640080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363474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3401568"/>
            <a:ext cx="1508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Στην τσέπη σας;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3337560" y="3246120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520440" y="3474720"/>
            <a:ext cx="640080" cy="640080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0460" y="363474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297680" y="3401568"/>
            <a:ext cx="1508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Στο αυτοκίνητο;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6126480" y="3246120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309360" y="3474720"/>
            <a:ext cx="640080" cy="640080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380" y="363474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086600" y="3401568"/>
            <a:ext cx="1508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Στο σπίτι σας;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2.1 · Υπολογιστικά συστήματα: κατηγορίες και χρήσεις</a:t>
            </a:r>
            <a:endParaRPr lang="en-US" sz="1000" dirty="0"/>
          </a:p>
        </p:txBody>
      </p:sp>
      <p:sp>
        <p:nvSpPr>
          <p:cNvPr id="20" name="Text 13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30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Στόχοι: τι θα μπορείτε να κάνετε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77240" cy="777240"/>
          </a:xfrm>
          <a:prstGeom prst="ellipse">
            <a:avLst/>
          </a:prstGeom>
          <a:solidFill>
            <a:srgbClr val="34459A"/>
          </a:solidFill>
          <a:ln w="12700">
            <a:solidFill>
              <a:srgbClr val="34459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1383030"/>
            <a:ext cx="388620" cy="3886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18872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 περιγράφετε και να αναγνωρίζετε τις πιο συνηθισμένες κατηγορίες υπολογιστικών συσκευών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777240" cy="777240"/>
          </a:xfrm>
          <a:prstGeom prst="ellipse">
            <a:avLst/>
          </a:prstGeom>
          <a:solidFill>
            <a:srgbClr val="34459A"/>
          </a:solidFill>
          <a:ln w="12700">
            <a:solidFill>
              <a:srgbClr val="34459A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90" y="2480310"/>
            <a:ext cx="388620" cy="3886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00200" y="228600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 τις αντιστοιχίζετε με χρήσεις: σπίτι, γραφείο, επιχείρηση, εκπαίδευση, πληροφόρηση κοινού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40080" y="3383280"/>
            <a:ext cx="777240" cy="777240"/>
          </a:xfrm>
          <a:prstGeom prst="ellipse">
            <a:avLst/>
          </a:prstGeom>
          <a:solidFill>
            <a:srgbClr val="34459A"/>
          </a:solidFill>
          <a:ln w="12700">
            <a:solidFill>
              <a:srgbClr val="34459A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3577590"/>
            <a:ext cx="388620" cy="3886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00200" y="33832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 εκτιμάτε πόσο κοστίζει κάθε κατηγορία</a:t>
            </a:r>
            <a:endParaRPr lang="en-US" sz="2000" dirty="0"/>
          </a:p>
        </p:txBody>
      </p:sp>
      <p:sp>
        <p:nvSpPr>
          <p:cNvPr id="13" name="Text 7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2.1 · Υπολογιστικά συστήματα: κατηγορίες και χρήσεις</a:t>
            </a:r>
            <a:endParaRPr lang="en-US" sz="1000" dirty="0"/>
          </a:p>
        </p:txBody>
      </p:sp>
      <p:sp>
        <p:nvSpPr>
          <p:cNvPr id="14" name="Text 8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30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Τι είναι υπολογιστικό σύστημα (ΥΣ);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344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ΥΣ = υλικό (hardware) + λογισμικό (software) – από έναν υπερυπολογιστή μέχρι ένα έξυπνο ρολόι.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514246" cy="3200400"/>
          </a:xfrm>
          <a:prstGeom prst="roundRect">
            <a:avLst>
              <a:gd name="adj" fmla="val 6039"/>
            </a:avLst>
          </a:prstGeom>
          <a:solidFill>
            <a:srgbClr val="E8ECF8"/>
          </a:solidFill>
          <a:ln w="12700">
            <a:solidFill>
              <a:srgbClr val="E8EC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1474" y="1554480"/>
            <a:ext cx="605699" cy="605699"/>
          </a:xfrm>
          <a:prstGeom prst="ellipse">
            <a:avLst/>
          </a:prstGeom>
          <a:solidFill>
            <a:srgbClr val="34459A"/>
          </a:solidFill>
          <a:ln w="12700">
            <a:solidFill>
              <a:srgbClr val="34459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899" y="1705905"/>
            <a:ext cx="302849" cy="30284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251619"/>
            <a:ext cx="13313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Υπερυπολογιστής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2845979"/>
            <a:ext cx="1294790" cy="1634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Τεράστια υπολογιστική ισχύς για έρευνα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136038" y="1371600"/>
            <a:ext cx="1514246" cy="3200400"/>
          </a:xfrm>
          <a:prstGeom prst="roundRect">
            <a:avLst>
              <a:gd name="adj" fmla="val 6039"/>
            </a:avLst>
          </a:prstGeom>
          <a:solidFill>
            <a:srgbClr val="E8ECF8"/>
          </a:solidFill>
          <a:ln w="12700">
            <a:solidFill>
              <a:srgbClr val="E8ECF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90312" y="1554480"/>
            <a:ext cx="605699" cy="605699"/>
          </a:xfrm>
          <a:prstGeom prst="ellipse">
            <a:avLst/>
          </a:prstGeom>
          <a:solidFill>
            <a:srgbClr val="34459A"/>
          </a:solidFill>
          <a:ln w="12700">
            <a:solidFill>
              <a:srgbClr val="34459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1737" y="1705905"/>
            <a:ext cx="302849" cy="30284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227478" y="2251619"/>
            <a:ext cx="13313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Επιτραπέζιος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2245766" y="2845979"/>
            <a:ext cx="1294790" cy="1634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Γραφείο, σπίτι, επιχείρηση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3814877" y="1371600"/>
            <a:ext cx="1514246" cy="3200400"/>
          </a:xfrm>
          <a:prstGeom prst="roundRect">
            <a:avLst>
              <a:gd name="adj" fmla="val 6039"/>
            </a:avLst>
          </a:prstGeom>
          <a:solidFill>
            <a:srgbClr val="E8ECF8"/>
          </a:solidFill>
          <a:ln w="12700">
            <a:solidFill>
              <a:srgbClr val="E8EC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269151" y="1554480"/>
            <a:ext cx="605699" cy="605699"/>
          </a:xfrm>
          <a:prstGeom prst="ellipse">
            <a:avLst/>
          </a:prstGeom>
          <a:solidFill>
            <a:srgbClr val="34459A"/>
          </a:solidFill>
          <a:ln w="12700">
            <a:solidFill>
              <a:srgbClr val="34459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0575" y="1705905"/>
            <a:ext cx="302849" cy="30284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906317" y="2251619"/>
            <a:ext cx="13313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Φορητός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3924605" y="2845979"/>
            <a:ext cx="1294790" cy="1634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Δουλειά παντού, με μπαταρία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93715" y="1371600"/>
            <a:ext cx="1514246" cy="3200400"/>
          </a:xfrm>
          <a:prstGeom prst="roundRect">
            <a:avLst>
              <a:gd name="adj" fmla="val 6039"/>
            </a:avLst>
          </a:prstGeom>
          <a:solidFill>
            <a:srgbClr val="E8ECF8"/>
          </a:solidFill>
          <a:ln w="12700">
            <a:solidFill>
              <a:srgbClr val="E8ECF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947989" y="1554480"/>
            <a:ext cx="605699" cy="605699"/>
          </a:xfrm>
          <a:prstGeom prst="ellipse">
            <a:avLst/>
          </a:prstGeom>
          <a:solidFill>
            <a:srgbClr val="34459A"/>
          </a:solidFill>
          <a:ln w="12700">
            <a:solidFill>
              <a:srgbClr val="34459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414" y="1705905"/>
            <a:ext cx="302849" cy="30284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585155" y="2251619"/>
            <a:ext cx="13313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Έξυπνο κινητό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603443" y="2845979"/>
            <a:ext cx="1294790" cy="1634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Επεξεργαστής, μνήμη, ΛΣ, εφαρμογές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7172554" y="1371600"/>
            <a:ext cx="1514246" cy="3200400"/>
          </a:xfrm>
          <a:prstGeom prst="roundRect">
            <a:avLst>
              <a:gd name="adj" fmla="val 6039"/>
            </a:avLst>
          </a:prstGeom>
          <a:solidFill>
            <a:srgbClr val="E8ECF8"/>
          </a:solidFill>
          <a:ln w="12700">
            <a:solidFill>
              <a:srgbClr val="E8ECF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626828" y="1554480"/>
            <a:ext cx="605699" cy="605699"/>
          </a:xfrm>
          <a:prstGeom prst="ellipse">
            <a:avLst/>
          </a:prstGeom>
          <a:solidFill>
            <a:srgbClr val="34459A"/>
          </a:solidFill>
          <a:ln w="12700">
            <a:solidFill>
              <a:srgbClr val="34459A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8252" y="1705905"/>
            <a:ext cx="302849" cy="302849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263994" y="2251619"/>
            <a:ext cx="13313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Έξυπνο ρολόι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7282282" y="2845979"/>
            <a:ext cx="1294790" cy="1634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Κι αυτό είναι υπολογιστικό σύστημα!</a:t>
            </a:r>
            <a:endParaRPr lang="en-US" sz="1250" dirty="0"/>
          </a:p>
        </p:txBody>
      </p:sp>
      <p:sp>
        <p:nvSpPr>
          <p:cNvPr id="30" name="Text 2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2.1 · Υπολογιστικά συστήματα: κατηγορίες και χρήσεις</a:t>
            </a:r>
            <a:endParaRPr lang="en-US" sz="1000" dirty="0"/>
          </a:p>
        </p:txBody>
      </p:sp>
      <p:sp>
        <p:nvSpPr>
          <p:cNvPr id="31" name="Text 23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30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Διαδίκτυο των Πραγμάτων (IoT)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344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Φυσικά αντικείμενα με λογισμικό, αισθητήρες και δυνατότητα επικοινωνίας, που ανταλλάσσουν δεδομένα.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514246" cy="3017520"/>
          </a:xfrm>
          <a:prstGeom prst="roundRect">
            <a:avLst>
              <a:gd name="adj" fmla="val 6039"/>
            </a:avLst>
          </a:prstGeom>
          <a:solidFill>
            <a:srgbClr val="E8ECF8"/>
          </a:solidFill>
          <a:ln w="12700">
            <a:solidFill>
              <a:srgbClr val="E8EC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1474" y="1737360"/>
            <a:ext cx="605699" cy="605699"/>
          </a:xfrm>
          <a:prstGeom prst="ellipse">
            <a:avLst/>
          </a:prstGeom>
          <a:solidFill>
            <a:srgbClr val="34459A"/>
          </a:solidFill>
          <a:ln w="12700">
            <a:solidFill>
              <a:srgbClr val="34459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899" y="1888785"/>
            <a:ext cx="302849" cy="30284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434499"/>
            <a:ext cx="13313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Μεταφορές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3028859"/>
            <a:ext cx="1294790" cy="1451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Έξυπνα αυτοκίνητα, στάσεις λεωφορείων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136038" y="1554480"/>
            <a:ext cx="1514246" cy="3017520"/>
          </a:xfrm>
          <a:prstGeom prst="roundRect">
            <a:avLst>
              <a:gd name="adj" fmla="val 6039"/>
            </a:avLst>
          </a:prstGeom>
          <a:solidFill>
            <a:srgbClr val="E8ECF8"/>
          </a:solidFill>
          <a:ln w="12700">
            <a:solidFill>
              <a:srgbClr val="E8ECF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90312" y="1737360"/>
            <a:ext cx="605699" cy="605699"/>
          </a:xfrm>
          <a:prstGeom prst="ellipse">
            <a:avLst/>
          </a:prstGeom>
          <a:solidFill>
            <a:srgbClr val="34459A"/>
          </a:solidFill>
          <a:ln w="12700">
            <a:solidFill>
              <a:srgbClr val="34459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1737" y="1888785"/>
            <a:ext cx="302849" cy="30284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227478" y="2434499"/>
            <a:ext cx="13313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Υγεία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2245766" y="3028859"/>
            <a:ext cx="1294790" cy="1451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Ρολόγια που μετρούν παλμούς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3814877" y="1554480"/>
            <a:ext cx="1514246" cy="3017520"/>
          </a:xfrm>
          <a:prstGeom prst="roundRect">
            <a:avLst>
              <a:gd name="adj" fmla="val 6039"/>
            </a:avLst>
          </a:prstGeom>
          <a:solidFill>
            <a:srgbClr val="E8ECF8"/>
          </a:solidFill>
          <a:ln w="12700">
            <a:solidFill>
              <a:srgbClr val="E8EC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269151" y="1737360"/>
            <a:ext cx="605699" cy="605699"/>
          </a:xfrm>
          <a:prstGeom prst="ellipse">
            <a:avLst/>
          </a:prstGeom>
          <a:solidFill>
            <a:srgbClr val="34459A"/>
          </a:solidFill>
          <a:ln w="12700">
            <a:solidFill>
              <a:srgbClr val="34459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0575" y="1888785"/>
            <a:ext cx="302849" cy="30284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906317" y="2434499"/>
            <a:ext cx="13313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Ενέργεια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3924605" y="3028859"/>
            <a:ext cx="1294790" cy="1451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Έξυπνοι μετρητές ρεύματος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93715" y="1554480"/>
            <a:ext cx="1514246" cy="3017520"/>
          </a:xfrm>
          <a:prstGeom prst="roundRect">
            <a:avLst>
              <a:gd name="adj" fmla="val 6039"/>
            </a:avLst>
          </a:prstGeom>
          <a:solidFill>
            <a:srgbClr val="E8ECF8"/>
          </a:solidFill>
          <a:ln w="12700">
            <a:solidFill>
              <a:srgbClr val="E8ECF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947989" y="1737360"/>
            <a:ext cx="605699" cy="605699"/>
          </a:xfrm>
          <a:prstGeom prst="ellipse">
            <a:avLst/>
          </a:prstGeom>
          <a:solidFill>
            <a:srgbClr val="34459A"/>
          </a:solidFill>
          <a:ln w="12700">
            <a:solidFill>
              <a:srgbClr val="34459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414" y="1888785"/>
            <a:ext cx="302849" cy="30284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585155" y="2434499"/>
            <a:ext cx="13313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Σπίτι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603443" y="3028859"/>
            <a:ext cx="1294790" cy="1451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Οικιακοί αυτοματισμοί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7172554" y="1554480"/>
            <a:ext cx="1514246" cy="3017520"/>
          </a:xfrm>
          <a:prstGeom prst="roundRect">
            <a:avLst>
              <a:gd name="adj" fmla="val 6039"/>
            </a:avLst>
          </a:prstGeom>
          <a:solidFill>
            <a:srgbClr val="E8ECF8"/>
          </a:solidFill>
          <a:ln w="12700">
            <a:solidFill>
              <a:srgbClr val="E8ECF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626828" y="1737360"/>
            <a:ext cx="605699" cy="605699"/>
          </a:xfrm>
          <a:prstGeom prst="ellipse">
            <a:avLst/>
          </a:prstGeom>
          <a:solidFill>
            <a:srgbClr val="34459A"/>
          </a:solidFill>
          <a:ln w="12700">
            <a:solidFill>
              <a:srgbClr val="34459A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8252" y="1888785"/>
            <a:ext cx="302849" cy="302849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263994" y="2434499"/>
            <a:ext cx="13313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Περιβάλλον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7282282" y="3028859"/>
            <a:ext cx="1294790" cy="1451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Αισθητήρες ποιότητας αέρα</a:t>
            </a:r>
            <a:endParaRPr lang="en-US" sz="1250" dirty="0"/>
          </a:p>
        </p:txBody>
      </p:sp>
      <p:sp>
        <p:nvSpPr>
          <p:cNvPr id="30" name="Text 2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2.1 · Υπολογιστικά συστήματα: κατηγορίες και χρήσεις</a:t>
            </a:r>
            <a:endParaRPr lang="en-US" sz="1000" dirty="0"/>
          </a:p>
        </p:txBody>
      </p:sp>
      <p:sp>
        <p:nvSpPr>
          <p:cNvPr id="31" name="Text 23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30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Επιτραπέζιες (σταθερές) υπολογιστικές συσκευές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33956" cy="3383280"/>
          </a:xfrm>
          <a:prstGeom prst="roundRect">
            <a:avLst>
              <a:gd name="adj" fmla="val 4728"/>
            </a:avLst>
          </a:prstGeom>
          <a:solidFill>
            <a:srgbClr val="E8ECF8"/>
          </a:solidFill>
          <a:ln w="12700">
            <a:solidFill>
              <a:srgbClr val="E8EC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387" y="1371600"/>
            <a:ext cx="773582" cy="773582"/>
          </a:xfrm>
          <a:prstGeom prst="ellipse">
            <a:avLst/>
          </a:prstGeom>
          <a:solidFill>
            <a:srgbClr val="34459A"/>
          </a:solidFill>
          <a:ln w="12700">
            <a:solidFill>
              <a:srgbClr val="34459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0782" y="1564996"/>
            <a:ext cx="386791" cy="3867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236622"/>
            <a:ext cx="17510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Επιτραπέζιοι υπολογιστές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2830982"/>
            <a:ext cx="1714500" cy="1649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Από τον server μιας επιχείρησης (web, file, application) μέχρι το PC του σαλονιού. Μένουν σε ένα σημείο.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55748" y="1188720"/>
            <a:ext cx="1933956" cy="3383280"/>
          </a:xfrm>
          <a:prstGeom prst="roundRect">
            <a:avLst>
              <a:gd name="adj" fmla="val 4728"/>
            </a:avLst>
          </a:prstGeom>
          <a:solidFill>
            <a:srgbClr val="E8ECF8"/>
          </a:solidFill>
          <a:ln w="12700">
            <a:solidFill>
              <a:srgbClr val="E8ECF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35935" y="1371600"/>
            <a:ext cx="773582" cy="773582"/>
          </a:xfrm>
          <a:prstGeom prst="ellipse">
            <a:avLst/>
          </a:prstGeom>
          <a:solidFill>
            <a:srgbClr val="34459A"/>
          </a:solidFill>
          <a:ln w="12700">
            <a:solidFill>
              <a:srgbClr val="34459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9330" y="1564996"/>
            <a:ext cx="386791" cy="38679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647188" y="2236622"/>
            <a:ext cx="17510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Υπολογιστές μίας πλακέτας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2665476" y="2830982"/>
            <a:ext cx="1714500" cy="1649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Μέγεθος πιστωτικής κάρτας: Raspberry Pi, Banana Pi, Orange Pi. Μικρός όγκος, κατανάλωση και κόστος.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654296" y="1188720"/>
            <a:ext cx="1933956" cy="3383280"/>
          </a:xfrm>
          <a:prstGeom prst="roundRect">
            <a:avLst>
              <a:gd name="adj" fmla="val 4728"/>
            </a:avLst>
          </a:prstGeom>
          <a:solidFill>
            <a:srgbClr val="E8ECF8"/>
          </a:solidFill>
          <a:ln w="12700">
            <a:solidFill>
              <a:srgbClr val="E8ECF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234483" y="1371600"/>
            <a:ext cx="773582" cy="773582"/>
          </a:xfrm>
          <a:prstGeom prst="ellipse">
            <a:avLst/>
          </a:prstGeom>
          <a:solidFill>
            <a:srgbClr val="34459A"/>
          </a:solidFill>
          <a:ln w="12700">
            <a:solidFill>
              <a:srgbClr val="34459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7878" y="1564996"/>
            <a:ext cx="386791" cy="38679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745736" y="2236622"/>
            <a:ext cx="17510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Μικροελεγκτές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764024" y="2830982"/>
            <a:ext cx="1714500" cy="1649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Π.χ. Arduino: διαβάζουν αισθητήρες και αλληλεπιδρούν με τον φυσικό κόσμο.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752844" y="1188720"/>
            <a:ext cx="1933956" cy="3383280"/>
          </a:xfrm>
          <a:prstGeom prst="roundRect">
            <a:avLst>
              <a:gd name="adj" fmla="val 4728"/>
            </a:avLst>
          </a:prstGeom>
          <a:solidFill>
            <a:srgbClr val="E8ECF8"/>
          </a:solidFill>
          <a:ln w="12700">
            <a:solidFill>
              <a:srgbClr val="E8ECF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333031" y="1371600"/>
            <a:ext cx="773582" cy="773582"/>
          </a:xfrm>
          <a:prstGeom prst="ellipse">
            <a:avLst/>
          </a:prstGeom>
          <a:solidFill>
            <a:srgbClr val="34459A"/>
          </a:solidFill>
          <a:ln w="12700">
            <a:solidFill>
              <a:srgbClr val="34459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6426" y="1564996"/>
            <a:ext cx="386791" cy="38679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44284" y="2236622"/>
            <a:ext cx="17510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Υπολογιστές-stick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6862572" y="2830982"/>
            <a:ext cx="1714500" cy="1649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Σε μέγεθος USB stick, για οθόνες πληροφόρησης σε κοινόχρηστους χώρους.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2.1 · Υπολογιστικά συστήματα: κατηγορίες και χρήσεις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30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Φορητές υπολογιστικές συσκευές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337560"/>
          </a:xfrm>
          <a:prstGeom prst="roundRect">
            <a:avLst>
              <a:gd name="adj" fmla="val 2740"/>
            </a:avLst>
          </a:prstGeom>
          <a:solidFill>
            <a:srgbClr val="E8ECF8"/>
          </a:solidFill>
          <a:ln w="19050">
            <a:solidFill>
              <a:srgbClr val="E8EC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71600"/>
            <a:ext cx="731520" cy="731520"/>
          </a:xfrm>
          <a:prstGeom prst="ellipse">
            <a:avLst/>
          </a:prstGeom>
          <a:solidFill>
            <a:srgbClr val="34459A"/>
          </a:solidFill>
          <a:ln w="12700">
            <a:solidFill>
              <a:srgbClr val="34459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544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3716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Φορητοί υπολογιστές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8600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Laptop, Notebook, Ultrabook, Netbook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Ίδια λογική με τον επιτραπέζιο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Χαμηλό βάρος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Ενεργειακή αυτονομία (μπαταρία)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402336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9050">
            <a:solidFill>
              <a:srgbClr val="E8ECF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92040" y="1371600"/>
            <a:ext cx="731520" cy="731520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5544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60720" y="13716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Έξυπνες φορητές συσκευές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28600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Tablet, smartphone, smartwatch…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«Έξυπνες» γιατί έχουν: επεξεργαστή, μνήμη, οθόνη αφής, ηχεία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…δυνατότητα επικοινωνίας, λειτουργικό σύστημα και εφαρμογές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TV, Smart Car, Smart Home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2.1 · Υπολογιστικά συστήματα: κατηγορίες και χρήσεις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30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Ποια συσκευή για ποια χρήση;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94360" cy="594360"/>
          </a:xfrm>
          <a:prstGeom prst="ellipse">
            <a:avLst/>
          </a:prstGeom>
          <a:solidFill>
            <a:srgbClr val="34459A"/>
          </a:solidFill>
          <a:ln w="12700">
            <a:solidFill>
              <a:srgbClr val="34459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790" y="1337310"/>
            <a:ext cx="297180" cy="2971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16152" y="11430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Σπίτι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216152" y="144475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Επιτραπέζιος ή φορητός για ίντερνετ, γραφείο, ταινίες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2103120"/>
            <a:ext cx="594360" cy="594360"/>
          </a:xfrm>
          <a:prstGeom prst="ellipse">
            <a:avLst/>
          </a:prstGeom>
          <a:solidFill>
            <a:srgbClr val="34459A"/>
          </a:solidFill>
          <a:ln w="12700">
            <a:solidFill>
              <a:srgbClr val="34459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90" y="2251710"/>
            <a:ext cx="297180" cy="2971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16152" y="20574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SOHO – μικρό γραφείο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216152" y="235915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Office Home Office: σταθεροί υπολογιστές γραφείου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3017520"/>
            <a:ext cx="594360" cy="594360"/>
          </a:xfrm>
          <a:prstGeom prst="ellipse">
            <a:avLst/>
          </a:prstGeom>
          <a:solidFill>
            <a:srgbClr val="34459A"/>
          </a:solidFill>
          <a:ln w="12700">
            <a:solidFill>
              <a:srgbClr val="34459A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90" y="3166110"/>
            <a:ext cx="297180" cy="2971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16152" y="29718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Επιχείρηση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216152" y="327355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file και application servers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4663440" y="1188720"/>
            <a:ext cx="594360" cy="594360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030" y="1337310"/>
            <a:ext cx="297180" cy="2971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422392" y="11430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Πληροφόρηση κοινού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5422392" y="144475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Infokiosk με υπολογιστή μίας πλακέτας ή stick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4663440" y="2103120"/>
            <a:ext cx="594360" cy="594360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2030" y="2251710"/>
            <a:ext cx="297180" cy="29718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422392" y="20574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Εκπαίδευση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5422392" y="235915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και Arduino για κατασκευές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4663440" y="3017520"/>
            <a:ext cx="594360" cy="594360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2030" y="3166110"/>
            <a:ext cx="297180" cy="29718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422392" y="29718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Προσωπική χρήση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5422392" y="327355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Φορητός, tablet, κινητό</a:t>
            </a:r>
            <a:endParaRPr lang="en-US" sz="1250" dirty="0"/>
          </a:p>
        </p:txBody>
      </p:sp>
      <p:sp>
        <p:nvSpPr>
          <p:cNvPr id="27" name="Text 19"/>
          <p:cNvSpPr txBox="1"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i="1" dirty="0">
                <a:solidFill>
                  <a:srgbClr val="5E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Τα όρια ανάμεσα στις κατηγορίες είναι συχνά δυσδιάκριτα: η ισχύς και η αυτονομία αυξάνονται, οι διαστάσεις μειώνονται.</a:t>
            </a:r>
            <a:endParaRPr lang="en-US" sz="1200" dirty="0"/>
          </a:p>
        </p:txBody>
      </p:sp>
      <p:sp>
        <p:nvSpPr>
          <p:cNvPr id="29" name="Text 20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2.1 · Υπολογιστικά συστήματα: κατηγορίες και χρήσεις</a:t>
            </a:r>
            <a:endParaRPr lang="en-US" sz="1000" dirty="0"/>
          </a:p>
        </p:txBody>
      </p:sp>
      <p:sp>
        <p:nvSpPr>
          <p:cNvPr id="30" name="Text 21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445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188720" cy="1188720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937260"/>
            <a:ext cx="594360" cy="594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011680" y="731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B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Σε τι εστιάζει το μάθημα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2011680" y="123444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Επιτραπέζιοι και φορητοί υπολογιστές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2011680" y="219456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 σπίτι, γραφείο και μικρή επιχείρηση (SOHO)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2926080"/>
            <a:ext cx="8046720" cy="1508760"/>
          </a:xfrm>
          <a:prstGeom prst="roundRect">
            <a:avLst>
              <a:gd name="adj" fmla="val 7273"/>
            </a:avLst>
          </a:prstGeom>
          <a:solidFill>
            <a:srgbClr val="22305E"/>
          </a:solidFill>
          <a:ln w="12700">
            <a:solidFill>
              <a:srgbClr val="22305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971800"/>
            <a:ext cx="7589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B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Γιατί;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Αυτά είναι τα συστήματα που θα συναντάτε καθημερινά ως τεχνικοί: στο σπίτι, σε γραφεία και σε μικρές επιχειρήσεις. Οι φορητές συσκευές είναι κυρίως για προσωπική χρήση.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2.1 · Υπολογιστικά συστήματα: κατηγορίες και χρήσεις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30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Το βιβλίο (2015) και σήμερα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344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τεχνολογία αλλάζει γρήγορα. Τι ισχύει σήμερα;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E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ΣΤΟ ΒΙΒΛΙΟ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445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ΣΗΜΕΡΑ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0" y="1796796"/>
            <a:ext cx="365760" cy="219456"/>
          </a:xfrm>
          <a:prstGeom prst="rightArrow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1645920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E8ECF8"/>
          </a:solidFill>
          <a:ln w="12700">
            <a:solidFill>
              <a:srgbClr val="E8EC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645920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Netbooks και Ultrabooks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1645920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Chromebooks, ελαφριά φορητά «2 σε 1», AI PC με NPU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258568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2409444"/>
            <a:ext cx="365760" cy="219456"/>
          </a:xfrm>
          <a:prstGeom prst="rightArrow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2258568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E8ECF8"/>
          </a:solidFill>
          <a:ln w="12700">
            <a:solidFill>
              <a:srgbClr val="E8EC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258568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Υπολογιστές-stick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2258568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PC και συσκευές streaming· τα stick PC σταμάτησαν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2871216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3022092"/>
            <a:ext cx="365760" cy="219456"/>
          </a:xfrm>
          <a:prstGeom prst="rightArrow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2871216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E8ECF8"/>
          </a:solidFill>
          <a:ln w="12700">
            <a:solidFill>
              <a:srgbClr val="E8EC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2871216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ανάμεσα στους υπολογιστές μίας πλακέτας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983480" y="2871216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Είναι πλακέτα μικροελεγκτή, όχι ολοκληρωμένος υπολογιστής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483864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3634740"/>
            <a:ext cx="365760" cy="219456"/>
          </a:xfrm>
          <a:prstGeom prst="rightArrow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3483864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E8ECF8"/>
          </a:solidFill>
          <a:ln w="12700">
            <a:solidFill>
              <a:srgbClr val="E8ECF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3483864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«Οι ταχύτεροι υπολογιστές» του 2015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983480" y="3483864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λίστα TOP500 (top500.org) ανανεώνεται κάθε 6 μήνες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57200" y="4096512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89120" y="4247388"/>
            <a:ext cx="365760" cy="219456"/>
          </a:xfrm>
          <a:prstGeom prst="rightArrow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4096512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E8ECF8"/>
          </a:solidFill>
          <a:ln w="12700">
            <a:solidFill>
              <a:srgbClr val="E8ECF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4096512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βιβλίο δεν δίνει τιμές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983480" y="4096512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Τις βρίσκουμε σήμερα στα ηλεκτρονικά καταστήματα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2.1 · Υπολογιστικά συστήματα: κατηγορίες και χρήσεις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E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30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Ώρα για το φύλλο εργασίας 1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E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Ανοίξτε: Κεφ2_Ώρα1_Φύλλο_Εργασίας.docx και Κεφ2_Ώρα1_Εφαρμογή_Υπολογιστικά_Συστήματα.html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731520" cy="73152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Ξεκινάω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517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Ταξινόμηση συσκευών στην εφαρμογή, αναζήτηση εικόνων, Σωστό/Λάθος.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46120" y="1508760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691640"/>
            <a:ext cx="731520" cy="731520"/>
          </a:xfrm>
          <a:prstGeom prst="ellipse">
            <a:avLst/>
          </a:prstGeom>
          <a:solidFill>
            <a:srgbClr val="E0A100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Προχωράω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6517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Ορολογία στην εφαρμογή, έρευνα τιμών για 5 χρήσεις.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1508760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691640"/>
            <a:ext cx="731520" cy="731520"/>
          </a:xfrm>
          <a:prstGeom prst="ellipse">
            <a:avLst/>
          </a:prstGeom>
          <a:solidFill>
            <a:srgbClr val="D8483B"/>
          </a:solidFill>
          <a:ln w="12700">
            <a:solidFill>
              <a:srgbClr val="D848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Πρόκληση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6517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Σενάρια επιλογής, ο ταχύτερος υπολογιστής (TOP500), infokiosk για το σχολείο.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223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Τελειώσατε το Α; Συνεχίστε στο Β. Δεν χρειάζεται να τελειώσουν όλοι τα πάντα.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2.1 · Υπολογιστικά συστήματα: κατηγορίες και χρήσεις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230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Ανακεφαλαίωση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1394460"/>
            <a:ext cx="228600" cy="228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2801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ΥΣ = υλικό + λογισμικό, από υπερυπολογιστή έως έξυπνο ρολόι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1938528"/>
            <a:ext cx="457200" cy="457200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2052828"/>
            <a:ext cx="228600" cy="228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8720" y="193852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Επιτραπέζιες: desktop, μίας πλακέτας, μικροελεγκτές, stick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548640" y="2596896"/>
            <a:ext cx="457200" cy="457200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2711196"/>
            <a:ext cx="228600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88720" y="259689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Φορητές: φορητοί υπολογιστές και έξυπνες συσκευές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48640" y="347472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34459A"/>
          </a:solidFill>
          <a:ln w="12700">
            <a:solidFill>
              <a:srgbClr val="34459A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77240" y="352044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B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Ερώτηση εξόδου: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Ποιες 3 υπολογιστικές συσκευές χρησιμοποιήσατε σήμερα πριν έρθετε στο σχολείο;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Ώρα 1 – Υπολογιστικά συστήματα: κατηγορίες και χρήσεις</dc:title>
  <dc:subject>PptxGenJS Presentation</dc:subject>
  <dc:creator>PptxGenJS</dc:creator>
  <cp:lastModifiedBy>PptxGenJS</cp:lastModifiedBy>
  <cp:revision>1</cp:revision>
  <dcterms:created xsi:type="dcterms:W3CDTF">2026-09-16T20:32:04Z</dcterms:created>
  <dcterms:modified xsi:type="dcterms:W3CDTF">2026-09-16T20:32:04Z</dcterms:modified>
</cp:coreProperties>
</file>