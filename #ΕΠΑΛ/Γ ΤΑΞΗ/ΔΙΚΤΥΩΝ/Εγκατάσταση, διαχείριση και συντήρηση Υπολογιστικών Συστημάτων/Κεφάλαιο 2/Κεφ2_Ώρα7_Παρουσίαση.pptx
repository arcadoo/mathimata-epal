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Σύντομη σύνδεση με την προηγούμενη ώρα και παρουσίαση του θέματος.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Συζήτηση για αντίγραφα ασφαλείας – θα επανέλθει στην ερώτηση εξόδου.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Στόχοι §2.7.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Οι δισκέτες αναφέρονται πια μόνο ως ιστορία.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Ένα μεγάλο αρχείο πιάνει πολλές συστοιχίες, όχι απαραίτητα συνεχόμενες.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Windows: εικονίδιο → «Εξαγωγή». Linux: δεξί κλικ → Eject. Αλλιώς κίνδυνος απώλειας δεδομένων.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Κάποια καλώδια δεδομένων SATA έχουν ασφάλεια ώστε να μη βγαίνουν κατά λάθος.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Πάντα πρώτα ρεύμα έξω και γείωση (§2.2).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≈20 λεπτά. Κυκλοφορήστε πρώτα στους λιγότερο εξοικειωμένους. Οι γρήγοροι μπορούν να βοηθήσουν τον διπλανό τους αφού τελειώσουν το 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Οι απαντήσεις γράφονται στο τέλος του φύλλου εργασίας.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005840" cy="1005840"/>
          </a:xfrm>
          <a:prstGeom prst="ellipse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8915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874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B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ΚΕΦΑΛΑΙΟ 2 · 7η ΔΙΔΑΚΤΙΚΗ ΩΡΑ · §2.7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402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Μέσα αποθήκευσης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60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C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Εγκατάσταση, Διαχείριση και Συντήρηση Υπολογιστικών Συστημάτων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1097280" cy="1097280"/>
          </a:xfrm>
          <a:prstGeom prst="ellipse">
            <a:avLst/>
          </a:prstGeom>
          <a:solidFill>
            <a:srgbClr val="7A2E48"/>
          </a:solidFill>
          <a:ln w="12700">
            <a:solidFill>
              <a:srgbClr val="7A2E4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058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920240" y="8686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A2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Ας ξεκινήσουμε με μια ερώτηση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1920240" y="1371600"/>
            <a:ext cx="6766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A1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Πού είναι αποθηκευμένες οι φωτογραφίες σας; Κι αν αύριο χαλάσει η συσκευή;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3246120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3474720"/>
            <a:ext cx="640080" cy="640080"/>
          </a:xfrm>
          <a:prstGeom prst="ellipse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363474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3401568"/>
            <a:ext cx="1508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Σε δίσκο;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3337560" y="3246120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520440" y="3474720"/>
            <a:ext cx="640080" cy="640080"/>
          </a:xfrm>
          <a:prstGeom prst="ellipse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0460" y="363474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297680" y="3401568"/>
            <a:ext cx="1508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Σε κάρτα μνήμης;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6126480" y="3246120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309360" y="3474720"/>
            <a:ext cx="640080" cy="640080"/>
          </a:xfrm>
          <a:prstGeom prst="ellipse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380" y="363474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086600" y="3401568"/>
            <a:ext cx="1508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Στο cloud;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2.7 · Μέσα αποθήκευσης</a:t>
            </a:r>
            <a:endParaRPr lang="en-US" sz="1000" dirty="0"/>
          </a:p>
        </p:txBody>
      </p:sp>
      <p:sp>
        <p:nvSpPr>
          <p:cNvPr id="20" name="Text 13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Στόχοι: τι θα μπορείτε να κάνετε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640080" cy="640080"/>
          </a:xfrm>
          <a:prstGeom prst="ellipse">
            <a:avLst/>
          </a:prstGeom>
          <a:solidFill>
            <a:srgbClr val="7A2E48"/>
          </a:solidFill>
          <a:ln w="12700">
            <a:solidFill>
              <a:srgbClr val="7A2E4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348740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1887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 αναφέρετε τις τεχνολογίες αποθήκευσης και τα χαρακτηριστικά τους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40080" y="2057400"/>
            <a:ext cx="640080" cy="640080"/>
          </a:xfrm>
          <a:prstGeom prst="ellipse">
            <a:avLst/>
          </a:prstGeom>
          <a:solidFill>
            <a:srgbClr val="7A2E48"/>
          </a:solidFill>
          <a:ln w="12700">
            <a:solidFill>
              <a:srgbClr val="7A2E48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2174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00200" y="20574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 περιγράφετε πώς λειτουργούν δίσκοι, οπτικά μέσα και μνήμες flash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640080" y="2926080"/>
            <a:ext cx="640080" cy="640080"/>
          </a:xfrm>
          <a:prstGeom prst="ellipse">
            <a:avLst/>
          </a:prstGeom>
          <a:solidFill>
            <a:srgbClr val="7A2E48"/>
          </a:solidFill>
          <a:ln w="12700">
            <a:solidFill>
              <a:srgbClr val="7A2E48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08610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00200" y="29260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 συνδέετε και να στερεώνετε δίσκους IDE και SATA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640080" y="3794760"/>
            <a:ext cx="640080" cy="640080"/>
          </a:xfrm>
          <a:prstGeom prst="ellipse">
            <a:avLst/>
          </a:prstGeom>
          <a:solidFill>
            <a:srgbClr val="7A2E48"/>
          </a:solidFill>
          <a:ln w="12700">
            <a:solidFill>
              <a:srgbClr val="7A2E48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954780"/>
            <a:ext cx="320040" cy="3200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600200" y="3794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 ελέγχετε στο BIOS/UEFI ότι αναγνωρίστηκε ο δίσκος</a:t>
            </a:r>
            <a:endParaRPr lang="en-US" sz="1700" dirty="0"/>
          </a:p>
        </p:txBody>
      </p:sp>
      <p:sp>
        <p:nvSpPr>
          <p:cNvPr id="16" name="Text 9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2.7 · Μέσα αποθήκευσης</a:t>
            </a:r>
            <a:endParaRPr lang="en-US" sz="1000" dirty="0"/>
          </a:p>
        </p:txBody>
      </p:sp>
      <p:sp>
        <p:nvSpPr>
          <p:cNvPr id="17" name="Text 10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Τρεις τεχνολογίες αποθήκευσης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7A2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Μέσα αποθήκευσης = η δευτερεύουσα μνήμη του υπολογιστή (σε αντίθεση με την κύρια μνήμη RAM).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33472" cy="3200400"/>
          </a:xfrm>
          <a:prstGeom prst="roundRect">
            <a:avLst>
              <a:gd name="adj" fmla="val 3472"/>
            </a:avLst>
          </a:prstGeom>
          <a:solidFill>
            <a:srgbClr val="F5E9EE"/>
          </a:solidFill>
          <a:ln w="12700">
            <a:solidFill>
              <a:srgbClr val="F5E9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62456" y="1554480"/>
            <a:ext cx="822960" cy="822960"/>
          </a:xfrm>
          <a:prstGeom prst="ellipse">
            <a:avLst/>
          </a:prstGeom>
          <a:solidFill>
            <a:srgbClr val="7A2E48"/>
          </a:solidFill>
          <a:ln w="12700">
            <a:solidFill>
              <a:srgbClr val="7A2E4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196" y="17602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46888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A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Μαγνητικά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3063240"/>
            <a:ext cx="2414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Σκληροί δίσκοι (και οι παλιές δισκέτες): πλάκες με μαγνητική επίστρωση.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55264" y="1371600"/>
            <a:ext cx="2633472" cy="3200400"/>
          </a:xfrm>
          <a:prstGeom prst="roundRect">
            <a:avLst>
              <a:gd name="adj" fmla="val 3472"/>
            </a:avLst>
          </a:prstGeom>
          <a:solidFill>
            <a:srgbClr val="F5E9EE"/>
          </a:solidFill>
          <a:ln w="12700">
            <a:solidFill>
              <a:srgbClr val="F5E9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160520" y="1554480"/>
            <a:ext cx="822960" cy="822960"/>
          </a:xfrm>
          <a:prstGeom prst="ellipse">
            <a:avLst/>
          </a:prstGeom>
          <a:solidFill>
            <a:srgbClr val="7A2E48"/>
          </a:solidFill>
          <a:ln w="12700">
            <a:solidFill>
              <a:srgbClr val="7A2E4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260" y="17602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346704" y="246888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A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Οπτικά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364992" y="3063240"/>
            <a:ext cx="2414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CD, DVD, Blu-ray: μια ακτίνα λέιζερ ανακλάται στην επιφάνεια του δίσκου.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053328" y="1371600"/>
            <a:ext cx="2633472" cy="3200400"/>
          </a:xfrm>
          <a:prstGeom prst="roundRect">
            <a:avLst>
              <a:gd name="adj" fmla="val 3472"/>
            </a:avLst>
          </a:prstGeom>
          <a:solidFill>
            <a:srgbClr val="F5E9EE"/>
          </a:solidFill>
          <a:ln w="12700">
            <a:solidFill>
              <a:srgbClr val="F5E9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958584" y="1554480"/>
            <a:ext cx="822960" cy="822960"/>
          </a:xfrm>
          <a:prstGeom prst="ellipse">
            <a:avLst/>
          </a:prstGeom>
          <a:solidFill>
            <a:srgbClr val="7A2E48"/>
          </a:solidFill>
          <a:ln w="12700">
            <a:solidFill>
              <a:srgbClr val="7A2E4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4324" y="17602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144768" y="246888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A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Ειδικές μνήμες (flash)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163056" y="3063240"/>
            <a:ext cx="2414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SSD, USB flash, κάρτες μνήμης: κανένα μηχανικό μέρος.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2.7 · Μέσα αποθήκευσης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Ο σκληρός δίσκος (HDD)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337560"/>
          </a:xfrm>
          <a:prstGeom prst="roundRect">
            <a:avLst>
              <a:gd name="adj" fmla="val 2740"/>
            </a:avLst>
          </a:prstGeom>
          <a:solidFill>
            <a:srgbClr val="F5E9EE"/>
          </a:solidFill>
          <a:ln w="19050">
            <a:solidFill>
              <a:srgbClr val="F5E9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71600"/>
            <a:ext cx="731520" cy="731520"/>
          </a:xfrm>
          <a:prstGeom prst="ellipse">
            <a:avLst/>
          </a:prstGeom>
          <a:solidFill>
            <a:srgbClr val="7A2E48"/>
          </a:solidFill>
          <a:ln w="12700">
            <a:solidFill>
              <a:srgbClr val="7A2E4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544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3716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A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Μέρη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8600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Πλάκες (platters) με μαγνητική επίστρωση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Κεφαλές: ηλεκτρομαγνήτες που γράφουν και διαβάζουν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Απόσταση κεφαλής–πλάκας ≈ 100 nm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Βραχίονες που μετακινούν τις κεφαλές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402336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9050">
            <a:solidFill>
              <a:srgbClr val="F5E9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92040" y="1371600"/>
            <a:ext cx="731520" cy="731520"/>
          </a:xfrm>
          <a:prstGeom prst="ellipse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5544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60720" y="13716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A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Οργάνωση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28600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Τροχιές (tracks): ομόκεντροι κύκλοι – η 0 είναι η εξωτερική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Τομείς (sectors): το μικρότερο τμήμα (512 byte – 2 KB)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Συστοιχίες (clusters): το μικρότερο κομμάτι που δεσμεύεται για ένα αρχείο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Χωρητικότητα σε GB / TB · διασύνδεση IDE/PATA, SATA, SCSI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2.7 · Μέσα αποθήκευσης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Οπτικοί δίσκοι: ίδιο μέγεθος, άλλη χωρητικότητα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783080"/>
            <a:ext cx="2621280" cy="2103120"/>
          </a:xfrm>
          <a:prstGeom prst="roundRect">
            <a:avLst>
              <a:gd name="adj" fmla="val 5217"/>
            </a:avLst>
          </a:prstGeom>
          <a:solidFill>
            <a:srgbClr val="F5E9EE"/>
          </a:solidFill>
          <a:ln w="12700">
            <a:solidFill>
              <a:srgbClr val="F5E9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920240"/>
            <a:ext cx="243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A2E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 MB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880360"/>
            <a:ext cx="234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(έως)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61360" y="1783080"/>
            <a:ext cx="2621280" cy="2103120"/>
          </a:xfrm>
          <a:prstGeom prst="roundRect">
            <a:avLst>
              <a:gd name="adj" fmla="val 5217"/>
            </a:avLst>
          </a:prstGeom>
          <a:solidFill>
            <a:srgbClr val="F5E9EE"/>
          </a:solidFill>
          <a:ln w="12700">
            <a:solidFill>
              <a:srgbClr val="F5E9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52800" y="1920240"/>
            <a:ext cx="243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A2E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4,7 / 8,5 GB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3398520" y="2880360"/>
            <a:ext cx="234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DVD (μονό / διπλό επίπεδο)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65520" y="1783080"/>
            <a:ext cx="2621280" cy="2103120"/>
          </a:xfrm>
          <a:prstGeom prst="roundRect">
            <a:avLst>
              <a:gd name="adj" fmla="val 5217"/>
            </a:avLst>
          </a:prstGeom>
          <a:solidFill>
            <a:srgbClr val="7A2E48"/>
          </a:solidFill>
          <a:ln w="12700">
            <a:solidFill>
              <a:srgbClr val="7A2E4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56960" y="1920240"/>
            <a:ext cx="243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– 128 GB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202680" y="2880360"/>
            <a:ext cx="234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Blu-ray (25 / 50 / 100 / 128 GB, 1 έως 4 επίπεδα)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A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είδος του λέιζερ και του δίσκου καθορίζει τη χωρητικότητα.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2.7 · Μέσα αποθήκευσης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Ειδικές μνήμες (flash)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337560"/>
          </a:xfrm>
          <a:prstGeom prst="roundRect">
            <a:avLst>
              <a:gd name="adj" fmla="val 2740"/>
            </a:avLst>
          </a:prstGeom>
          <a:solidFill>
            <a:srgbClr val="F5E9EE"/>
          </a:solidFill>
          <a:ln w="19050">
            <a:solidFill>
              <a:srgbClr val="F5E9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71600"/>
            <a:ext cx="731520" cy="731520"/>
          </a:xfrm>
          <a:prstGeom prst="ellipse">
            <a:avLst/>
          </a:prstGeom>
          <a:solidFill>
            <a:srgbClr val="7A2E48"/>
          </a:solidFill>
          <a:ln w="12700">
            <a:solidFill>
              <a:srgbClr val="7A2E4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544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3716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A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8600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Χωρίς μηχανικά μέρη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Πολύ γρήγοροι, ελαφριοί, χαμηλή κατανάλωση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Στο βιβλίο: σύνδεση SATA, συνήθως ως δίσκος εκκίνησης λόγω κόστους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402336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9050">
            <a:solidFill>
              <a:srgbClr val="F5E9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92040" y="1371600"/>
            <a:ext cx="731520" cy="731520"/>
          </a:xfrm>
          <a:prstGeom prst="ellipse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5544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60720" y="13716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A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flash και κάρτες μνήμης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28600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Μικρό μέγεθος, χαμηλή τιμή και κατανάλωση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Ρεύμα από τη θύρα USB (5 V)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Κάρτες σε κινητά, κάμερες, Raspberry Pi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Εμφανίζονται ως «αφαιρούμενοι δίσκοι»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Πάντα ασφαλής αφαίρεση!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2.7 · Μέσα αποθήκευσης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Διασύνδεση: IDE/PATA και SATA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337560"/>
          </a:xfrm>
          <a:prstGeom prst="roundRect">
            <a:avLst>
              <a:gd name="adj" fmla="val 2740"/>
            </a:avLst>
          </a:prstGeom>
          <a:solidFill>
            <a:srgbClr val="F5E9EE"/>
          </a:solidFill>
          <a:ln w="19050">
            <a:solidFill>
              <a:srgbClr val="F5E9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71600"/>
            <a:ext cx="731520" cy="731520"/>
          </a:xfrm>
          <a:prstGeom prst="ellipse">
            <a:avLst/>
          </a:prstGeom>
          <a:solidFill>
            <a:srgbClr val="7A2E48"/>
          </a:solidFill>
          <a:ln w="12700">
            <a:solidFill>
              <a:srgbClr val="7A2E4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544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3716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A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/ PATA (παλιό)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8600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Ρεύμα: Molex · δεδομένα: φαρδιά καλωδιοταινία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Έως 2 συσκευές σε κάθε καλώδιο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(κύρια) και SLAVE με jumpers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Μόνη συσκευή στο καλώδιο → MASTER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 Select: καλώδιο 80 αγωγών (όχι 40)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402336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9050">
            <a:solidFill>
              <a:srgbClr val="F5E9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92040" y="1371600"/>
            <a:ext cx="731520" cy="731520"/>
          </a:xfrm>
          <a:prstGeom prst="ellipse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5544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60720" y="13716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A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SATA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28600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Σύνδεσμοι σε σχήμα «Γ» – μπαίνουν μόνο με έναν τρόπο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Μία συσκευή ανά καλώδιο, χωρίς MASTER/SLAVE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Λεπτό καλώδιο → καλύτερη ροή αέρα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plugging: σύνδεση χωρίς σβήσιμο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Παλιό τροφοδοτικό; Μετατροπέας Molex → SATA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2.7 · Μέσα αποθήκευσης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Εγκατάσταση δίσκου SATA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84048" cy="384048"/>
          </a:xfrm>
          <a:prstGeom prst="ellipse">
            <a:avLst/>
          </a:prstGeom>
          <a:solidFill>
            <a:srgbClr val="7A2E48"/>
          </a:solidFill>
          <a:ln w="12700">
            <a:solidFill>
              <a:srgbClr val="7A2E4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088136"/>
            <a:ext cx="38404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Τοποθετούμε τη μονάδα στη θέση της (κούμπωμα, συρτάρι ή βίδες)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1706880"/>
            <a:ext cx="384048" cy="384048"/>
          </a:xfrm>
          <a:prstGeom prst="ellipse">
            <a:avLst/>
          </a:prstGeom>
          <a:solidFill>
            <a:srgbClr val="7A2E48"/>
          </a:solidFill>
          <a:ln w="12700">
            <a:solidFill>
              <a:srgbClr val="7A2E4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06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652016"/>
            <a:ext cx="38404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Τη στερεώνουμε – λαστιχένια στηρίγματα απορροφούν τους κραδασμούς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2270760"/>
            <a:ext cx="384048" cy="384048"/>
          </a:xfrm>
          <a:prstGeom prst="ellipse">
            <a:avLst/>
          </a:prstGeom>
          <a:solidFill>
            <a:srgbClr val="7A2E48"/>
          </a:solidFill>
          <a:ln w="12700">
            <a:solidFill>
              <a:srgbClr val="7A2E4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70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215896"/>
            <a:ext cx="38404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Συνδέουμε το καλώδιο ρεύματος SATA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384048" cy="384048"/>
          </a:xfrm>
          <a:prstGeom prst="ellipse">
            <a:avLst/>
          </a:prstGeom>
          <a:solidFill>
            <a:srgbClr val="7A2E48"/>
          </a:solidFill>
          <a:ln w="12700">
            <a:solidFill>
              <a:srgbClr val="7A2E4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779776"/>
            <a:ext cx="38404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Συνδέουμε το καλώδιο δεδομένων SATA στη μονάδα και στη μητρική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57200" y="3398520"/>
            <a:ext cx="384048" cy="384048"/>
          </a:xfrm>
          <a:prstGeom prst="ellipse">
            <a:avLst/>
          </a:prstGeom>
          <a:solidFill>
            <a:srgbClr val="7A2E48"/>
          </a:solidFill>
          <a:ln w="12700">
            <a:solidFill>
              <a:srgbClr val="7A2E4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398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343656"/>
            <a:ext cx="38404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Ανοίγουμε τον υπολογιστή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57200" y="3962400"/>
            <a:ext cx="384048" cy="384048"/>
          </a:xfrm>
          <a:prstGeom prst="ellipse">
            <a:avLst/>
          </a:prstGeom>
          <a:solidFill>
            <a:srgbClr val="7A2E48"/>
          </a:solidFill>
          <a:ln w="12700">
            <a:solidFill>
              <a:srgbClr val="7A2E4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962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3907536"/>
            <a:ext cx="38404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Ελέγχουμε στο BIOS/UEFI ότι αναγνωρίστηκε ο δίσκος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120640" y="1143000"/>
            <a:ext cx="3566160" cy="3429000"/>
          </a:xfrm>
          <a:prstGeom prst="roundRect">
            <a:avLst>
              <a:gd name="adj" fmla="val 2667"/>
            </a:avLst>
          </a:prstGeom>
          <a:solidFill>
            <a:srgbClr val="F5E9EE"/>
          </a:solidFill>
          <a:ln w="12700">
            <a:solidFill>
              <a:srgbClr val="F5E9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0" y="1298448"/>
            <a:ext cx="548640" cy="548640"/>
          </a:xfrm>
          <a:prstGeom prst="ellipse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435608"/>
            <a:ext cx="274320" cy="27432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5989320" y="12984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eSATA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5303520" y="2011680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SATA για εξωτερικούς δίσκους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Τουλάχιστον 3 φορές πιο γρήγορο από USB 2 (βιβλίο)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Χρειάζεται δικό του τροφοδοτικό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Σε εταιρείες όπου το USB είναι κλειστό για ασφάλεια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2.7 · Μέσα αποθήκευσης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Το βιβλίο (2015) και σήμερα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7A2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τεχνολογία αλλάζει γρήγορα. Τι ισχύει σήμερα;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ΣΤΟ ΒΙΒΛΙΟ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1325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2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ΣΗΜΕΡΑ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0" y="1796796"/>
            <a:ext cx="365760" cy="219456"/>
          </a:xfrm>
          <a:prstGeom prst="rightArrow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1645920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F5E9EE"/>
          </a:solidFill>
          <a:ln w="12700">
            <a:solidFill>
              <a:srgbClr val="F5E9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645920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«Η μόνη διασύνδεση σήμερα είναι η SATA»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1645920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Οι περισσότεροι SSD είναι M.2 NVMe (PCIe), πολλές φορές ταχύτεροι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258568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2409444"/>
            <a:ext cx="365760" cy="219456"/>
          </a:xfrm>
          <a:prstGeom prst="rightArrow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2258568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F5E9EE"/>
          </a:solidFill>
          <a:ln w="12700">
            <a:solidFill>
              <a:srgbClr val="F5E9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258568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μόνο για εκκίνηση, λόγω κόστους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2258568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SSD είναι συνήθως ο κύριος δίσκος· HDD για μεγάλο αρχείο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2871216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3022092"/>
            <a:ext cx="365760" cy="219456"/>
          </a:xfrm>
          <a:prstGeom prst="rightArrow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2871216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F5E9EE"/>
          </a:solidFill>
          <a:ln w="12700">
            <a:solidFill>
              <a:srgbClr val="F5E9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2871216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Δίσκοι 512 GB – 3 TB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983480" y="2871216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HDD άνω των 20 TB · SSD συνήθως 0,5–4 TB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3483864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0" y="3634740"/>
            <a:ext cx="365760" cy="219456"/>
          </a:xfrm>
          <a:prstGeom prst="rightArrow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3483864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F5E9EE"/>
          </a:solidFill>
          <a:ln w="12700">
            <a:solidFill>
              <a:srgbClr val="F5E9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3483864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eSATA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983480" y="3483864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3.x / USB‑C και Thunderbolt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57200" y="4096512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89120" y="4247388"/>
            <a:ext cx="365760" cy="219456"/>
          </a:xfrm>
          <a:prstGeom prst="rightArrow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4096512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F5E9EE"/>
          </a:solidFill>
          <a:ln w="12700">
            <a:solidFill>
              <a:srgbClr val="F5E9E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4096512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Οπτικός οδηγός σε κάθε υπολογιστή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983480" y="4096512"/>
            <a:ext cx="3566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Σπάνιος· λογισμικό από USB ή το διαδίκτυο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2.7 · Μέσα αποθήκευσης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Ώρα για το φύλλο εργασίας 7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Ανοίξτε: Κεφ2_Ώρα7_Φύλλο_Εργασίας.docx και Κεφ2_Ώρα7_Εφαρμογή_Αποθήκευση.html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06040" cy="2788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731520" cy="73152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Ξεκινάω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517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Μαγνητικό, οπτικό ή flash; Οι δίσκοι του υπολογιστή σου, ασφαλής αφαίρεση.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46120" y="1508760"/>
            <a:ext cx="2606040" cy="2788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691640"/>
            <a:ext cx="731520" cy="731520"/>
          </a:xfrm>
          <a:prstGeom prst="ellipse">
            <a:avLst/>
          </a:prstGeom>
          <a:solidFill>
            <a:srgbClr val="E0A100"/>
          </a:solidFill>
          <a:ln w="12700">
            <a:solidFill>
              <a:srgbClr val="E0A1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Προχωράω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6517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Ορολογία, IDE/SATA σενάρια, Διαχείριση Δίσκων, τιμή ανά GB.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1508760"/>
            <a:ext cx="2606040" cy="2788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691640"/>
            <a:ext cx="731520" cy="731520"/>
          </a:xfrm>
          <a:prstGeom prst="ellipse">
            <a:avLst/>
          </a:prstGeom>
          <a:solidFill>
            <a:srgbClr val="D8483B"/>
          </a:solidFill>
          <a:ln w="12700">
            <a:solidFill>
              <a:srgbClr val="D848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Πρόκληση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6517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Υπολογισμοί χωρητικότητας και χρόνου, ταχύτητες σήμερα, υγεία δίσκου.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A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Τελειώσατε το Α; Συνεχίστε στο Β. Δεν χρειάζεται να τελειώσουν όλοι τα πάντα.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Κεφ. 2.7 · Μέσα αποθήκευσης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4800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Ανακεφαλαίωση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1394460"/>
            <a:ext cx="228600" cy="228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2801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Μαγνητικά, οπτικά και flash μέσα αποθήκευσης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1938528"/>
            <a:ext cx="457200" cy="457200"/>
          </a:xfrm>
          <a:prstGeom prst="ellipse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2052828"/>
            <a:ext cx="228600" cy="228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8720" y="193852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HDD: πλάκες, κεφαλές, τροχιές, τομείς, συστοιχίες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548640" y="2596896"/>
            <a:ext cx="457200" cy="457200"/>
          </a:xfrm>
          <a:prstGeom prst="ellipse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2711196"/>
            <a:ext cx="228600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88720" y="259689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SATA: σχήμα «Γ», χωρίς MASTER/SLAVE, hot plugging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48640" y="347472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7A2E48"/>
          </a:solidFill>
          <a:ln w="12700">
            <a:solidFill>
              <a:srgbClr val="7A2E48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77240" y="352044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B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Ερώτηση εξόδου: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Πού θα κρατούσατε αντίγραφο ασφαλείας των οικογενειακών σας φωτογραφιών και γιατί;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Ώρα 7 – Μέσα αποθήκευσης</dc:title>
  <dc:subject>PptxGenJS Presentation</dc:subject>
  <dc:creator>PptxGenJS</dc:creator>
  <cp:lastModifiedBy>PptxGenJS</cp:lastModifiedBy>
  <cp:revision>1</cp:revision>
  <dcterms:created xsi:type="dcterms:W3CDTF">2026-09-16T20:32:05Z</dcterms:created>
  <dcterms:modified xsi:type="dcterms:W3CDTF">2026-09-16T20:32:05Z</dcterms:modified>
</cp:coreProperties>
</file>